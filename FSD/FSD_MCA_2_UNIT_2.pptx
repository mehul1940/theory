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9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1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3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8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8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8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9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7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5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C9EA2-3E4D-4E09-B627-FD53387569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965CD-693F-4230-B607-37FA456B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75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UNIT – </a:t>
            </a:r>
            <a:r>
              <a:rPr lang="en-US" b="1" dirty="0" smtClean="0"/>
              <a:t>2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INTRODUCTION TO </a:t>
            </a:r>
            <a:r>
              <a:rPr lang="en-US" b="1" dirty="0" smtClean="0"/>
              <a:t>WEB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: PROF.HIMANI KHODIFAD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0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 server is a software or hardware component that stores, processes, and delivers web content to client browsers using the </a:t>
            </a:r>
            <a:r>
              <a:rPr lang="en-US" b="1" dirty="0"/>
              <a:t>Hypertext Transfer Protocol (HTTP)</a:t>
            </a:r>
            <a:r>
              <a:rPr lang="en-US" dirty="0"/>
              <a:t>. It acts as a digital dispatcher, responding to user requests to enable access to websites and online services over the internet.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1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 Web Server Works</a:t>
            </a:r>
          </a:p>
        </p:txBody>
      </p:sp>
      <p:sp>
        <p:nvSpPr>
          <p:cNvPr id="11" name="TextBox 10"/>
          <p:cNvSpPr txBox="1"/>
          <p:nvPr/>
        </p:nvSpPr>
        <p:spPr>
          <a:xfrm rot="20978276">
            <a:off x="5053961" y="5488520"/>
            <a:ext cx="1343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HTML DOCUMENT (RESPONSE)</a:t>
            </a:r>
            <a:endParaRPr lang="en-US" sz="1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80" y="1885814"/>
            <a:ext cx="57150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6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1446" y="540707"/>
            <a:ext cx="1090561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Name = Website Address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domain name (like google.com) is the website’s address. It helps you find the website on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Request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type a domain into your browser, it sends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request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asking for the website.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DNS Finds the Server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Name System (DNS)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the domain name into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address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IP address tells the browser where the website is hosted (which server).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Client–Server Model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browser =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(asks for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server =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(provides data)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model is used for websites, email, file sharing,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Processes Request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 server receives the request, finds the correct website files, and sends them back to the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Displays Website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browser receives the files (HTML, CSS, etc.) and shows the webpage to you.</a:t>
            </a:r>
          </a:p>
        </p:txBody>
      </p:sp>
    </p:spTree>
    <p:extLst>
      <p:ext uri="{BB962C8B-B14F-4D97-AF65-F5344CB8AC3E}">
        <p14:creationId xmlns:p14="http://schemas.microsoft.com/office/powerpoint/2010/main" val="344835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the Features of a Web Server?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541417"/>
            <a:ext cx="10779034" cy="46355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primary feature of a web server is handling incoming and outgoing HTTP requests and responses. However, most web servers these days also provide the following features:</a:t>
            </a:r>
          </a:p>
          <a:p>
            <a:r>
              <a:rPr lang="en-US" b="1" dirty="0"/>
              <a:t>Content Storage</a:t>
            </a:r>
          </a:p>
          <a:p>
            <a:pPr marL="0" indent="0">
              <a:buNone/>
            </a:pPr>
            <a:r>
              <a:rPr lang="en-US" dirty="0" smtClean="0"/>
              <a:t>     Most </a:t>
            </a:r>
            <a:r>
              <a:rPr lang="en-US" dirty="0"/>
              <a:t>web servers can store content such as HTML files, media, PHP files, logs, databases, etc.</a:t>
            </a:r>
          </a:p>
          <a:p>
            <a:r>
              <a:rPr lang="en-US" b="1" dirty="0"/>
              <a:t>Scripting Support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In </a:t>
            </a:r>
            <a:r>
              <a:rPr lang="en-US" dirty="0"/>
              <a:t>order to facilitate dynamic web page generation, a web server must be equipped with the capability to support server-side </a:t>
            </a:r>
            <a:r>
              <a:rPr lang="en-US" dirty="0" smtClean="0"/>
              <a:t>            scripting </a:t>
            </a:r>
            <a:r>
              <a:rPr lang="en-US" dirty="0"/>
              <a:t>languages such as PHP, Python, or Ruby.</a:t>
            </a:r>
          </a:p>
          <a:p>
            <a:r>
              <a:rPr lang="en-US" b="1" dirty="0"/>
              <a:t>Security</a:t>
            </a:r>
          </a:p>
          <a:p>
            <a:pPr marL="0" indent="0">
              <a:buNone/>
            </a:pPr>
            <a:r>
              <a:rPr lang="en-US" dirty="0" smtClean="0"/>
              <a:t>     Most </a:t>
            </a:r>
            <a:r>
              <a:rPr lang="en-US" dirty="0"/>
              <a:t>web servers have inbuilt security features such as Authentication, SSL, TLS, encryption, and more to protect sensitive data transmitting over the internet. </a:t>
            </a:r>
          </a:p>
          <a:p>
            <a:r>
              <a:rPr lang="en-US" b="1" dirty="0"/>
              <a:t>Compatibility</a:t>
            </a:r>
          </a:p>
          <a:p>
            <a:pPr marL="0" indent="0">
              <a:buNone/>
            </a:pPr>
            <a:r>
              <a:rPr lang="en-US" dirty="0" smtClean="0"/>
              <a:t>     Web </a:t>
            </a:r>
            <a:r>
              <a:rPr lang="en-US" dirty="0"/>
              <a:t>servers are usually compatible with various operating systems, web browsers, and devices to serve files to an expansive scope.</a:t>
            </a:r>
          </a:p>
          <a:p>
            <a:r>
              <a:rPr lang="en-US" b="1" dirty="0"/>
              <a:t>Scalability</a:t>
            </a:r>
          </a:p>
          <a:p>
            <a:pPr marL="0" indent="0">
              <a:buNone/>
            </a:pPr>
            <a:r>
              <a:rPr lang="en-US" dirty="0" smtClean="0"/>
              <a:t>     Web </a:t>
            </a:r>
            <a:r>
              <a:rPr lang="en-US" dirty="0"/>
              <a:t>servers are also scalable, i.e. they can handle large volumes of web traffic.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8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the Features of a Web Server?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Web servers perform several essential functions: </a:t>
            </a:r>
          </a:p>
          <a:p>
            <a:r>
              <a:rPr lang="en-US" dirty="0"/>
              <a:t>Hosting Websites: Storing all the necessary files (HTML, CSS, images, etc.) that make a website accessible online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Handling Requests: Managing multiple simultaneous connections and requests from different clients efficiently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Security: Implementing secure protocols like HTTPS to encrypt data and control access through authentication and authorization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Dynamic Content Support: Working with application servers and databases to generate content on the fly, such as an e-commerce shopping cart or a social media feed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Logging: Recording information about client requests and server activities for monitoring, security, and analytics purposes.</a:t>
            </a:r>
          </a:p>
        </p:txBody>
      </p:sp>
    </p:spTree>
    <p:extLst>
      <p:ext uri="{BB962C8B-B14F-4D97-AF65-F5344CB8AC3E}">
        <p14:creationId xmlns:p14="http://schemas.microsoft.com/office/powerpoint/2010/main" val="355927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098"/>
          </a:xfrm>
        </p:spPr>
        <p:txBody>
          <a:bodyPr/>
          <a:lstStyle/>
          <a:p>
            <a:pPr algn="ctr"/>
            <a:r>
              <a:rPr lang="en-US" dirty="0" err="1" smtClean="0"/>
              <a:t>Javascript</a:t>
            </a:r>
            <a:r>
              <a:rPr lang="en-US" dirty="0" smtClean="0"/>
              <a:t> </a:t>
            </a:r>
            <a:r>
              <a:rPr lang="en-US" dirty="0"/>
              <a:t>in the Desktop with </a:t>
            </a:r>
            <a:r>
              <a:rPr lang="en-US" dirty="0" err="1"/>
              <a:t>NodeJS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4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Node.js?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Node.js</a:t>
            </a:r>
            <a:r>
              <a:rPr lang="en-US" dirty="0"/>
              <a:t> is a runtime environment that allows you to run </a:t>
            </a:r>
            <a:r>
              <a:rPr lang="en-US" b="1" dirty="0"/>
              <a:t>JavaScript outside the browser</a:t>
            </a:r>
            <a:r>
              <a:rPr lang="en-US" dirty="0"/>
              <a:t>, on your computer (desktop) or server.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Before </a:t>
            </a:r>
            <a:r>
              <a:rPr lang="en-US" dirty="0"/>
              <a:t>Node.js:</a:t>
            </a:r>
          </a:p>
          <a:p>
            <a:r>
              <a:rPr lang="en-US" dirty="0"/>
              <a:t>JavaScript worked only inside web browsers.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With </a:t>
            </a:r>
            <a:r>
              <a:rPr lang="en-US" dirty="0"/>
              <a:t>Node.js:</a:t>
            </a:r>
          </a:p>
          <a:p>
            <a:r>
              <a:rPr lang="en-US" dirty="0"/>
              <a:t>JavaScript can create servers</a:t>
            </a:r>
          </a:p>
          <a:p>
            <a:r>
              <a:rPr lang="en-US" dirty="0"/>
              <a:t>Handle files</a:t>
            </a:r>
          </a:p>
          <a:p>
            <a:r>
              <a:rPr lang="en-US" dirty="0"/>
              <a:t>Connect to databases</a:t>
            </a:r>
          </a:p>
          <a:p>
            <a:r>
              <a:rPr lang="en-US" dirty="0"/>
              <a:t>Build APIs</a:t>
            </a:r>
          </a:p>
          <a:p>
            <a:r>
              <a:rPr lang="en-US" dirty="0"/>
              <a:t>Run backend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156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</a:t>
            </a:r>
            <a:r>
              <a:rPr lang="en-US" b="1" dirty="0"/>
              <a:t>Node.js for Web Servers?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Node.js is:</a:t>
            </a:r>
          </a:p>
          <a:p>
            <a:r>
              <a:rPr lang="en-US" dirty="0" smtClean="0"/>
              <a:t> </a:t>
            </a:r>
            <a:r>
              <a:rPr lang="en-US" dirty="0"/>
              <a:t>Fast (built on Chrome’s V8 engine)</a:t>
            </a:r>
          </a:p>
          <a:p>
            <a:r>
              <a:rPr lang="en-US" dirty="0" smtClean="0"/>
              <a:t> </a:t>
            </a:r>
            <a:r>
              <a:rPr lang="en-US" dirty="0"/>
              <a:t>Asynchronous (handles many users at once)</a:t>
            </a:r>
          </a:p>
          <a:p>
            <a:r>
              <a:rPr lang="en-US" dirty="0" smtClean="0"/>
              <a:t> </a:t>
            </a:r>
            <a:r>
              <a:rPr lang="en-US" dirty="0"/>
              <a:t>Uses NPM (huge package ecosystem)</a:t>
            </a:r>
          </a:p>
          <a:p>
            <a:r>
              <a:rPr lang="en-US" dirty="0" smtClean="0"/>
              <a:t> Same </a:t>
            </a:r>
            <a:r>
              <a:rPr lang="en-US" dirty="0"/>
              <a:t>language for frontend &amp; backend (JavaScript)</a:t>
            </a:r>
          </a:p>
        </p:txBody>
      </p:sp>
    </p:spTree>
    <p:extLst>
      <p:ext uri="{BB962C8B-B14F-4D97-AF65-F5344CB8AC3E}">
        <p14:creationId xmlns:p14="http://schemas.microsoft.com/office/powerpoint/2010/main" val="46986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</a:t>
            </a:r>
            <a:r>
              <a:rPr lang="en-US" dirty="0"/>
              <a:t>Example of a Web Server in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http = require('http');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server = </a:t>
            </a:r>
            <a:r>
              <a:rPr lang="en-US" dirty="0" err="1"/>
              <a:t>http.createServer</a:t>
            </a:r>
            <a:r>
              <a:rPr lang="en-US" dirty="0"/>
              <a:t>((</a:t>
            </a:r>
            <a:r>
              <a:rPr lang="en-US" dirty="0" err="1"/>
              <a:t>req</a:t>
            </a:r>
            <a:r>
              <a:rPr lang="en-US" dirty="0"/>
              <a:t>, res)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res.write</a:t>
            </a:r>
            <a:r>
              <a:rPr lang="en-US" dirty="0"/>
              <a:t>('Hello World');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server.listen</a:t>
            </a:r>
            <a:r>
              <a:rPr lang="en-US" dirty="0"/>
              <a:t>(3000, () =&gt; {</a:t>
            </a:r>
          </a:p>
          <a:p>
            <a:pPr marL="0" indent="0">
              <a:buNone/>
            </a:pPr>
            <a:r>
              <a:rPr lang="en-US" dirty="0"/>
              <a:t>  console.log('Server running on port 3000');</a:t>
            </a:r>
          </a:p>
          <a:p>
            <a:pPr marL="0" indent="0">
              <a:buNone/>
            </a:pPr>
            <a:r>
              <a:rPr lang="en-US" dirty="0" smtClean="0"/>
              <a:t>});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When you open </a:t>
            </a:r>
            <a:r>
              <a:rPr lang="en-US" b="1" dirty="0"/>
              <a:t>http://localhost:3000</a:t>
            </a:r>
            <a:r>
              <a:rPr lang="en-US" dirty="0"/>
              <a:t>, the server responds with </a:t>
            </a:r>
            <a:r>
              <a:rPr lang="en-US" i="1" dirty="0"/>
              <a:t>Hello World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259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b="1" dirty="0"/>
              <a:t>How It Works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1079" y="1379867"/>
            <a:ext cx="9498875" cy="3257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opens browser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HTTP request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server receives request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processes it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sends response</a:t>
            </a:r>
          </a:p>
          <a:p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displays result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dirty="0"/>
              <a:t>In One Line</a:t>
            </a:r>
          </a:p>
          <a:p>
            <a:r>
              <a:rPr lang="en-US" sz="1800" b="1" dirty="0"/>
              <a:t>Node.js allows JavaScript to act as a web server and run backend applications outside the browser.</a:t>
            </a:r>
            <a:endParaRPr lang="en-US" sz="18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0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098"/>
          </a:xfrm>
        </p:spPr>
        <p:txBody>
          <a:bodyPr/>
          <a:lstStyle/>
          <a:p>
            <a:pPr algn="ctr"/>
            <a:r>
              <a:rPr lang="en-US" dirty="0"/>
              <a:t>NPM (Node Package Manager)</a:t>
            </a:r>
          </a:p>
        </p:txBody>
      </p:sp>
    </p:spTree>
    <p:extLst>
      <p:ext uri="{BB962C8B-B14F-4D97-AF65-F5344CB8AC3E}">
        <p14:creationId xmlns:p14="http://schemas.microsoft.com/office/powerpoint/2010/main" val="81658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npm</a:t>
            </a:r>
            <a:r>
              <a:rPr lang="en-US" dirty="0"/>
              <a:t>?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30702"/>
            <a:ext cx="10796451" cy="275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 err="1"/>
              <a:t>npm</a:t>
            </a:r>
            <a:r>
              <a:rPr lang="en-US" sz="1800" dirty="0"/>
              <a:t> stands for </a:t>
            </a:r>
            <a:r>
              <a:rPr lang="en-US" sz="1800" b="1" dirty="0"/>
              <a:t>Node Package Manager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It is the </a:t>
            </a:r>
            <a:r>
              <a:rPr lang="en-US" sz="1800" b="1" dirty="0"/>
              <a:t>default package manager for Node.js</a:t>
            </a:r>
            <a:r>
              <a:rPr lang="en-US" sz="1800" dirty="0"/>
              <a:t>.</a:t>
            </a:r>
          </a:p>
          <a:p>
            <a:r>
              <a:rPr lang="en-US" sz="1800" dirty="0"/>
              <a:t>It helps developers:</a:t>
            </a:r>
          </a:p>
          <a:p>
            <a:r>
              <a:rPr lang="en-US" sz="1800" dirty="0"/>
              <a:t>Install libraries (packages)</a:t>
            </a:r>
          </a:p>
          <a:p>
            <a:r>
              <a:rPr lang="en-US" sz="1800" dirty="0"/>
              <a:t>Manage project dependencies</a:t>
            </a:r>
          </a:p>
          <a:p>
            <a:r>
              <a:rPr lang="en-US" sz="1800" dirty="0"/>
              <a:t>Share reusable code</a:t>
            </a:r>
          </a:p>
          <a:p>
            <a:r>
              <a:rPr lang="en-US" sz="1800" dirty="0"/>
              <a:t>Run project scripts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</a:t>
            </a:r>
            <a:r>
              <a:rPr lang="en-US" dirty="0" err="1"/>
              <a:t>npm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writing everything from scratch, developers use pre-built packages.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Need a web framework? → Install </a:t>
            </a:r>
            <a:r>
              <a:rPr lang="en-US" b="1" dirty="0"/>
              <a:t>Express</a:t>
            </a:r>
            <a:endParaRPr lang="en-US" dirty="0"/>
          </a:p>
          <a:p>
            <a:r>
              <a:rPr lang="en-US" dirty="0"/>
              <a:t>Need a date library? → Install one from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Need authentication tools? → Install a package</a:t>
            </a:r>
          </a:p>
          <a:p>
            <a:r>
              <a:rPr lang="en-US" dirty="0" err="1"/>
              <a:t>npm</a:t>
            </a:r>
            <a:r>
              <a:rPr lang="en-US" dirty="0"/>
              <a:t> gives access to </a:t>
            </a:r>
            <a:r>
              <a:rPr lang="en-US" b="1" dirty="0"/>
              <a:t>millions of open-source packages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494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npm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Check Version </a:t>
            </a:r>
            <a:r>
              <a:rPr lang="en-US" dirty="0" smtClean="0"/>
              <a:t>= </a:t>
            </a:r>
            <a:r>
              <a:rPr lang="en-US" dirty="0" err="1"/>
              <a:t>npm</a:t>
            </a:r>
            <a:r>
              <a:rPr lang="en-US" dirty="0"/>
              <a:t> -v</a:t>
            </a:r>
          </a:p>
          <a:p>
            <a:r>
              <a:rPr lang="en-US" dirty="0"/>
              <a:t>Initialize a Project </a:t>
            </a:r>
            <a:r>
              <a:rPr lang="en-US" dirty="0" smtClean="0"/>
              <a:t> = </a:t>
            </a: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 err="1"/>
              <a:t>init</a:t>
            </a:r>
            <a:r>
              <a:rPr lang="en-US" dirty="0"/>
              <a:t> (Creates a </a:t>
            </a:r>
            <a:r>
              <a:rPr lang="en-US" dirty="0" err="1"/>
              <a:t>package.json</a:t>
            </a:r>
            <a:r>
              <a:rPr lang="en-US" dirty="0"/>
              <a:t> file (project configuration file))</a:t>
            </a:r>
          </a:p>
          <a:p>
            <a:r>
              <a:rPr lang="en-US" dirty="0"/>
              <a:t>Install a Package </a:t>
            </a:r>
            <a:r>
              <a:rPr lang="en-US" dirty="0" smtClean="0"/>
              <a:t>= </a:t>
            </a:r>
            <a:r>
              <a:rPr lang="en-US" dirty="0" err="1"/>
              <a:t>npm</a:t>
            </a:r>
            <a:r>
              <a:rPr lang="en-US" dirty="0"/>
              <a:t> install express (Installs Express and adds it to </a:t>
            </a:r>
            <a:r>
              <a:rPr lang="en-US" dirty="0" err="1"/>
              <a:t>node_modules</a:t>
            </a:r>
            <a:r>
              <a:rPr lang="en-US" dirty="0"/>
              <a:t>)</a:t>
            </a:r>
          </a:p>
          <a:p>
            <a:r>
              <a:rPr lang="en-US" dirty="0"/>
              <a:t>Install and Save as Dependency </a:t>
            </a:r>
            <a:r>
              <a:rPr lang="en-US" dirty="0" smtClean="0"/>
              <a:t>= </a:t>
            </a:r>
            <a:r>
              <a:rPr lang="en-US" dirty="0" err="1"/>
              <a:t>npm</a:t>
            </a:r>
            <a:r>
              <a:rPr lang="en-US" dirty="0"/>
              <a:t> install express --save (Automatically saved in modern versions)</a:t>
            </a:r>
          </a:p>
          <a:p>
            <a:r>
              <a:rPr lang="en-US" dirty="0"/>
              <a:t>Install Globally </a:t>
            </a:r>
            <a:r>
              <a:rPr lang="en-US" dirty="0" smtClean="0"/>
              <a:t>= </a:t>
            </a: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install -g </a:t>
            </a:r>
            <a:r>
              <a:rPr lang="en-US" dirty="0" err="1"/>
              <a:t>nodemon</a:t>
            </a:r>
            <a:r>
              <a:rPr lang="en-US" dirty="0"/>
              <a:t> (Installs package globally on your system)</a:t>
            </a:r>
          </a:p>
          <a:p>
            <a:r>
              <a:rPr lang="en-US" dirty="0"/>
              <a:t>Run Scripts </a:t>
            </a:r>
            <a:r>
              <a:rPr lang="en-US" dirty="0" smtClean="0"/>
              <a:t>= </a:t>
            </a:r>
            <a:r>
              <a:rPr lang="en-US" dirty="0" err="1"/>
              <a:t>npm</a:t>
            </a:r>
            <a:r>
              <a:rPr lang="en-US" dirty="0"/>
              <a:t> start (Runs the script defined in </a:t>
            </a:r>
            <a:r>
              <a:rPr lang="en-US" dirty="0" err="1"/>
              <a:t>package.json</a:t>
            </a:r>
            <a:r>
              <a:rPr 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78001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package.json</a:t>
            </a:r>
            <a:endParaRPr lang="en-US" b="1" dirty="0"/>
          </a:p>
          <a:p>
            <a:r>
              <a:rPr lang="en-US" dirty="0"/>
              <a:t>Stores project information</a:t>
            </a:r>
          </a:p>
          <a:p>
            <a:r>
              <a:rPr lang="en-US" dirty="0"/>
              <a:t>Lists dependencies</a:t>
            </a:r>
          </a:p>
          <a:p>
            <a:r>
              <a:rPr lang="en-US" dirty="0"/>
              <a:t>Contains </a:t>
            </a:r>
            <a:r>
              <a:rPr lang="en-US" dirty="0" smtClean="0"/>
              <a:t>scripts</a:t>
            </a:r>
          </a:p>
          <a:p>
            <a:pPr marL="0" indent="0">
              <a:buNone/>
            </a:pPr>
            <a:r>
              <a:rPr lang="en-US" b="1" dirty="0" err="1"/>
              <a:t>node_modules</a:t>
            </a:r>
            <a:endParaRPr lang="en-US" b="1" dirty="0"/>
          </a:p>
          <a:p>
            <a:r>
              <a:rPr lang="en-US" dirty="0"/>
              <a:t>Folder where installed packages are stored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is the tool that installs and manages JavaScript libraries for Node.js projects.</a:t>
            </a:r>
          </a:p>
        </p:txBody>
      </p:sp>
    </p:spTree>
    <p:extLst>
      <p:ext uri="{BB962C8B-B14F-4D97-AF65-F5344CB8AC3E}">
        <p14:creationId xmlns:p14="http://schemas.microsoft.com/office/powerpoint/2010/main" val="99893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npm</a:t>
            </a:r>
            <a:r>
              <a:rPr lang="en-US" dirty="0"/>
              <a:t> Works </a:t>
            </a:r>
            <a:r>
              <a:rPr lang="en-US" dirty="0" smtClean="0"/>
              <a:t>Internally	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</a:t>
            </a:r>
            <a:r>
              <a:rPr lang="en-US" dirty="0" smtClean="0"/>
              <a:t>run:  </a:t>
            </a: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install </a:t>
            </a:r>
            <a:r>
              <a:rPr lang="en-US" dirty="0" smtClean="0"/>
              <a:t>express</a:t>
            </a:r>
          </a:p>
          <a:p>
            <a:r>
              <a:rPr lang="en-US" dirty="0"/>
              <a:t>what happens behind the </a:t>
            </a:r>
            <a:r>
              <a:rPr lang="en-US" dirty="0" smtClean="0"/>
              <a:t>scenes?</a:t>
            </a:r>
          </a:p>
          <a:p>
            <a:pPr lvl="1"/>
            <a:r>
              <a:rPr lang="en-US" dirty="0" smtClean="0"/>
              <a:t>Checks </a:t>
            </a:r>
            <a:r>
              <a:rPr lang="en-US" dirty="0" err="1" smtClean="0"/>
              <a:t>package.json</a:t>
            </a:r>
            <a:endParaRPr lang="en-US" dirty="0" smtClean="0"/>
          </a:p>
          <a:p>
            <a:pPr lvl="2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looks at your project’s </a:t>
            </a:r>
            <a:r>
              <a:rPr lang="en-US" dirty="0" err="1"/>
              <a:t>package.json</a:t>
            </a:r>
            <a:r>
              <a:rPr lang="en-US" dirty="0"/>
              <a:t> file to</a:t>
            </a:r>
            <a:r>
              <a:rPr lang="en-US" dirty="0" smtClean="0"/>
              <a:t>:</a:t>
            </a:r>
          </a:p>
          <a:p>
            <a:pPr lvl="3"/>
            <a:r>
              <a:rPr lang="en-US" dirty="0" smtClean="0"/>
              <a:t>See </a:t>
            </a:r>
            <a:r>
              <a:rPr lang="en-US" dirty="0"/>
              <a:t>existing </a:t>
            </a:r>
            <a:r>
              <a:rPr lang="en-US" dirty="0" smtClean="0"/>
              <a:t>dependencies</a:t>
            </a:r>
          </a:p>
          <a:p>
            <a:pPr lvl="3"/>
            <a:r>
              <a:rPr lang="en-US" dirty="0" smtClean="0"/>
              <a:t>Know </a:t>
            </a:r>
            <a:r>
              <a:rPr lang="en-US" dirty="0"/>
              <a:t>where to save the new </a:t>
            </a:r>
            <a:r>
              <a:rPr lang="en-US" dirty="0" smtClean="0"/>
              <a:t>package</a:t>
            </a:r>
          </a:p>
          <a:p>
            <a:pPr lvl="1"/>
            <a:r>
              <a:rPr lang="en-US" dirty="0"/>
              <a:t>Connects to </a:t>
            </a:r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smtClean="0"/>
              <a:t>Registry</a:t>
            </a:r>
          </a:p>
          <a:p>
            <a:pPr lvl="2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connects to the </a:t>
            </a:r>
            <a:r>
              <a:rPr lang="en-US" dirty="0" err="1"/>
              <a:t>npm</a:t>
            </a:r>
            <a:r>
              <a:rPr lang="en-US" dirty="0"/>
              <a:t> online registry (a huge database of packages).It</a:t>
            </a:r>
            <a:r>
              <a:rPr lang="en-US" dirty="0" smtClean="0"/>
              <a:t>:</a:t>
            </a:r>
          </a:p>
          <a:p>
            <a:pPr lvl="3"/>
            <a:r>
              <a:rPr lang="en-US" dirty="0" smtClean="0"/>
              <a:t>Finds </a:t>
            </a:r>
            <a:r>
              <a:rPr lang="en-US" dirty="0"/>
              <a:t>the requested </a:t>
            </a:r>
            <a:r>
              <a:rPr lang="en-US" dirty="0" smtClean="0"/>
              <a:t>package</a:t>
            </a:r>
          </a:p>
          <a:p>
            <a:pPr lvl="3"/>
            <a:r>
              <a:rPr lang="en-US" dirty="0" smtClean="0"/>
              <a:t>Checks </a:t>
            </a:r>
            <a:r>
              <a:rPr lang="en-US" dirty="0"/>
              <a:t>the correct </a:t>
            </a:r>
            <a:r>
              <a:rPr lang="en-US" dirty="0" smtClean="0"/>
              <a:t>version</a:t>
            </a:r>
          </a:p>
          <a:p>
            <a:pPr lvl="3"/>
            <a:r>
              <a:rPr lang="en-US" dirty="0" smtClean="0"/>
              <a:t>Downloads </a:t>
            </a:r>
            <a:r>
              <a:rPr lang="en-US" dirty="0"/>
              <a:t>it</a:t>
            </a:r>
          </a:p>
        </p:txBody>
      </p:sp>
    </p:spTree>
    <p:extLst>
      <p:ext uri="{BB962C8B-B14F-4D97-AF65-F5344CB8AC3E}">
        <p14:creationId xmlns:p14="http://schemas.microsoft.com/office/powerpoint/2010/main" val="74016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3177"/>
            <a:ext cx="10515600" cy="5793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Resolves Dependencies</a:t>
            </a:r>
          </a:p>
          <a:p>
            <a:pPr lvl="1"/>
            <a:r>
              <a:rPr lang="en-US" dirty="0"/>
              <a:t>Most packages depend on other packages.</a:t>
            </a:r>
          </a:p>
          <a:p>
            <a:pPr lvl="2"/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you install </a:t>
            </a:r>
            <a:r>
              <a:rPr lang="en-US" b="1" dirty="0"/>
              <a:t>Express</a:t>
            </a:r>
            <a:r>
              <a:rPr lang="en-US" dirty="0"/>
              <a:t>, it also installs:</a:t>
            </a:r>
          </a:p>
          <a:p>
            <a:pPr lvl="3"/>
            <a:r>
              <a:rPr lang="en-US" dirty="0"/>
              <a:t>body-parser</a:t>
            </a:r>
          </a:p>
          <a:p>
            <a:pPr lvl="3"/>
            <a:r>
              <a:rPr lang="en-US" dirty="0"/>
              <a:t>cookie</a:t>
            </a:r>
          </a:p>
          <a:p>
            <a:pPr lvl="3"/>
            <a:r>
              <a:rPr lang="en-US" dirty="0"/>
              <a:t>debug</a:t>
            </a:r>
          </a:p>
          <a:p>
            <a:pPr lvl="3"/>
            <a:r>
              <a:rPr lang="en-US" dirty="0"/>
              <a:t>and many others</a:t>
            </a:r>
          </a:p>
          <a:p>
            <a:pPr lvl="1"/>
            <a:r>
              <a:rPr lang="en-US" dirty="0" err="1"/>
              <a:t>npm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dirty="0"/>
              <a:t>Builds a </a:t>
            </a:r>
            <a:r>
              <a:rPr lang="en-US" b="1" dirty="0"/>
              <a:t>dependency tree</a:t>
            </a:r>
            <a:endParaRPr lang="en-US" dirty="0"/>
          </a:p>
          <a:p>
            <a:pPr lvl="2"/>
            <a:r>
              <a:rPr lang="en-US" dirty="0"/>
              <a:t>Ensures compatible versions</a:t>
            </a:r>
          </a:p>
          <a:p>
            <a:pPr lvl="2"/>
            <a:r>
              <a:rPr lang="en-US" dirty="0"/>
              <a:t>Avoids </a:t>
            </a:r>
            <a:r>
              <a:rPr lang="en-US" dirty="0" smtClean="0"/>
              <a:t>conflicts</a:t>
            </a:r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126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3177"/>
            <a:ext cx="10515600" cy="57937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Create </a:t>
            </a:r>
            <a:r>
              <a:rPr lang="en-US" b="1" dirty="0" err="1" smtClean="0"/>
              <a:t>node_modules</a:t>
            </a:r>
            <a:endParaRPr lang="en-US" b="1" dirty="0"/>
          </a:p>
          <a:p>
            <a:pPr lvl="1"/>
            <a:r>
              <a:rPr lang="en-US" dirty="0" smtClean="0"/>
              <a:t>All </a:t>
            </a:r>
            <a:r>
              <a:rPr lang="en-US" dirty="0"/>
              <a:t>downloaded packages are stored </a:t>
            </a:r>
            <a:r>
              <a:rPr lang="en-US" dirty="0" smtClean="0"/>
              <a:t>inside: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node_modules</a:t>
            </a:r>
            <a:r>
              <a:rPr lang="en-US" dirty="0" smtClean="0"/>
              <a:t>/</a:t>
            </a:r>
          </a:p>
          <a:p>
            <a:pPr lvl="1"/>
            <a:r>
              <a:rPr lang="en-US" dirty="0"/>
              <a:t>Each package gets its own folder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 smtClean="0"/>
              <a:t>Update </a:t>
            </a:r>
            <a:r>
              <a:rPr lang="en-US" b="1" dirty="0" err="1" smtClean="0"/>
              <a:t>package.json</a:t>
            </a:r>
            <a:endParaRPr lang="en-US" b="1" dirty="0"/>
          </a:p>
          <a:p>
            <a:pPr lvl="1"/>
            <a:r>
              <a:rPr lang="en-US" dirty="0"/>
              <a:t>It adds the package under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dirty="0"/>
              <a:t>"dependencies": {</a:t>
            </a:r>
          </a:p>
          <a:p>
            <a:pPr marL="457200" lvl="1" indent="0">
              <a:buNone/>
            </a:pPr>
            <a:r>
              <a:rPr lang="en-US" dirty="0"/>
              <a:t>  "express": "^4.18.2"</a:t>
            </a:r>
          </a:p>
          <a:p>
            <a:pPr marL="457200" lvl="1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Create/updates package-</a:t>
            </a:r>
            <a:r>
              <a:rPr lang="en-US" b="1" dirty="0" err="1" smtClean="0"/>
              <a:t>lock.json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This file:</a:t>
            </a:r>
          </a:p>
          <a:p>
            <a:r>
              <a:rPr lang="en-US" dirty="0"/>
              <a:t>Locks exact versions</a:t>
            </a:r>
          </a:p>
          <a:p>
            <a:r>
              <a:rPr lang="en-US" dirty="0"/>
              <a:t>Ensures same versions for all developers</a:t>
            </a:r>
          </a:p>
          <a:p>
            <a:r>
              <a:rPr lang="en-US" dirty="0"/>
              <a:t>Makes installs </a:t>
            </a:r>
            <a:r>
              <a:rPr lang="en-US" dirty="0" smtClean="0"/>
              <a:t>reproducible</a:t>
            </a:r>
          </a:p>
          <a:p>
            <a:r>
              <a:rPr lang="en-US" dirty="0"/>
              <a:t>Same setup on all machines</a:t>
            </a:r>
          </a:p>
          <a:p>
            <a:r>
              <a:rPr lang="en-US" dirty="0"/>
              <a:t>No version mismatch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7149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what you have to do 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smtClean="0"/>
              <a:t>install</a:t>
            </a:r>
          </a:p>
          <a:p>
            <a:r>
              <a:rPr lang="en-US" dirty="0" err="1"/>
              <a:t>npm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Reads </a:t>
            </a:r>
            <a:r>
              <a:rPr lang="en-US" dirty="0" err="1" smtClean="0"/>
              <a:t>package.json</a:t>
            </a:r>
            <a:endParaRPr lang="en-US" dirty="0" smtClean="0"/>
          </a:p>
          <a:p>
            <a:pPr lvl="1"/>
            <a:r>
              <a:rPr lang="en-US" dirty="0" smtClean="0"/>
              <a:t>Uses package-</a:t>
            </a:r>
            <a:r>
              <a:rPr lang="en-US" dirty="0" err="1" smtClean="0"/>
              <a:t>lock.json</a:t>
            </a:r>
            <a:endParaRPr lang="en-US" dirty="0" smtClean="0"/>
          </a:p>
          <a:p>
            <a:pPr lvl="1"/>
            <a:r>
              <a:rPr lang="en-US" dirty="0" smtClean="0"/>
              <a:t>Reinstalls </a:t>
            </a:r>
            <a:r>
              <a:rPr lang="en-US" dirty="0"/>
              <a:t>exact versions</a:t>
            </a:r>
          </a:p>
        </p:txBody>
      </p:sp>
    </p:spTree>
    <p:extLst>
      <p:ext uri="{BB962C8B-B14F-4D97-AF65-F5344CB8AC3E}">
        <p14:creationId xmlns:p14="http://schemas.microsoft.com/office/powerpoint/2010/main" val="429226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Real-World Project </a:t>
            </a:r>
            <a:r>
              <a:rPr lang="en-US" dirty="0" smtClean="0"/>
              <a:t>Example</a:t>
            </a:r>
            <a:br>
              <a:rPr lang="en-US" dirty="0" smtClean="0"/>
            </a:br>
            <a:r>
              <a:rPr lang="en-US" sz="2200" dirty="0" smtClean="0"/>
              <a:t>	</a:t>
            </a:r>
            <a:r>
              <a:rPr lang="en-US" sz="2200" b="1" dirty="0"/>
              <a:t>Example: Simple E-commerce </a:t>
            </a:r>
            <a:r>
              <a:rPr lang="en-US" sz="2200" b="1" dirty="0" smtClean="0"/>
              <a:t>Backend </a:t>
            </a:r>
            <a:r>
              <a:rPr lang="en-US" sz="2200" dirty="0" smtClean="0"/>
              <a:t>Imagine </a:t>
            </a:r>
            <a:r>
              <a:rPr lang="en-US" sz="2200" dirty="0"/>
              <a:t>you’re building an online store.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Step 1: Initialize </a:t>
            </a:r>
            <a:r>
              <a:rPr lang="en-US" dirty="0" smtClean="0"/>
              <a:t>Project</a:t>
            </a:r>
          </a:p>
          <a:p>
            <a:pPr lvl="1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 err="1"/>
              <a:t>init</a:t>
            </a:r>
            <a:r>
              <a:rPr lang="en-US" dirty="0"/>
              <a:t> -</a:t>
            </a:r>
            <a:r>
              <a:rPr lang="en-US" dirty="0" smtClean="0"/>
              <a:t>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Step 2: Install Needed </a:t>
            </a:r>
            <a:r>
              <a:rPr lang="en-US" dirty="0" smtClean="0"/>
              <a:t>Packages</a:t>
            </a:r>
          </a:p>
          <a:p>
            <a:pPr lvl="1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install express mongoose </a:t>
            </a:r>
            <a:r>
              <a:rPr lang="en-US" dirty="0" err="1"/>
              <a:t>dotenv</a:t>
            </a:r>
            <a:r>
              <a:rPr lang="en-US" dirty="0"/>
              <a:t> </a:t>
            </a:r>
            <a:r>
              <a:rPr lang="en-US" dirty="0" err="1" smtClean="0"/>
              <a:t>cors</a:t>
            </a:r>
            <a:endParaRPr lang="en-US" dirty="0" smtClean="0"/>
          </a:p>
          <a:p>
            <a:pPr lvl="1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install </a:t>
            </a:r>
            <a:r>
              <a:rPr lang="en-US" dirty="0" err="1"/>
              <a:t>nodemon</a:t>
            </a:r>
            <a:r>
              <a:rPr lang="en-US" dirty="0"/>
              <a:t> --</a:t>
            </a:r>
            <a:r>
              <a:rPr lang="en-US" dirty="0" smtClean="0"/>
              <a:t>save-dev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What Each Package Does</a:t>
            </a:r>
          </a:p>
          <a:p>
            <a:r>
              <a:rPr lang="en-US" b="1" dirty="0"/>
              <a:t>express</a:t>
            </a:r>
            <a:r>
              <a:rPr lang="en-US" dirty="0"/>
              <a:t> → Web server framework</a:t>
            </a:r>
          </a:p>
          <a:p>
            <a:r>
              <a:rPr lang="en-US" b="1" dirty="0"/>
              <a:t>mongoose</a:t>
            </a:r>
            <a:r>
              <a:rPr lang="en-US" dirty="0"/>
              <a:t> → Connect to MongoDB database</a:t>
            </a:r>
          </a:p>
          <a:p>
            <a:r>
              <a:rPr lang="en-US" b="1" dirty="0" err="1"/>
              <a:t>dotenv</a:t>
            </a:r>
            <a:r>
              <a:rPr lang="en-US" dirty="0"/>
              <a:t> → Manage environment variables</a:t>
            </a:r>
          </a:p>
          <a:p>
            <a:r>
              <a:rPr lang="en-US" b="1" dirty="0" err="1"/>
              <a:t>cors</a:t>
            </a:r>
            <a:r>
              <a:rPr lang="en-US" dirty="0"/>
              <a:t> → Allow frontend to connect</a:t>
            </a:r>
          </a:p>
          <a:p>
            <a:r>
              <a:rPr lang="en-US" b="1" dirty="0" err="1"/>
              <a:t>nodemon</a:t>
            </a:r>
            <a:r>
              <a:rPr lang="en-US" dirty="0"/>
              <a:t> → Auto-restarts server (dev tool)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9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9966"/>
            <a:ext cx="10515600" cy="634854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/>
              <a:t>Folder </a:t>
            </a:r>
            <a:r>
              <a:rPr lang="en-US" sz="3800" b="1" dirty="0" smtClean="0"/>
              <a:t>Structure</a:t>
            </a:r>
          </a:p>
          <a:p>
            <a:pPr marL="0" indent="0">
              <a:buNone/>
            </a:pPr>
            <a:r>
              <a:rPr lang="en-US" dirty="0"/>
              <a:t>my-store/</a:t>
            </a:r>
          </a:p>
          <a:p>
            <a:pPr marL="0" indent="0">
              <a:buNone/>
            </a:pPr>
            <a:r>
              <a:rPr lang="en-US" dirty="0"/>
              <a:t> ├── </a:t>
            </a:r>
            <a:r>
              <a:rPr lang="en-US" dirty="0" err="1"/>
              <a:t>node_modules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├── </a:t>
            </a:r>
            <a:r>
              <a:rPr lang="en-US" dirty="0" err="1"/>
              <a:t>package.json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├── package-</a:t>
            </a:r>
            <a:r>
              <a:rPr lang="en-US" dirty="0" err="1"/>
              <a:t>lock.json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├── server.js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└── </a:t>
            </a:r>
            <a:r>
              <a:rPr lang="en-US" dirty="0"/>
              <a:t>.</a:t>
            </a:r>
            <a:r>
              <a:rPr lang="en-US" dirty="0" err="1" smtClean="0"/>
              <a:t>env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u="sng" dirty="0"/>
              <a:t>Simple Server </a:t>
            </a:r>
            <a:r>
              <a:rPr lang="en-US" sz="3200" b="1" u="sng" dirty="0" smtClean="0"/>
              <a:t>Example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express = require('express');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app = express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app.get</a:t>
            </a:r>
            <a:r>
              <a:rPr lang="en-US" dirty="0"/>
              <a:t>('/', (</a:t>
            </a:r>
            <a:r>
              <a:rPr lang="en-US" dirty="0" err="1"/>
              <a:t>req</a:t>
            </a:r>
            <a:r>
              <a:rPr lang="en-US" dirty="0"/>
              <a:t>, res)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res.send</a:t>
            </a:r>
            <a:r>
              <a:rPr lang="en-US" dirty="0"/>
              <a:t>('Online Store API Running');</a:t>
            </a:r>
          </a:p>
          <a:p>
            <a:pPr marL="0" indent="0">
              <a:buNone/>
            </a:pPr>
            <a:r>
              <a:rPr lang="en-US" dirty="0" smtClean="0"/>
              <a:t>});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app.listen</a:t>
            </a:r>
            <a:r>
              <a:rPr lang="en-US" dirty="0"/>
              <a:t>(3000, () =&gt; {</a:t>
            </a:r>
          </a:p>
          <a:p>
            <a:pPr marL="0" indent="0">
              <a:buNone/>
            </a:pPr>
            <a:r>
              <a:rPr lang="en-US" dirty="0"/>
              <a:t>  console.log('Server started on port 3000');</a:t>
            </a:r>
          </a:p>
          <a:p>
            <a:pPr marL="0" indent="0">
              <a:buNone/>
            </a:pPr>
            <a:r>
              <a:rPr lang="en-US" dirty="0" smtClean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it</a:t>
            </a:r>
            <a:r>
              <a:rPr lang="en-US" dirty="0" smtClean="0"/>
              <a:t>: </a:t>
            </a: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78438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098"/>
          </a:xfrm>
        </p:spPr>
        <p:txBody>
          <a:bodyPr/>
          <a:lstStyle/>
          <a:p>
            <a:pPr algn="ctr"/>
            <a:r>
              <a:rPr lang="en-US" dirty="0"/>
              <a:t>Serving files with the http module</a:t>
            </a:r>
          </a:p>
        </p:txBody>
      </p:sp>
    </p:spTree>
    <p:extLst>
      <p:ext uri="{BB962C8B-B14F-4D97-AF65-F5344CB8AC3E}">
        <p14:creationId xmlns:p14="http://schemas.microsoft.com/office/powerpoint/2010/main" val="51853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HTTP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includes a built-in http module that allows you to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web </a:t>
            </a:r>
            <a:r>
              <a:rPr lang="en-US" dirty="0" smtClean="0"/>
              <a:t>servers</a:t>
            </a:r>
          </a:p>
          <a:p>
            <a:pPr lvl="1"/>
            <a:r>
              <a:rPr lang="en-US" dirty="0" smtClean="0"/>
              <a:t>Handle </a:t>
            </a:r>
            <a:r>
              <a:rPr lang="en-US" dirty="0"/>
              <a:t>HTTP requests and </a:t>
            </a:r>
            <a:r>
              <a:rPr lang="en-US" dirty="0" smtClean="0"/>
              <a:t>responses</a:t>
            </a:r>
          </a:p>
          <a:p>
            <a:pPr lvl="1"/>
            <a:r>
              <a:rPr lang="en-US" dirty="0" smtClean="0"/>
              <a:t>Work </a:t>
            </a:r>
            <a:r>
              <a:rPr lang="en-US" dirty="0"/>
              <a:t>with </a:t>
            </a:r>
            <a:r>
              <a:rPr lang="en-US" dirty="0" smtClean="0"/>
              <a:t>headers</a:t>
            </a:r>
          </a:p>
          <a:p>
            <a:pPr lvl="1"/>
            <a:r>
              <a:rPr lang="en-US" dirty="0" smtClean="0"/>
              <a:t>Handle </a:t>
            </a:r>
            <a:r>
              <a:rPr lang="en-US" dirty="0"/>
              <a:t>different HTTP methods (GET, POST, PUT, DELETE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Stream </a:t>
            </a:r>
            <a:r>
              <a:rPr lang="en-US" dirty="0"/>
              <a:t>large data </a:t>
            </a:r>
            <a:r>
              <a:rPr lang="en-US" dirty="0" smtClean="0"/>
              <a:t>efficiently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foundation of backend development in Node.js.</a:t>
            </a:r>
          </a:p>
        </p:txBody>
      </p:sp>
    </p:spTree>
    <p:extLst>
      <p:ext uri="{BB962C8B-B14F-4D97-AF65-F5344CB8AC3E}">
        <p14:creationId xmlns:p14="http://schemas.microsoft.com/office/powerpoint/2010/main" val="116361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9966"/>
            <a:ext cx="10515600" cy="63224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Including the HTTP </a:t>
            </a:r>
            <a:r>
              <a:rPr lang="en-US" dirty="0" smtClean="0"/>
              <a:t>Module</a:t>
            </a:r>
            <a:endParaRPr lang="en-US" dirty="0"/>
          </a:p>
          <a:p>
            <a:pPr lvl="1"/>
            <a:r>
              <a:rPr lang="en-US" dirty="0" err="1"/>
              <a:t>const</a:t>
            </a:r>
            <a:r>
              <a:rPr lang="en-US" dirty="0"/>
              <a:t> http = require('http'); // </a:t>
            </a:r>
            <a:r>
              <a:rPr lang="en-US" dirty="0" err="1"/>
              <a:t>CommonJS</a:t>
            </a:r>
            <a:r>
              <a:rPr lang="en-US" dirty="0"/>
              <a:t> (default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Or (ES Modules</a:t>
            </a:r>
            <a:r>
              <a:rPr lang="en-US" dirty="0" smtClean="0"/>
              <a:t>):</a:t>
            </a:r>
          </a:p>
          <a:p>
            <a:pPr lvl="2"/>
            <a:r>
              <a:rPr lang="en-US" dirty="0"/>
              <a:t>import http from 'http</a:t>
            </a:r>
            <a:r>
              <a:rPr lang="en-US" dirty="0" smtClean="0"/>
              <a:t>';</a:t>
            </a:r>
          </a:p>
          <a:p>
            <a:pPr marL="914400" lvl="2" indent="0">
              <a:buNone/>
            </a:pPr>
            <a:endParaRPr lang="en-US" dirty="0" smtClean="0"/>
          </a:p>
          <a:p>
            <a:r>
              <a:rPr lang="en-US" dirty="0" smtClean="0"/>
              <a:t>Creating a Basic HTTP Server</a:t>
            </a:r>
          </a:p>
          <a:p>
            <a:pPr marL="457200" lvl="1" indent="0">
              <a:buNone/>
            </a:pPr>
            <a:r>
              <a:rPr lang="en-US" dirty="0" err="1"/>
              <a:t>const</a:t>
            </a:r>
            <a:r>
              <a:rPr lang="en-US" dirty="0"/>
              <a:t> http = require('http</a:t>
            </a:r>
            <a:r>
              <a:rPr lang="en-US" dirty="0" smtClean="0"/>
              <a:t>');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const</a:t>
            </a:r>
            <a:r>
              <a:rPr lang="en-US" dirty="0"/>
              <a:t> PORT = 3000</a:t>
            </a:r>
            <a:r>
              <a:rPr lang="en-US" dirty="0" smtClean="0"/>
              <a:t>;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const</a:t>
            </a:r>
            <a:r>
              <a:rPr lang="en-US" dirty="0"/>
              <a:t> server = </a:t>
            </a:r>
            <a:r>
              <a:rPr lang="en-US" dirty="0" err="1"/>
              <a:t>http.createServer</a:t>
            </a:r>
            <a:r>
              <a:rPr lang="en-US" dirty="0"/>
              <a:t>((</a:t>
            </a:r>
            <a:r>
              <a:rPr lang="en-US" dirty="0" err="1"/>
              <a:t>req</a:t>
            </a:r>
            <a:r>
              <a:rPr lang="en-US" dirty="0"/>
              <a:t>, res) =&gt; 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res.writeHead</a:t>
            </a:r>
            <a:r>
              <a:rPr lang="en-US" dirty="0"/>
              <a:t>(200, { 'Content-Type': 'text/plain' });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('Hello, World!');</a:t>
            </a:r>
          </a:p>
          <a:p>
            <a:pPr marL="457200" lvl="1" indent="0">
              <a:buNone/>
            </a:pPr>
            <a:r>
              <a:rPr lang="en-US" dirty="0" smtClean="0"/>
              <a:t>});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server.listen</a:t>
            </a:r>
            <a:r>
              <a:rPr lang="en-US" dirty="0"/>
              <a:t>(PORT, () =&gt; {</a:t>
            </a:r>
          </a:p>
          <a:p>
            <a:pPr marL="457200" lvl="1" indent="0">
              <a:buNone/>
            </a:pPr>
            <a:r>
              <a:rPr lang="en-US" dirty="0"/>
              <a:t>  console.log(`Server running at http://localhost:${PORT}/`);</a:t>
            </a:r>
          </a:p>
          <a:p>
            <a:pPr marL="457200" lvl="1" indent="0">
              <a:buNone/>
            </a:pPr>
            <a:r>
              <a:rPr lang="en-US" dirty="0" smtClean="0"/>
              <a:t>});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b="1" u="sng" dirty="0" smtClean="0"/>
              <a:t>How </a:t>
            </a:r>
            <a:r>
              <a:rPr lang="en-US" b="1" u="sng" dirty="0"/>
              <a:t>It </a:t>
            </a:r>
            <a:r>
              <a:rPr lang="en-US" b="1" u="sng" dirty="0" smtClean="0"/>
              <a:t>Works</a:t>
            </a:r>
          </a:p>
          <a:p>
            <a:pPr marL="457200" lvl="1" indent="0">
              <a:buNone/>
            </a:pPr>
            <a:r>
              <a:rPr lang="en-US" dirty="0" err="1" smtClean="0"/>
              <a:t>http.createServer</a:t>
            </a:r>
            <a:r>
              <a:rPr lang="en-US" dirty="0"/>
              <a:t>() → Creates </a:t>
            </a:r>
            <a:r>
              <a:rPr lang="en-US" dirty="0" smtClean="0"/>
              <a:t>server</a:t>
            </a:r>
          </a:p>
          <a:p>
            <a:pPr marL="457200" lvl="1" indent="0">
              <a:buNone/>
            </a:pPr>
            <a:r>
              <a:rPr lang="en-US" dirty="0" smtClean="0"/>
              <a:t>(</a:t>
            </a:r>
            <a:r>
              <a:rPr lang="en-US" dirty="0" err="1"/>
              <a:t>req</a:t>
            </a:r>
            <a:r>
              <a:rPr lang="en-US" dirty="0"/>
              <a:t>, res) → Handles each </a:t>
            </a:r>
            <a:r>
              <a:rPr lang="en-US" dirty="0" smtClean="0"/>
              <a:t>request</a:t>
            </a:r>
          </a:p>
          <a:p>
            <a:pPr marL="457200" lvl="1" indent="0">
              <a:buNone/>
            </a:pPr>
            <a:r>
              <a:rPr lang="en-US" dirty="0" err="1" smtClean="0"/>
              <a:t>res.writeHead</a:t>
            </a:r>
            <a:r>
              <a:rPr lang="en-US" dirty="0"/>
              <a:t>() → Sets status &amp; </a:t>
            </a:r>
            <a:r>
              <a:rPr lang="en-US" dirty="0" smtClean="0"/>
              <a:t>headers</a:t>
            </a:r>
          </a:p>
          <a:p>
            <a:pPr marL="457200" lvl="1" indent="0">
              <a:buNone/>
            </a:pPr>
            <a:r>
              <a:rPr lang="en-US" dirty="0" err="1" smtClean="0"/>
              <a:t>res.end</a:t>
            </a:r>
            <a:r>
              <a:rPr lang="en-US" dirty="0"/>
              <a:t>() → Sends </a:t>
            </a:r>
            <a:r>
              <a:rPr lang="en-US" dirty="0" smtClean="0"/>
              <a:t>response</a:t>
            </a:r>
          </a:p>
          <a:p>
            <a:pPr marL="457200" lvl="1" indent="0">
              <a:buNone/>
            </a:pPr>
            <a:r>
              <a:rPr lang="en-US" dirty="0" err="1" smtClean="0"/>
              <a:t>server.listen</a:t>
            </a:r>
            <a:r>
              <a:rPr lang="en-US" dirty="0"/>
              <a:t>() → Starts server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6094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HTTP Headers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1" y="1690688"/>
            <a:ext cx="3812176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 send extra information.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res.writeHead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(200, {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'Content-Type': 'text/html',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'Cache-Control': 'no-cache',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'X-Powered-By': 'Node.js'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});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24589"/>
              </p:ext>
            </p:extLst>
          </p:nvPr>
        </p:nvGraphicFramePr>
        <p:xfrm>
          <a:off x="5068388" y="2168435"/>
          <a:ext cx="6164170" cy="3312828"/>
        </p:xfrm>
        <a:graphic>
          <a:graphicData uri="http://schemas.openxmlformats.org/drawingml/2006/table">
            <a:tbl>
              <a:tblPr/>
              <a:tblGrid>
                <a:gridCol w="3082085"/>
                <a:gridCol w="3082085"/>
              </a:tblGrid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Unauthorized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Forbidden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Found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839789" y="1644522"/>
            <a:ext cx="60285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Status Codes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47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Reading Request </a:t>
            </a:r>
            <a:r>
              <a:rPr lang="en-US" dirty="0" smtClean="0"/>
              <a:t>Headers</a:t>
            </a:r>
          </a:p>
          <a:p>
            <a:pPr lvl="1"/>
            <a:r>
              <a:rPr lang="en-US" dirty="0"/>
              <a:t>console.log(</a:t>
            </a:r>
            <a:r>
              <a:rPr lang="en-US" dirty="0" err="1"/>
              <a:t>req.headers</a:t>
            </a:r>
            <a:r>
              <a:rPr lang="en-US" dirty="0"/>
              <a:t>);</a:t>
            </a:r>
          </a:p>
          <a:p>
            <a:pPr lvl="1"/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userAgent</a:t>
            </a:r>
            <a:r>
              <a:rPr lang="en-US" dirty="0"/>
              <a:t> = </a:t>
            </a:r>
            <a:r>
              <a:rPr lang="en-US" dirty="0" err="1"/>
              <a:t>req.headers</a:t>
            </a:r>
            <a:r>
              <a:rPr lang="en-US" dirty="0"/>
              <a:t>['user-agent'];</a:t>
            </a:r>
            <a:endParaRPr lang="en-US" dirty="0" smtClean="0"/>
          </a:p>
          <a:p>
            <a:r>
              <a:rPr lang="en-US" dirty="0"/>
              <a:t>Working with URLs &amp; Query </a:t>
            </a:r>
            <a:r>
              <a:rPr lang="en-US" dirty="0" smtClean="0"/>
              <a:t>Parameters</a:t>
            </a:r>
          </a:p>
          <a:p>
            <a:pPr lvl="1"/>
            <a:r>
              <a:rPr lang="en-US" dirty="0"/>
              <a:t>The request URL is available </a:t>
            </a:r>
            <a:r>
              <a:rPr lang="en-US" dirty="0" smtClean="0"/>
              <a:t>as:</a:t>
            </a:r>
          </a:p>
          <a:p>
            <a:pPr lvl="2"/>
            <a:r>
              <a:rPr lang="en-US" dirty="0" smtClean="0"/>
              <a:t>req.url</a:t>
            </a:r>
          </a:p>
          <a:p>
            <a:pPr lvl="1"/>
            <a:r>
              <a:rPr lang="en-US" dirty="0"/>
              <a:t>Using Modern URL API (Recommended</a:t>
            </a:r>
            <a:r>
              <a:rPr lang="en-US" dirty="0" smtClean="0"/>
              <a:t>)</a:t>
            </a:r>
          </a:p>
          <a:p>
            <a:pPr lvl="2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{ URL } = require('</a:t>
            </a:r>
            <a:r>
              <a:rPr lang="en-US" dirty="0" err="1"/>
              <a:t>url</a:t>
            </a:r>
            <a:r>
              <a:rPr lang="en-US" dirty="0" smtClean="0"/>
              <a:t>');</a:t>
            </a:r>
          </a:p>
          <a:p>
            <a:pPr lvl="2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/>
              <a:t>parsedUrl</a:t>
            </a:r>
            <a:r>
              <a:rPr lang="en-US" dirty="0"/>
              <a:t> = new URL(req.url, `http://${</a:t>
            </a:r>
            <a:r>
              <a:rPr lang="en-US" dirty="0" err="1"/>
              <a:t>req.headers.host</a:t>
            </a:r>
            <a:r>
              <a:rPr lang="en-US" dirty="0" smtClean="0"/>
              <a:t>}`);</a:t>
            </a:r>
          </a:p>
          <a:p>
            <a:pPr lvl="2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pathname = </a:t>
            </a:r>
            <a:r>
              <a:rPr lang="en-US" dirty="0" err="1"/>
              <a:t>parsedUrl.pathname</a:t>
            </a:r>
            <a:r>
              <a:rPr lang="en-US" dirty="0" smtClean="0"/>
              <a:t>;</a:t>
            </a:r>
          </a:p>
          <a:p>
            <a:pPr lvl="2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/>
              <a:t>queryParams</a:t>
            </a:r>
            <a:r>
              <a:rPr lang="en-US" dirty="0"/>
              <a:t> = </a:t>
            </a:r>
            <a:r>
              <a:rPr lang="en-US" dirty="0" err="1"/>
              <a:t>Object.fromEntries</a:t>
            </a:r>
            <a:r>
              <a:rPr lang="en-US" dirty="0"/>
              <a:t>(</a:t>
            </a:r>
            <a:r>
              <a:rPr lang="en-US" dirty="0" err="1"/>
              <a:t>parsedUrl.searchParams</a:t>
            </a:r>
            <a:r>
              <a:rPr lang="en-US" dirty="0" smtClean="0"/>
              <a:t>);</a:t>
            </a:r>
          </a:p>
          <a:p>
            <a:pPr lvl="1"/>
            <a:r>
              <a:rPr lang="en-US" dirty="0"/>
              <a:t>If request is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/</a:t>
            </a:r>
            <a:r>
              <a:rPr lang="en-US" dirty="0" err="1" smtClean="0"/>
              <a:t>products?category</a:t>
            </a:r>
            <a:r>
              <a:rPr lang="en-US" dirty="0" smtClean="0"/>
              <a:t>=</a:t>
            </a:r>
            <a:r>
              <a:rPr lang="en-US" dirty="0" err="1" smtClean="0"/>
              <a:t>electronics&amp;page</a:t>
            </a:r>
            <a:r>
              <a:rPr lang="en-US" dirty="0" smtClean="0"/>
              <a:t>=2</a:t>
            </a:r>
          </a:p>
          <a:p>
            <a:pPr lvl="1"/>
            <a:r>
              <a:rPr lang="en-US" dirty="0"/>
              <a:t>You get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pathname </a:t>
            </a:r>
            <a:r>
              <a:rPr lang="en-US" dirty="0"/>
              <a:t>→ /</a:t>
            </a:r>
            <a:r>
              <a:rPr lang="en-US" dirty="0" smtClean="0"/>
              <a:t>products</a:t>
            </a:r>
          </a:p>
          <a:p>
            <a:pPr lvl="2"/>
            <a:r>
              <a:rPr lang="en-US" dirty="0" err="1" smtClean="0"/>
              <a:t>queryParams</a:t>
            </a:r>
            <a:r>
              <a:rPr lang="en-US" dirty="0" smtClean="0"/>
              <a:t> </a:t>
            </a:r>
            <a:r>
              <a:rPr lang="en-US" dirty="0"/>
              <a:t>→ { category: "electronics", page: "2" 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8" y="348343"/>
            <a:ext cx="10515600" cy="5889580"/>
          </a:xfrm>
        </p:spPr>
        <p:txBody>
          <a:bodyPr>
            <a:normAutofit/>
          </a:bodyPr>
          <a:lstStyle/>
          <a:p>
            <a:r>
              <a:rPr lang="en-US" sz="1800" dirty="0"/>
              <a:t>Handling Different HTTP </a:t>
            </a:r>
            <a:r>
              <a:rPr lang="en-US" sz="1800" dirty="0" smtClean="0"/>
              <a:t>Methods</a:t>
            </a:r>
          </a:p>
          <a:p>
            <a:pPr marL="457200" lvl="1" indent="0">
              <a:buNone/>
            </a:pPr>
            <a:r>
              <a:rPr lang="en-US" sz="1800" dirty="0"/>
              <a:t>  if (</a:t>
            </a:r>
            <a:r>
              <a:rPr lang="en-US" sz="1800" dirty="0" err="1"/>
              <a:t>req.method</a:t>
            </a:r>
            <a:r>
              <a:rPr lang="en-US" sz="1800" dirty="0"/>
              <a:t> === 'GET' &amp;&amp; pathname === '/</a:t>
            </a:r>
            <a:r>
              <a:rPr lang="en-US" sz="1800" dirty="0" err="1"/>
              <a:t>todos</a:t>
            </a:r>
            <a:r>
              <a:rPr lang="en-US" sz="1800" dirty="0"/>
              <a:t>') {</a:t>
            </a:r>
          </a:p>
          <a:p>
            <a:pPr marL="457200" lvl="1" indent="0">
              <a:buNone/>
            </a:pPr>
            <a:r>
              <a:rPr lang="en-US" sz="1800" dirty="0"/>
              <a:t>  // Return </a:t>
            </a:r>
            <a:r>
              <a:rPr lang="en-US" sz="1800" dirty="0" err="1"/>
              <a:t>todos</a:t>
            </a: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}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if (</a:t>
            </a:r>
            <a:r>
              <a:rPr lang="en-US" sz="1800" dirty="0" err="1"/>
              <a:t>req.method</a:t>
            </a:r>
            <a:r>
              <a:rPr lang="en-US" sz="1800" dirty="0"/>
              <a:t> === 'POST' &amp;&amp; pathname === '/</a:t>
            </a:r>
            <a:r>
              <a:rPr lang="en-US" sz="1800" dirty="0" err="1"/>
              <a:t>todos</a:t>
            </a:r>
            <a:r>
              <a:rPr lang="en-US" sz="1800" dirty="0"/>
              <a:t>') {</a:t>
            </a:r>
          </a:p>
          <a:p>
            <a:pPr marL="457200" lvl="1" indent="0">
              <a:buNone/>
            </a:pPr>
            <a:r>
              <a:rPr lang="en-US" sz="1800" dirty="0"/>
              <a:t>  // Create </a:t>
            </a:r>
            <a:r>
              <a:rPr lang="en-US" sz="1800" dirty="0" err="1"/>
              <a:t>todo</a:t>
            </a: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}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if (</a:t>
            </a:r>
            <a:r>
              <a:rPr lang="en-US" sz="1800" dirty="0" err="1"/>
              <a:t>req.method</a:t>
            </a:r>
            <a:r>
              <a:rPr lang="en-US" sz="1800" dirty="0"/>
              <a:t> === 'PUT') {</a:t>
            </a:r>
          </a:p>
          <a:p>
            <a:pPr marL="457200" lvl="1" indent="0">
              <a:buNone/>
            </a:pPr>
            <a:r>
              <a:rPr lang="en-US" sz="1800" dirty="0"/>
              <a:t>  // Update</a:t>
            </a:r>
          </a:p>
          <a:p>
            <a:pPr marL="457200" lvl="1" indent="0">
              <a:buNone/>
            </a:pPr>
            <a:r>
              <a:rPr lang="en-US" sz="1800" dirty="0"/>
              <a:t>}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if (</a:t>
            </a:r>
            <a:r>
              <a:rPr lang="en-US" sz="1800" dirty="0" err="1"/>
              <a:t>req.method</a:t>
            </a:r>
            <a:r>
              <a:rPr lang="en-US" sz="1800" dirty="0"/>
              <a:t> === 'DELETE') {</a:t>
            </a:r>
          </a:p>
          <a:p>
            <a:pPr marL="457200" lvl="1" indent="0">
              <a:buNone/>
            </a:pPr>
            <a:r>
              <a:rPr lang="en-US" sz="1800" dirty="0"/>
              <a:t>  // Delete</a:t>
            </a:r>
          </a:p>
          <a:p>
            <a:pPr marL="457200" lvl="1" indent="0">
              <a:buNone/>
            </a:pPr>
            <a:r>
              <a:rPr lang="en-US" sz="1800" dirty="0" smtClean="0"/>
              <a:t>}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20903"/>
              </p:ext>
            </p:extLst>
          </p:nvPr>
        </p:nvGraphicFramePr>
        <p:xfrm>
          <a:off x="6252755" y="2134893"/>
          <a:ext cx="5582194" cy="2194560"/>
        </p:xfrm>
        <a:graphic>
          <a:graphicData uri="http://schemas.openxmlformats.org/drawingml/2006/table">
            <a:tbl>
              <a:tblPr/>
              <a:tblGrid>
                <a:gridCol w="2791097"/>
                <a:gridCol w="279109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Retrieve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Update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Partial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430588" y="1479480"/>
            <a:ext cx="203300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Method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3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4137"/>
            <a:ext cx="10515600" cy="57328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Serving Static </a:t>
            </a:r>
            <a:r>
              <a:rPr lang="en-US" dirty="0" smtClean="0"/>
              <a:t>Files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serve files manually, you use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fs </a:t>
            </a:r>
            <a:r>
              <a:rPr lang="en-US" dirty="0"/>
              <a:t>→ Read </a:t>
            </a:r>
            <a:r>
              <a:rPr lang="en-US" dirty="0" smtClean="0"/>
              <a:t>files</a:t>
            </a:r>
          </a:p>
          <a:p>
            <a:pPr lvl="2"/>
            <a:r>
              <a:rPr lang="en-US" dirty="0" smtClean="0"/>
              <a:t>path </a:t>
            </a:r>
            <a:r>
              <a:rPr lang="en-US" dirty="0"/>
              <a:t>→ Safe file </a:t>
            </a:r>
            <a:r>
              <a:rPr lang="en-US" dirty="0" smtClean="0"/>
              <a:t>paths</a:t>
            </a:r>
          </a:p>
          <a:p>
            <a:pPr lvl="2"/>
            <a:r>
              <a:rPr lang="en-US" dirty="0" smtClean="0"/>
              <a:t>Example: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1371600" lvl="3" indent="0">
              <a:buNone/>
            </a:pPr>
            <a:r>
              <a:rPr lang="en-US" dirty="0" err="1"/>
              <a:t>const</a:t>
            </a:r>
            <a:r>
              <a:rPr lang="en-US" dirty="0"/>
              <a:t> fs = require('fs');</a:t>
            </a:r>
          </a:p>
          <a:p>
            <a:pPr marL="1371600" lvl="3" indent="0">
              <a:buNone/>
            </a:pPr>
            <a:r>
              <a:rPr lang="en-US" dirty="0" err="1"/>
              <a:t>const</a:t>
            </a:r>
            <a:r>
              <a:rPr lang="en-US" dirty="0"/>
              <a:t> path = require('path</a:t>
            </a:r>
            <a:r>
              <a:rPr lang="en-US" dirty="0" smtClean="0"/>
              <a:t>');</a:t>
            </a:r>
            <a:endParaRPr lang="en-US" dirty="0"/>
          </a:p>
          <a:p>
            <a:pPr marL="1371600" lvl="3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filePath</a:t>
            </a:r>
            <a:r>
              <a:rPr lang="en-US" dirty="0"/>
              <a:t> = </a:t>
            </a:r>
            <a:r>
              <a:rPr lang="en-US" dirty="0" err="1"/>
              <a:t>path.join</a:t>
            </a:r>
            <a:r>
              <a:rPr lang="en-US" dirty="0"/>
              <a:t>(__</a:t>
            </a:r>
            <a:r>
              <a:rPr lang="en-US" dirty="0" err="1"/>
              <a:t>dirname</a:t>
            </a:r>
            <a:r>
              <a:rPr lang="en-US" dirty="0"/>
              <a:t>, 'public', 'index.html</a:t>
            </a:r>
            <a:r>
              <a:rPr lang="en-US" dirty="0" smtClean="0"/>
              <a:t>');</a:t>
            </a:r>
            <a:endParaRPr lang="en-US" dirty="0"/>
          </a:p>
          <a:p>
            <a:pPr marL="1371600" lvl="3" indent="0">
              <a:buNone/>
            </a:pPr>
            <a:r>
              <a:rPr lang="en-US" dirty="0" err="1"/>
              <a:t>fs.readFile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/>
              <a:t>, (err, data) =&gt; {</a:t>
            </a:r>
          </a:p>
          <a:p>
            <a:pPr marL="1371600" lvl="3" indent="0">
              <a:buNone/>
            </a:pPr>
            <a:r>
              <a:rPr lang="en-US" dirty="0"/>
              <a:t>  if (err) {</a:t>
            </a:r>
          </a:p>
          <a:p>
            <a:pPr marL="1371600" lvl="3" indent="0">
              <a:buNone/>
            </a:pPr>
            <a:r>
              <a:rPr lang="en-US" dirty="0"/>
              <a:t>    </a:t>
            </a:r>
            <a:r>
              <a:rPr lang="en-US" dirty="0" err="1"/>
              <a:t>res.writeHead</a:t>
            </a:r>
            <a:r>
              <a:rPr lang="en-US" dirty="0"/>
              <a:t>(404);</a:t>
            </a:r>
          </a:p>
          <a:p>
            <a:pPr marL="1371600" lvl="3" indent="0">
              <a:buNone/>
            </a:pPr>
            <a:r>
              <a:rPr lang="en-US" dirty="0"/>
              <a:t>    </a:t>
            </a:r>
            <a:r>
              <a:rPr lang="en-US" dirty="0" err="1"/>
              <a:t>res.end</a:t>
            </a:r>
            <a:r>
              <a:rPr lang="en-US" dirty="0"/>
              <a:t>('File not found');</a:t>
            </a:r>
          </a:p>
          <a:p>
            <a:pPr marL="1371600" lvl="3" indent="0">
              <a:buNone/>
            </a:pPr>
            <a:r>
              <a:rPr lang="en-US" dirty="0"/>
              <a:t>  } else {</a:t>
            </a:r>
          </a:p>
          <a:p>
            <a:pPr marL="1371600" lvl="3" indent="0">
              <a:buNone/>
            </a:pPr>
            <a:r>
              <a:rPr lang="en-US" dirty="0"/>
              <a:t>    </a:t>
            </a:r>
            <a:r>
              <a:rPr lang="en-US" dirty="0" err="1"/>
              <a:t>res.writeHead</a:t>
            </a:r>
            <a:r>
              <a:rPr lang="en-US" dirty="0"/>
              <a:t>(200, { 'Content-Type': 'text/html' });</a:t>
            </a:r>
          </a:p>
          <a:p>
            <a:pPr marL="1371600" lvl="3" indent="0">
              <a:buNone/>
            </a:pPr>
            <a:r>
              <a:rPr lang="en-US" dirty="0"/>
              <a:t>    </a:t>
            </a:r>
            <a:r>
              <a:rPr lang="en-US" dirty="0" err="1"/>
              <a:t>res.end</a:t>
            </a:r>
            <a:r>
              <a:rPr lang="en-US" dirty="0"/>
              <a:t>(data);</a:t>
            </a:r>
          </a:p>
          <a:p>
            <a:pPr marL="1371600" lvl="3" indent="0">
              <a:buNone/>
            </a:pPr>
            <a:r>
              <a:rPr lang="en-US" dirty="0"/>
              <a:t>  }</a:t>
            </a:r>
          </a:p>
          <a:p>
            <a:pPr marL="1371600" lvl="3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12524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4137"/>
            <a:ext cx="10515600" cy="5732826"/>
          </a:xfrm>
        </p:spPr>
        <p:txBody>
          <a:bodyPr/>
          <a:lstStyle/>
          <a:p>
            <a:r>
              <a:rPr lang="en-US" dirty="0"/>
              <a:t>Streaming Large Files (Best Practice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Instead of loading entire file into memory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stream = </a:t>
            </a:r>
            <a:r>
              <a:rPr lang="en-US" dirty="0" err="1"/>
              <a:t>fs.createReadStream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 smtClean="0"/>
              <a:t>);</a:t>
            </a:r>
          </a:p>
          <a:p>
            <a:pPr lvl="2"/>
            <a:r>
              <a:rPr lang="en-US" dirty="0" err="1" smtClean="0"/>
              <a:t>stream.pipe</a:t>
            </a:r>
            <a:r>
              <a:rPr lang="en-US" dirty="0" smtClean="0"/>
              <a:t>(res); </a:t>
            </a:r>
          </a:p>
          <a:p>
            <a:pPr lvl="1"/>
            <a:r>
              <a:rPr lang="en-US" dirty="0" smtClean="0"/>
              <a:t>Benefits </a:t>
            </a:r>
            <a:r>
              <a:rPr lang="en-US" dirty="0"/>
              <a:t>of </a:t>
            </a:r>
            <a:r>
              <a:rPr lang="en-US" dirty="0" smtClean="0"/>
              <a:t>Streaming</a:t>
            </a:r>
          </a:p>
          <a:p>
            <a:pPr lvl="2"/>
            <a:r>
              <a:rPr lang="en-US" dirty="0" smtClean="0"/>
              <a:t>Uses </a:t>
            </a:r>
            <a:r>
              <a:rPr lang="en-US" dirty="0"/>
              <a:t>less </a:t>
            </a:r>
            <a:r>
              <a:rPr lang="en-US" dirty="0" smtClean="0"/>
              <a:t>memory</a:t>
            </a:r>
          </a:p>
          <a:p>
            <a:pPr lvl="2"/>
            <a:r>
              <a:rPr lang="en-US" dirty="0" smtClean="0"/>
              <a:t>Faster </a:t>
            </a:r>
            <a:r>
              <a:rPr lang="en-US" dirty="0"/>
              <a:t>response </a:t>
            </a:r>
            <a:r>
              <a:rPr lang="en-US" dirty="0" smtClean="0"/>
              <a:t>start</a:t>
            </a:r>
          </a:p>
          <a:p>
            <a:pPr lvl="2"/>
            <a:r>
              <a:rPr lang="en-US" dirty="0" smtClean="0"/>
              <a:t>Handles </a:t>
            </a:r>
            <a:r>
              <a:rPr lang="en-US" dirty="0"/>
              <a:t>large files </a:t>
            </a:r>
            <a:r>
              <a:rPr lang="en-US" dirty="0" smtClean="0"/>
              <a:t>efficiently</a:t>
            </a:r>
          </a:p>
          <a:p>
            <a:pPr lvl="2"/>
            <a:r>
              <a:rPr lang="en-US" dirty="0" smtClean="0"/>
              <a:t>Built-in </a:t>
            </a:r>
            <a:r>
              <a:rPr lang="en-US" dirty="0"/>
              <a:t>backpressure control</a:t>
            </a:r>
          </a:p>
        </p:txBody>
      </p:sp>
    </p:spTree>
    <p:extLst>
      <p:ext uri="{BB962C8B-B14F-4D97-AF65-F5344CB8AC3E}">
        <p14:creationId xmlns:p14="http://schemas.microsoft.com/office/powerpoint/2010/main" val="216350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4137"/>
            <a:ext cx="10515600" cy="57328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Full Flow </a:t>
            </a:r>
            <a:r>
              <a:rPr lang="en-US" dirty="0" smtClean="0"/>
              <a:t>of </a:t>
            </a:r>
            <a:r>
              <a:rPr lang="en-US" dirty="0"/>
              <a:t>HTTP </a:t>
            </a:r>
            <a:r>
              <a:rPr lang="en-US" dirty="0" smtClean="0"/>
              <a:t>Server</a:t>
            </a:r>
          </a:p>
          <a:p>
            <a:pPr lvl="1"/>
            <a:r>
              <a:rPr lang="en-US" dirty="0"/>
              <a:t>Client sends </a:t>
            </a:r>
            <a:r>
              <a:rPr lang="en-US" dirty="0" smtClean="0"/>
              <a:t>request</a:t>
            </a:r>
          </a:p>
          <a:p>
            <a:pPr lvl="1"/>
            <a:r>
              <a:rPr lang="en-US" dirty="0" smtClean="0"/>
              <a:t>Server </a:t>
            </a:r>
            <a:r>
              <a:rPr lang="en-US" dirty="0"/>
              <a:t>receives (</a:t>
            </a:r>
            <a:r>
              <a:rPr lang="en-US" dirty="0" err="1"/>
              <a:t>req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Parse </a:t>
            </a:r>
            <a:r>
              <a:rPr lang="en-US" dirty="0"/>
              <a:t>URL &amp; </a:t>
            </a:r>
            <a:r>
              <a:rPr lang="en-US" dirty="0" smtClean="0"/>
              <a:t>method</a:t>
            </a:r>
          </a:p>
          <a:p>
            <a:pPr lvl="1"/>
            <a:r>
              <a:rPr lang="en-US" dirty="0" smtClean="0"/>
              <a:t>Set headers</a:t>
            </a:r>
          </a:p>
          <a:p>
            <a:pPr lvl="1"/>
            <a:r>
              <a:rPr lang="en-US" dirty="0" smtClean="0"/>
              <a:t>Process logic</a:t>
            </a:r>
          </a:p>
          <a:p>
            <a:pPr lvl="1"/>
            <a:r>
              <a:rPr lang="en-US" dirty="0" smtClean="0"/>
              <a:t>Send </a:t>
            </a:r>
            <a:r>
              <a:rPr lang="en-US" dirty="0"/>
              <a:t>response (res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Connection closes</a:t>
            </a:r>
          </a:p>
          <a:p>
            <a:pPr lvl="1"/>
            <a:endParaRPr lang="en-US" dirty="0"/>
          </a:p>
          <a:p>
            <a:r>
              <a:rPr lang="en-US" dirty="0"/>
              <a:t>The Node.js http module lets you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Build </a:t>
            </a:r>
            <a:r>
              <a:rPr lang="en-US" dirty="0"/>
              <a:t>web </a:t>
            </a:r>
            <a:r>
              <a:rPr lang="en-US" dirty="0" smtClean="0"/>
              <a:t>servers</a:t>
            </a:r>
          </a:p>
          <a:p>
            <a:pPr lvl="1"/>
            <a:r>
              <a:rPr lang="en-US" dirty="0" smtClean="0"/>
              <a:t>Handle </a:t>
            </a:r>
            <a:r>
              <a:rPr lang="en-US" dirty="0"/>
              <a:t>headers &amp; status </a:t>
            </a:r>
            <a:r>
              <a:rPr lang="en-US" dirty="0" smtClean="0"/>
              <a:t>codes</a:t>
            </a:r>
          </a:p>
          <a:p>
            <a:pPr lvl="1"/>
            <a:r>
              <a:rPr lang="en-US" dirty="0" smtClean="0"/>
              <a:t>Parse </a:t>
            </a:r>
            <a:r>
              <a:rPr lang="en-US" dirty="0"/>
              <a:t>URLs &amp; query </a:t>
            </a:r>
            <a:r>
              <a:rPr lang="en-US" dirty="0" smtClean="0"/>
              <a:t>strings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REST </a:t>
            </a:r>
            <a:r>
              <a:rPr lang="en-US" dirty="0" smtClean="0"/>
              <a:t>APIs</a:t>
            </a:r>
          </a:p>
          <a:p>
            <a:pPr lvl="1"/>
            <a:r>
              <a:rPr lang="en-US" dirty="0" smtClean="0"/>
              <a:t>Serve files</a:t>
            </a:r>
          </a:p>
          <a:p>
            <a:pPr lvl="1"/>
            <a:r>
              <a:rPr lang="en-US" dirty="0" smtClean="0"/>
              <a:t>Stream </a:t>
            </a:r>
            <a:r>
              <a:rPr lang="en-US" dirty="0"/>
              <a:t>large data </a:t>
            </a:r>
            <a:r>
              <a:rPr lang="en-US" dirty="0" smtClean="0"/>
              <a:t>efficiently</a:t>
            </a:r>
          </a:p>
          <a:p>
            <a:pPr lvl="1"/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is the low-level foundation of frameworks like Express.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3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098"/>
          </a:xfrm>
        </p:spPr>
        <p:txBody>
          <a:bodyPr/>
          <a:lstStyle/>
          <a:p>
            <a:pPr algn="ctr"/>
            <a:r>
              <a:rPr lang="en-US" dirty="0"/>
              <a:t>Introduction to </a:t>
            </a:r>
            <a:r>
              <a:rPr lang="en-US" dirty="0" smtClean="0"/>
              <a:t>the Express </a:t>
            </a:r>
            <a:r>
              <a:rPr lang="en-US" dirty="0"/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48152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1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1065</TotalTime>
  <Words>1489</Words>
  <Application>Microsoft Office PowerPoint</Application>
  <PresentationFormat>Widescreen</PresentationFormat>
  <Paragraphs>337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 Unicode MS</vt:lpstr>
      <vt:lpstr>Arial</vt:lpstr>
      <vt:lpstr>Calibri</vt:lpstr>
      <vt:lpstr>Calibri Light</vt:lpstr>
      <vt:lpstr>Office Theme</vt:lpstr>
      <vt:lpstr>UNIT – 2 INTRODUCTION TO WEB</vt:lpstr>
      <vt:lpstr>Introduction</vt:lpstr>
      <vt:lpstr>How a Web Server Works</vt:lpstr>
      <vt:lpstr>PowerPoint Presentation</vt:lpstr>
      <vt:lpstr>What are the Features of a Web Server?</vt:lpstr>
      <vt:lpstr>What are the Features of a Web Server?</vt:lpstr>
      <vt:lpstr>Javascript in the Desktop with NodeJS</vt:lpstr>
      <vt:lpstr>What is Node.js?</vt:lpstr>
      <vt:lpstr>Why Node.js for Web Servers?</vt:lpstr>
      <vt:lpstr>Simple Example of a Web Server in Node.js</vt:lpstr>
      <vt:lpstr> How It Works</vt:lpstr>
      <vt:lpstr>NPM (Node Package Manager)</vt:lpstr>
      <vt:lpstr>What is npm?</vt:lpstr>
      <vt:lpstr>Why Do We Need npm?</vt:lpstr>
      <vt:lpstr>Basic npm Commands</vt:lpstr>
      <vt:lpstr>Important Files</vt:lpstr>
      <vt:lpstr>How npm Works Internally  </vt:lpstr>
      <vt:lpstr>PowerPoint Presentation</vt:lpstr>
      <vt:lpstr>PowerPoint Presentation</vt:lpstr>
      <vt:lpstr>Now what you have to do ??</vt:lpstr>
      <vt:lpstr>Real-World Project Example  Example: Simple E-commerce Backend Imagine you’re building an online store. </vt:lpstr>
      <vt:lpstr>PowerPoint Presentation</vt:lpstr>
      <vt:lpstr>Serving files with the http module</vt:lpstr>
      <vt:lpstr>What is the HTTP Module?</vt:lpstr>
      <vt:lpstr>PowerPoint Presentation</vt:lpstr>
      <vt:lpstr>Working with HTTP Headers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the Express framework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HARDIK</dc:creator>
  <cp:lastModifiedBy>HARDIK</cp:lastModifiedBy>
  <cp:revision>18</cp:revision>
  <dcterms:created xsi:type="dcterms:W3CDTF">2026-03-01T09:49:26Z</dcterms:created>
  <dcterms:modified xsi:type="dcterms:W3CDTF">2026-03-02T03:35:15Z</dcterms:modified>
</cp:coreProperties>
</file>