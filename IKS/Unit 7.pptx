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ppt/tags/tag1.xml" ContentType="application/vnd.openxmlformats-officedocument.presentationml.tags+xml"/>
  <Override PartName="/docProps/app.xml" ContentType="application/vnd.openxmlformats-officedocument.extended-properties+xml"/>
  <Override PartName="/ppt/slides/slide1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docProps/custom.xml" ContentType="application/vnd.openxmlformats-officedocument.custom-properties+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65" r:id="rId2"/>
    <p:sldId id="256" r:id="rId3"/>
    <p:sldId id="257" r:id="rId4"/>
    <p:sldId id="258" r:id="rId5"/>
    <p:sldId id="259" r:id="rId6"/>
    <p:sldId id="260" r:id="rId7"/>
    <p:sldId id="261" r:id="rId8"/>
    <p:sldId id="262" r:id="rId9"/>
    <p:sldId id="263" r:id="rId10"/>
    <p:sldId id="264"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5981" autoAdjust="0"/>
    <p:restoredTop sz="94660"/>
  </p:normalViewPr>
  <p:slideViewPr>
    <p:cSldViewPr snapToGrid="0">
      <p:cViewPr varScale="1">
        <p:scale>
          <a:sx n="73" d="100"/>
          <a:sy n="73" d="100"/>
        </p:scale>
        <p:origin x="-582" y="-102"/>
      </p:cViewPr>
      <p:guideLst>
        <p:guide orient="horz" pos="2160"/>
        <p:guide pos="3840"/>
      </p:guideLst>
    </p:cSldViewPr>
  </p:slid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pPr/>
              <a:t>15/09/2025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pPr/>
              <a:t>15/09/2025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3A1C593-65D0-4073-BCC9-577B9352EA97}" type="datetimeFigureOut">
              <a:rPr lang="en-US" smtClean="0"/>
              <a:pPr/>
              <a:t>15/09/2025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pPr/>
              <a:t>15/09/2025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pPr/>
              <a:t>15/09/2025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pPr/>
              <a:t>15/09/2025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pPr/>
              <a:t>15/09/2025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pPr/>
              <a:t>15/09/2025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pPr/>
              <a:t>15/09/2025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pPr/>
              <a:t>15/09/2025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pPr/>
              <a:t>15/09/2025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pPr/>
              <a:t>15/09/2025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103120"/>
            <a:ext cx="12191365" cy="2630170"/>
          </a:xfrm>
        </p:spPr>
        <p:txBody>
          <a:bodyPr>
            <a:normAutofit fontScale="90000"/>
          </a:bodyPr>
          <a:lstStyle/>
          <a:p>
            <a:pPr algn="ctr"/>
            <a:r>
              <a:rPr lang="en-US" sz="5335">
                <a:sym typeface="+mn-ea"/>
              </a:rPr>
              <a:t>Unit:-7</a:t>
            </a:r>
            <a:r>
              <a:rPr lang="en-US" sz="5335"/>
              <a:t>	</a:t>
            </a:r>
            <a:r>
              <a:rPr lang="en-US"/>
              <a:t/>
            </a:r>
            <a:br>
              <a:rPr lang="en-US"/>
            </a:br>
            <a:r>
              <a:rPr lang="en-US"/>
              <a:t>		</a:t>
            </a:r>
            <a:br>
              <a:rPr lang="en-US"/>
            </a:br>
            <a:r>
              <a:rPr lang="en-US" altLang="en-US" sz="5400"/>
              <a:t>Indian Mathematics: Vedic Mathematics and other ancient mathematical work</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635" y="0"/>
            <a:ext cx="10037445" cy="865505"/>
          </a:xfrm>
        </p:spPr>
        <p:txBody>
          <a:bodyPr>
            <a:normAutofit fontScale="90000"/>
          </a:bodyPr>
          <a:lstStyle/>
          <a:p>
            <a:r>
              <a:rPr lang="en-US"/>
              <a:t>Introduction</a:t>
            </a:r>
          </a:p>
        </p:txBody>
      </p:sp>
      <p:sp>
        <p:nvSpPr>
          <p:cNvPr id="3" name="Subtitle 2"/>
          <p:cNvSpPr>
            <a:spLocks noGrp="1"/>
          </p:cNvSpPr>
          <p:nvPr>
            <p:ph type="subTitle" idx="1"/>
          </p:nvPr>
        </p:nvSpPr>
        <p:spPr>
          <a:xfrm>
            <a:off x="0" y="865505"/>
            <a:ext cx="12192000" cy="5992495"/>
          </a:xfrm>
        </p:spPr>
        <p:txBody>
          <a:bodyPr>
            <a:normAutofit lnSpcReduction="10000"/>
          </a:bodyPr>
          <a:lstStyle/>
          <a:p>
            <a:pPr marL="342900" indent="-342900" algn="just">
              <a:buFont typeface="Arial" panose="020B0604020202020204" pitchFamily="34" charset="0"/>
              <a:buChar char="•"/>
            </a:pPr>
            <a:r>
              <a:rPr lang="en-US" altLang="en-US" dirty="0" err="1"/>
              <a:t>IThe</a:t>
            </a:r>
            <a:r>
              <a:rPr lang="en-US" altLang="en-US" dirty="0"/>
              <a:t> Indian number system, also known as the Hindu-Arabic numeral system, uses a decimal (base-10) structure with place values like ones, tens, hundreds, thousands, ten thousands, </a:t>
            </a:r>
            <a:r>
              <a:rPr lang="en-US" altLang="en-US" dirty="0" err="1"/>
              <a:t>lakhs</a:t>
            </a:r>
            <a:r>
              <a:rPr lang="en-US" altLang="en-US" dirty="0"/>
              <a:t> (100,000), ten </a:t>
            </a:r>
            <a:r>
              <a:rPr lang="en-US" altLang="en-US" dirty="0" err="1"/>
              <a:t>lakhs</a:t>
            </a:r>
            <a:r>
              <a:rPr lang="en-US" altLang="en-US" dirty="0"/>
              <a:t> (1,000,000), and </a:t>
            </a:r>
            <a:r>
              <a:rPr lang="en-US" altLang="en-US" dirty="0" err="1"/>
              <a:t>crores</a:t>
            </a:r>
            <a:r>
              <a:rPr lang="en-US" altLang="en-US" dirty="0"/>
              <a:t> (10,000,000). This system, along with the concept of zero, is a foundational contribution to mathematics and has influenced global numerical systems. Additionally, India has a rich history of various units of measurement for length, weight, and time, though the metric system is now the standard. </a:t>
            </a:r>
          </a:p>
          <a:p>
            <a:pPr algn="just">
              <a:buFont typeface="Arial" panose="020B0604020202020204" pitchFamily="34" charset="0"/>
            </a:pPr>
            <a:r>
              <a:rPr lang="en-US" altLang="en-US" b="1" dirty="0"/>
              <a:t>1. Origins in Ancient India (c. 1000 BCE – 500 CE)</a:t>
            </a:r>
          </a:p>
          <a:p>
            <a:pPr marL="342900" indent="-342900" algn="just">
              <a:buFont typeface="Arial" panose="020B0604020202020204" pitchFamily="34" charset="0"/>
              <a:buChar char="•"/>
            </a:pPr>
            <a:r>
              <a:rPr lang="en-US" altLang="en-US" dirty="0"/>
              <a:t>Vedic Period (c. 1000 BCE):</a:t>
            </a:r>
          </a:p>
          <a:p>
            <a:pPr marL="342900" indent="-342900" algn="just">
              <a:buFont typeface="Arial" panose="020B0604020202020204" pitchFamily="34" charset="0"/>
              <a:buChar char="•"/>
            </a:pPr>
            <a:r>
              <a:rPr lang="en-US" altLang="en-US" dirty="0"/>
              <a:t>The use of numbers was primarily for rituals, astronomy, and trade.</a:t>
            </a:r>
          </a:p>
          <a:p>
            <a:pPr marL="342900" indent="-342900" algn="just">
              <a:buFont typeface="Arial" panose="020B0604020202020204" pitchFamily="34" charset="0"/>
              <a:buChar char="•"/>
            </a:pPr>
            <a:r>
              <a:rPr lang="en-US" altLang="en-US" dirty="0"/>
              <a:t>Early texts like the </a:t>
            </a:r>
            <a:r>
              <a:rPr lang="en-US" altLang="en-US" dirty="0" err="1"/>
              <a:t>Rigveda</a:t>
            </a:r>
            <a:r>
              <a:rPr lang="en-US" altLang="en-US" dirty="0"/>
              <a:t> contain references to large numbers (up to powers of 10, like </a:t>
            </a:r>
            <a:r>
              <a:rPr lang="en-US" altLang="en-US" dirty="0" err="1"/>
              <a:t>sahasra</a:t>
            </a:r>
            <a:r>
              <a:rPr lang="en-US" altLang="en-US" dirty="0"/>
              <a:t> for 1,000).</a:t>
            </a:r>
          </a:p>
          <a:p>
            <a:pPr marL="342900" indent="-342900" algn="just">
              <a:buFont typeface="Arial" panose="020B0604020202020204" pitchFamily="34" charset="0"/>
              <a:buChar char="•"/>
            </a:pPr>
            <a:endParaRPr lang="en-US" altLang="en-US" dirty="0"/>
          </a:p>
          <a:p>
            <a:pPr algn="just">
              <a:buFont typeface="Arial" panose="020B0604020202020204" pitchFamily="34" charset="0"/>
            </a:pPr>
            <a:r>
              <a:rPr lang="en-US" altLang="en-US" b="1" dirty="0"/>
              <a:t>Decimal System Emergence:</a:t>
            </a:r>
          </a:p>
          <a:p>
            <a:pPr marL="342900" indent="-342900" algn="just">
              <a:buFont typeface="Arial" panose="020B0604020202020204" pitchFamily="34" charset="0"/>
              <a:buChar char="•"/>
            </a:pPr>
            <a:endParaRPr lang="en-US" altLang="en-US" dirty="0"/>
          </a:p>
          <a:p>
            <a:pPr marL="342900" indent="-342900" algn="just">
              <a:buFont typeface="Arial" panose="020B0604020202020204" pitchFamily="34" charset="0"/>
              <a:buChar char="•"/>
            </a:pPr>
            <a:r>
              <a:rPr lang="en-US" altLang="en-US" dirty="0"/>
              <a:t>India was one of the first civilizations to use a base-10 (decimal) system.</a:t>
            </a:r>
          </a:p>
          <a:p>
            <a:pPr marL="342900" indent="-342900" algn="just">
              <a:buFont typeface="Arial" panose="020B0604020202020204" pitchFamily="34" charset="0"/>
              <a:buChar char="•"/>
            </a:pPr>
            <a:r>
              <a:rPr lang="en-US" altLang="en-US" dirty="0"/>
              <a:t>Early numeral systems used symbols or words for numbers (e.g., </a:t>
            </a:r>
            <a:r>
              <a:rPr lang="en-US" altLang="en-US" dirty="0" err="1"/>
              <a:t>eka</a:t>
            </a:r>
            <a:r>
              <a:rPr lang="en-US" altLang="en-US" dirty="0"/>
              <a:t> for 1, </a:t>
            </a:r>
            <a:r>
              <a:rPr lang="en-US" altLang="en-US" dirty="0" err="1"/>
              <a:t>dasa</a:t>
            </a:r>
            <a:r>
              <a:rPr lang="en-US" altLang="en-US" dirty="0"/>
              <a:t> for 10).</a:t>
            </a:r>
          </a:p>
          <a:p>
            <a:pPr marL="342900" indent="-342900" algn="just">
              <a:buFont typeface="Arial" panose="020B0604020202020204" pitchFamily="34" charset="0"/>
              <a:buChar char="•"/>
            </a:pPr>
            <a:endParaRPr lang="en-US" altLang="en-US" dirty="0"/>
          </a:p>
          <a:p>
            <a:pPr marL="342900" indent="-342900" algn="just">
              <a:buFont typeface="Arial" panose="020B0604020202020204" pitchFamily="34" charset="0"/>
              <a:buChar char="•"/>
            </a:pPr>
            <a:endParaRPr lang="en-US"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35" y="0"/>
            <a:ext cx="12192635" cy="6857365"/>
          </a:xfrm>
        </p:spPr>
        <p:txBody>
          <a:bodyPr/>
          <a:lstStyle/>
          <a:p>
            <a:r>
              <a:rPr lang="en-US" altLang="en-US" b="1" dirty="0" err="1"/>
              <a:t>Brahmi</a:t>
            </a:r>
            <a:r>
              <a:rPr lang="en-US" altLang="en-US" b="1" dirty="0"/>
              <a:t> Numerals (3rd century BCE):</a:t>
            </a:r>
            <a:endParaRPr lang="en-US" altLang="en-US" dirty="0"/>
          </a:p>
          <a:p>
            <a:r>
              <a:rPr lang="en-US" altLang="en-US" dirty="0"/>
              <a:t>The earliest known numeral symbols in India.</a:t>
            </a:r>
          </a:p>
          <a:p>
            <a:r>
              <a:rPr lang="en-US" altLang="en-US" dirty="0"/>
              <a:t>Found in </a:t>
            </a:r>
            <a:r>
              <a:rPr lang="en-US" altLang="en-US" dirty="0" err="1"/>
              <a:t>Ashokan</a:t>
            </a:r>
            <a:r>
              <a:rPr lang="en-US" altLang="en-US" dirty="0"/>
              <a:t> inscriptions, these evolved into more recognizable forms over time.</a:t>
            </a:r>
          </a:p>
          <a:p>
            <a:pPr marL="0" indent="0">
              <a:buNone/>
            </a:pPr>
            <a:r>
              <a:rPr lang="en-US" altLang="en-US" b="1" dirty="0"/>
              <a:t>2. Invention of Zero (c. 5th century CE)</a:t>
            </a:r>
          </a:p>
          <a:p>
            <a:r>
              <a:rPr lang="en-US" altLang="en-US" dirty="0"/>
              <a:t>Zero (</a:t>
            </a:r>
            <a:r>
              <a:rPr lang="en-US" altLang="en-US" dirty="0" err="1"/>
              <a:t>śūnya</a:t>
            </a:r>
            <a:r>
              <a:rPr lang="en-US" altLang="en-US" dirty="0"/>
              <a:t>) is India's greatest mathematical contribution.</a:t>
            </a:r>
          </a:p>
          <a:p>
            <a:r>
              <a:rPr lang="en-US" altLang="en-US" dirty="0"/>
              <a:t>First recorded use: </a:t>
            </a:r>
            <a:r>
              <a:rPr lang="en-US" altLang="en-US" dirty="0" err="1"/>
              <a:t>Bakhshali</a:t>
            </a:r>
            <a:r>
              <a:rPr lang="en-US" altLang="en-US" dirty="0"/>
              <a:t> Manuscript (c. 3rd–7th century CE).</a:t>
            </a:r>
          </a:p>
          <a:p>
            <a:r>
              <a:rPr lang="en-US" altLang="en-US" dirty="0"/>
              <a:t>The oldest known use of a symbol for zero: A dot, seen in Gwalior inscriptions (876 CE).</a:t>
            </a:r>
          </a:p>
          <a:p>
            <a:r>
              <a:rPr lang="en-US" altLang="en-US" dirty="0"/>
              <a:t>Mathematician </a:t>
            </a:r>
            <a:r>
              <a:rPr lang="en-US" altLang="en-US" dirty="0" err="1"/>
              <a:t>Brahmagupta</a:t>
            </a:r>
            <a:r>
              <a:rPr lang="en-US" altLang="en-US" dirty="0"/>
              <a:t> (628 CE) gave formal rules for zero in his work </a:t>
            </a:r>
            <a:r>
              <a:rPr lang="en-US" altLang="en-US" dirty="0" err="1"/>
              <a:t>Brahmasphutasiddhanta</a:t>
            </a:r>
            <a:r>
              <a:rPr lang="en-US" altLang="en-US" dirty="0"/>
              <a: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635"/>
            <a:ext cx="12192635" cy="6859270"/>
          </a:xfrm>
        </p:spPr>
        <p:txBody>
          <a:bodyPr>
            <a:normAutofit fontScale="87500" lnSpcReduction="10000"/>
          </a:bodyPr>
          <a:lstStyle/>
          <a:p>
            <a:pPr marL="0" indent="0">
              <a:buNone/>
            </a:pPr>
            <a:r>
              <a:rPr lang="en-US" altLang="en-US" b="1" dirty="0"/>
              <a:t>3. Hindu-Arabic Numeral System Development</a:t>
            </a:r>
            <a:endParaRPr lang="en-US" altLang="en-US" dirty="0"/>
          </a:p>
          <a:p>
            <a:r>
              <a:rPr lang="en-US" altLang="en-US" b="1" dirty="0"/>
              <a:t>Core Features Developed in India:</a:t>
            </a:r>
          </a:p>
          <a:p>
            <a:r>
              <a:rPr lang="en-US" altLang="en-US" dirty="0"/>
              <a:t>Digits from 0 to 9</a:t>
            </a:r>
          </a:p>
          <a:p>
            <a:r>
              <a:rPr lang="en-US" altLang="en-US" dirty="0"/>
              <a:t>Place value system (units, tens, hundreds, etc.)</a:t>
            </a:r>
          </a:p>
          <a:p>
            <a:r>
              <a:rPr lang="en-US" altLang="en-US" dirty="0"/>
              <a:t>Base-10 positional notation</a:t>
            </a:r>
          </a:p>
          <a:p>
            <a:r>
              <a:rPr lang="en-US" altLang="en-US" b="1" dirty="0"/>
              <a:t>Indian mathematicians such as:</a:t>
            </a:r>
            <a:endParaRPr lang="en-US" altLang="en-US" dirty="0"/>
          </a:p>
          <a:p>
            <a:r>
              <a:rPr lang="en-US" altLang="en-US" dirty="0" err="1"/>
              <a:t>Aryabhata</a:t>
            </a:r>
            <a:r>
              <a:rPr lang="en-US" altLang="en-US" dirty="0"/>
              <a:t> (499 CE) used letters for numbers but hinted at positional values.</a:t>
            </a:r>
          </a:p>
          <a:p>
            <a:r>
              <a:rPr lang="en-US" altLang="en-US" dirty="0" err="1"/>
              <a:t>Brahmagupta</a:t>
            </a:r>
            <a:r>
              <a:rPr lang="en-US" altLang="en-US" dirty="0"/>
              <a:t> clarified operations with zero and negative numbers.</a:t>
            </a:r>
          </a:p>
          <a:p>
            <a:endParaRPr lang="en-US" altLang="en-US" dirty="0"/>
          </a:p>
          <a:p>
            <a:pPr marL="0" indent="0">
              <a:buNone/>
            </a:pPr>
            <a:r>
              <a:rPr lang="en-US" altLang="en-US" dirty="0"/>
              <a:t> </a:t>
            </a:r>
            <a:r>
              <a:rPr lang="en-US" altLang="en-US" b="1" dirty="0"/>
              <a:t>4. Spread to the Islamic World (8th–12th centuries)</a:t>
            </a:r>
            <a:endParaRPr lang="en-US" altLang="en-US" dirty="0"/>
          </a:p>
          <a:p>
            <a:r>
              <a:rPr lang="en-US" altLang="en-US" dirty="0"/>
              <a:t>Transmission through Trade and Scholarship:</a:t>
            </a:r>
          </a:p>
          <a:p>
            <a:r>
              <a:rPr lang="en-US" altLang="en-US" dirty="0"/>
              <a:t>Arab scholars learned Indian mathematics through translations of Sanskrit texts.</a:t>
            </a:r>
          </a:p>
          <a:p>
            <a:r>
              <a:rPr lang="en-US" altLang="en-US" dirty="0"/>
              <a:t>Al-Khwarizmi, a Persian mathematician, wrote “On the Calculation with Hindu Numerals” (~825 CE).</a:t>
            </a:r>
          </a:p>
          <a:p>
            <a:r>
              <a:rPr lang="en-US" altLang="en-US" dirty="0"/>
              <a:t>This introduced the Indian number system to the Arab world.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35" y="635"/>
            <a:ext cx="12192635" cy="6857365"/>
          </a:xfrm>
        </p:spPr>
        <p:txBody>
          <a:bodyPr/>
          <a:lstStyle/>
          <a:p>
            <a:pPr>
              <a:buNone/>
            </a:pPr>
            <a:r>
              <a:rPr lang="en-US" altLang="en-US" b="1" dirty="0"/>
              <a:t>5. Adoption in Europe (12th–15th centuries)</a:t>
            </a:r>
          </a:p>
          <a:p>
            <a:r>
              <a:rPr lang="en-US" altLang="en-US" dirty="0"/>
              <a:t>European scholars, especially in Spain and Italy, studied Arabic texts.</a:t>
            </a:r>
          </a:p>
          <a:p>
            <a:r>
              <a:rPr lang="en-US" altLang="en-US" dirty="0"/>
              <a:t>Fibonacci (Leonardo of Pisa) introduced Indian numerals to Europe in his book </a:t>
            </a:r>
            <a:r>
              <a:rPr lang="en-US" altLang="en-US" dirty="0" err="1"/>
              <a:t>Liber</a:t>
            </a:r>
            <a:r>
              <a:rPr lang="en-US" altLang="en-US" dirty="0"/>
              <a:t> Abaci (1202 CE).</a:t>
            </a:r>
          </a:p>
          <a:p>
            <a:r>
              <a:rPr lang="en-US" altLang="en-US" dirty="0"/>
              <a:t>Gradual replacement of Roman numerals with Hindu-Arabic numerals across Europe.</a:t>
            </a:r>
          </a:p>
          <a:p>
            <a:pPr marL="0" indent="0">
              <a:buNone/>
            </a:pPr>
            <a:r>
              <a:rPr lang="en-US" altLang="en-US" b="1" dirty="0"/>
              <a:t>6. Modern Use and Legacy</a:t>
            </a:r>
          </a:p>
          <a:p>
            <a:r>
              <a:rPr lang="en-US" altLang="en-US" dirty="0"/>
              <a:t>Today, the Hindu-Arabic numeral system is the global standard.</a:t>
            </a:r>
          </a:p>
          <a:p>
            <a:r>
              <a:rPr lang="en-US" altLang="en-US" dirty="0"/>
              <a:t>It is the foundation for arithmetic, algebra, computer programming, and modern science.</a:t>
            </a:r>
          </a:p>
          <a:p>
            <a:r>
              <a:rPr lang="en-US" altLang="en-US" dirty="0"/>
              <a:t>The Indian place value system (</a:t>
            </a:r>
            <a:r>
              <a:rPr lang="en-US" altLang="en-US" dirty="0" err="1"/>
              <a:t>lakhs</a:t>
            </a:r>
            <a:r>
              <a:rPr lang="en-US" altLang="en-US" dirty="0"/>
              <a:t> and </a:t>
            </a:r>
            <a:r>
              <a:rPr lang="en-US" altLang="en-US" dirty="0" err="1"/>
              <a:t>crores</a:t>
            </a:r>
            <a:r>
              <a:rPr lang="en-US" altLang="en-US" dirty="0"/>
              <a:t>) is still used in India alongside the international system (thousands, millions).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798830"/>
          </a:xfrm>
        </p:spPr>
        <p:txBody>
          <a:bodyPr>
            <a:normAutofit fontScale="90000"/>
          </a:bodyPr>
          <a:lstStyle/>
          <a:p>
            <a:r>
              <a:rPr lang="en-US" altLang="en-US"/>
              <a:t>Key Contributions by Indian Mathematicians</a:t>
            </a:r>
          </a:p>
        </p:txBody>
      </p:sp>
      <p:graphicFrame>
        <p:nvGraphicFramePr>
          <p:cNvPr id="5" name="Content Placeholder 4"/>
          <p:cNvGraphicFramePr>
            <a:graphicFrameLocks noGrp="1"/>
          </p:cNvGraphicFramePr>
          <p:nvPr>
            <p:ph idx="1"/>
            <p:custDataLst>
              <p:tags r:id="rId1"/>
            </p:custDataLst>
          </p:nvPr>
        </p:nvGraphicFramePr>
        <p:xfrm>
          <a:off x="34925" y="1076325"/>
          <a:ext cx="12157075" cy="6285357"/>
        </p:xfrm>
        <a:graphic>
          <a:graphicData uri="http://schemas.openxmlformats.org/drawingml/2006/table">
            <a:tbl>
              <a:tblPr firstRow="1" bandRow="1">
                <a:tableStyleId>{5C22544A-7EE6-4342-B048-85BDC9FD1C3A}</a:tableStyleId>
              </a:tblPr>
              <a:tblGrid>
                <a:gridCol w="4032885"/>
                <a:gridCol w="2523490"/>
                <a:gridCol w="5600700"/>
              </a:tblGrid>
              <a:tr h="1156335">
                <a:tc>
                  <a:txBody>
                    <a:bodyPr/>
                    <a:lstStyle/>
                    <a:p>
                      <a:pPr algn="ctr">
                        <a:lnSpc>
                          <a:spcPct val="280000"/>
                        </a:lnSpc>
                        <a:buNone/>
                      </a:pPr>
                      <a:r>
                        <a:rPr lang="en-US" altLang="en-US" dirty="0"/>
                        <a:t>Mathematician</a:t>
                      </a:r>
                    </a:p>
                  </a:txBody>
                  <a:tcPr anchor="ctr"/>
                </a:tc>
                <a:tc>
                  <a:txBody>
                    <a:bodyPr/>
                    <a:lstStyle/>
                    <a:p>
                      <a:pPr algn="ctr">
                        <a:lnSpc>
                          <a:spcPct val="280000"/>
                        </a:lnSpc>
                        <a:buNone/>
                      </a:pPr>
                      <a:r>
                        <a:rPr lang="en-US" altLang="en-US"/>
                        <a:t>Century</a:t>
                      </a:r>
                    </a:p>
                  </a:txBody>
                  <a:tcPr anchor="ctr"/>
                </a:tc>
                <a:tc>
                  <a:txBody>
                    <a:bodyPr/>
                    <a:lstStyle/>
                    <a:p>
                      <a:pPr algn="ctr">
                        <a:lnSpc>
                          <a:spcPct val="280000"/>
                        </a:lnSpc>
                        <a:buNone/>
                      </a:pPr>
                      <a:r>
                        <a:rPr lang="en-US" altLang="en-US"/>
                        <a:t>Contributions</a:t>
                      </a:r>
                    </a:p>
                  </a:txBody>
                  <a:tcPr anchor="ctr"/>
                </a:tc>
              </a:tr>
              <a:tr h="1156335">
                <a:tc>
                  <a:txBody>
                    <a:bodyPr/>
                    <a:lstStyle/>
                    <a:p>
                      <a:pPr algn="ctr">
                        <a:lnSpc>
                          <a:spcPct val="180000"/>
                        </a:lnSpc>
                        <a:buNone/>
                      </a:pPr>
                      <a:r>
                        <a:rPr lang="en-US" altLang="en-US" sz="2400" dirty="0" err="1"/>
                        <a:t>Aryabhata</a:t>
                      </a:r>
                      <a:endParaRPr lang="en-US" altLang="en-US" sz="2400" dirty="0"/>
                    </a:p>
                  </a:txBody>
                  <a:tcPr anchor="ctr"/>
                </a:tc>
                <a:tc>
                  <a:txBody>
                    <a:bodyPr/>
                    <a:lstStyle/>
                    <a:p>
                      <a:pPr algn="ctr">
                        <a:lnSpc>
                          <a:spcPct val="180000"/>
                        </a:lnSpc>
                        <a:buNone/>
                      </a:pPr>
                      <a:r>
                        <a:rPr lang="en-US" altLang="en-US" sz="2400" dirty="0"/>
                        <a:t>5th</a:t>
                      </a:r>
                    </a:p>
                  </a:txBody>
                  <a:tcPr anchor="ctr"/>
                </a:tc>
                <a:tc>
                  <a:txBody>
                    <a:bodyPr/>
                    <a:lstStyle/>
                    <a:p>
                      <a:pPr algn="ctr">
                        <a:lnSpc>
                          <a:spcPct val="180000"/>
                        </a:lnSpc>
                      </a:pPr>
                      <a:r>
                        <a:rPr lang="en-US" altLang="en-US" sz="2400" dirty="0"/>
                        <a:t>Place value hints, astronomical calculations</a:t>
                      </a:r>
                    </a:p>
                  </a:txBody>
                  <a:tcPr marL="0" marR="0" marT="0" marB="0" anchor="ctr"/>
                </a:tc>
              </a:tr>
              <a:tr h="1156335">
                <a:tc>
                  <a:txBody>
                    <a:bodyPr/>
                    <a:lstStyle/>
                    <a:p>
                      <a:pPr algn="ctr">
                        <a:lnSpc>
                          <a:spcPct val="180000"/>
                        </a:lnSpc>
                        <a:buNone/>
                      </a:pPr>
                      <a:r>
                        <a:rPr lang="en-US" altLang="en-US" sz="2400"/>
                        <a:t>Brahmagupta</a:t>
                      </a:r>
                    </a:p>
                  </a:txBody>
                  <a:tcPr anchor="ctr"/>
                </a:tc>
                <a:tc>
                  <a:txBody>
                    <a:bodyPr/>
                    <a:lstStyle/>
                    <a:p>
                      <a:pPr algn="ctr">
                        <a:lnSpc>
                          <a:spcPct val="180000"/>
                        </a:lnSpc>
                        <a:buNone/>
                      </a:pPr>
                      <a:r>
                        <a:rPr lang="en-US" altLang="en-US" sz="2400" dirty="0"/>
                        <a:t>7th</a:t>
                      </a:r>
                    </a:p>
                  </a:txBody>
                  <a:tcPr anchor="ctr"/>
                </a:tc>
                <a:tc>
                  <a:txBody>
                    <a:bodyPr/>
                    <a:lstStyle/>
                    <a:p>
                      <a:pPr algn="ctr">
                        <a:lnSpc>
                          <a:spcPct val="180000"/>
                        </a:lnSpc>
                        <a:buNone/>
                      </a:pPr>
                      <a:r>
                        <a:rPr lang="en-US" altLang="en-US" sz="2400" dirty="0"/>
                        <a:t>Rules for zero, negative numbers, arithmetic operations</a:t>
                      </a:r>
                    </a:p>
                  </a:txBody>
                  <a:tcPr anchor="ctr"/>
                </a:tc>
              </a:tr>
              <a:tr h="1156335">
                <a:tc>
                  <a:txBody>
                    <a:bodyPr/>
                    <a:lstStyle/>
                    <a:p>
                      <a:pPr algn="ctr">
                        <a:lnSpc>
                          <a:spcPct val="180000"/>
                        </a:lnSpc>
                        <a:buNone/>
                      </a:pPr>
                      <a:r>
                        <a:rPr lang="en-US" altLang="en-US" sz="2400"/>
                        <a:t>Bhaskara I &amp; II</a:t>
                      </a:r>
                    </a:p>
                  </a:txBody>
                  <a:tcPr anchor="ctr"/>
                </a:tc>
                <a:tc>
                  <a:txBody>
                    <a:bodyPr/>
                    <a:lstStyle/>
                    <a:p>
                      <a:pPr algn="ctr">
                        <a:lnSpc>
                          <a:spcPct val="180000"/>
                        </a:lnSpc>
                        <a:buNone/>
                      </a:pPr>
                      <a:r>
                        <a:rPr lang="en-US" altLang="en-US" sz="2400"/>
                        <a:t>7th–12th</a:t>
                      </a:r>
                    </a:p>
                  </a:txBody>
                  <a:tcPr anchor="ctr"/>
                </a:tc>
                <a:tc>
                  <a:txBody>
                    <a:bodyPr/>
                    <a:lstStyle/>
                    <a:p>
                      <a:pPr algn="ctr">
                        <a:lnSpc>
                          <a:spcPct val="180000"/>
                        </a:lnSpc>
                        <a:buNone/>
                      </a:pPr>
                      <a:r>
                        <a:rPr lang="en-US" altLang="en-US" sz="2400" dirty="0"/>
                        <a:t>Algebra, trigonometry, calculus-like concepts</a:t>
                      </a:r>
                    </a:p>
                  </a:txBody>
                  <a:tcPr anchor="ctr"/>
                </a:tc>
              </a:tr>
              <a:tr h="1156335">
                <a:tc>
                  <a:txBody>
                    <a:bodyPr/>
                    <a:lstStyle/>
                    <a:p>
                      <a:pPr algn="ctr">
                        <a:lnSpc>
                          <a:spcPct val="180000"/>
                        </a:lnSpc>
                        <a:buNone/>
                      </a:pPr>
                      <a:r>
                        <a:rPr lang="en-US" altLang="en-US" sz="2400"/>
                        <a:t>Pingala</a:t>
                      </a:r>
                    </a:p>
                  </a:txBody>
                  <a:tcPr anchor="ctr"/>
                </a:tc>
                <a:tc>
                  <a:txBody>
                    <a:bodyPr/>
                    <a:lstStyle/>
                    <a:p>
                      <a:pPr algn="ctr">
                        <a:lnSpc>
                          <a:spcPct val="180000"/>
                        </a:lnSpc>
                      </a:pPr>
                      <a:r>
                        <a:rPr lang="en-US" altLang="en-US" sz="2400"/>
                        <a:t>c. 3rd BCE</a:t>
                      </a:r>
                    </a:p>
                  </a:txBody>
                  <a:tcPr marL="0" marR="0" marT="0" marB="0" anchor="ctr"/>
                </a:tc>
                <a:tc>
                  <a:txBody>
                    <a:bodyPr/>
                    <a:lstStyle/>
                    <a:p>
                      <a:pPr algn="ctr">
                        <a:lnSpc>
                          <a:spcPct val="180000"/>
                        </a:lnSpc>
                      </a:pPr>
                      <a:r>
                        <a:rPr lang="en-US" altLang="en-US" sz="2400" dirty="0"/>
                        <a:t>Binary system in Sanskrit prosody</a:t>
                      </a:r>
                    </a:p>
                  </a:txBody>
                  <a:tcPr marL="0" marR="0" marT="0" marB="0" anchor="ct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756285"/>
            <a:ext cx="12191365" cy="6101715"/>
          </a:xfrm>
        </p:spPr>
        <p:txBody>
          <a:bodyPr>
            <a:normAutofit/>
          </a:bodyPr>
          <a:lstStyle/>
          <a:p>
            <a:pPr marL="0" indent="0" algn="ctr">
              <a:buNone/>
            </a:pPr>
            <a:r>
              <a:rPr lang="en-US" altLang="en-US" b="1" dirty="0"/>
              <a:t>Key Mathematical Concepts</a:t>
            </a:r>
          </a:p>
          <a:p>
            <a:pPr marL="0" indent="0">
              <a:buNone/>
            </a:pPr>
            <a:endParaRPr lang="en-US" altLang="en-US" b="1" dirty="0"/>
          </a:p>
          <a:p>
            <a:r>
              <a:rPr lang="en-US" altLang="en-US" dirty="0"/>
              <a:t>Zero as a number and placeholder (formalized by </a:t>
            </a:r>
            <a:r>
              <a:rPr lang="en-US" altLang="en-US" dirty="0" err="1"/>
              <a:t>Brahmagupta</a:t>
            </a:r>
            <a:r>
              <a:rPr lang="en-US" altLang="en-US" dirty="0"/>
              <a:t>)</a:t>
            </a:r>
          </a:p>
          <a:p>
            <a:r>
              <a:rPr lang="en-US" altLang="en-US" dirty="0"/>
              <a:t>Negative numbers and operations on them</a:t>
            </a:r>
          </a:p>
          <a:p>
            <a:r>
              <a:rPr lang="en-US" altLang="en-US" dirty="0"/>
              <a:t>Algebra (solutions to linear and quadratic equations)</a:t>
            </a:r>
          </a:p>
          <a:p>
            <a:r>
              <a:rPr lang="en-US" altLang="en-US" dirty="0"/>
              <a:t>Trigonometry: sine (</a:t>
            </a:r>
            <a:r>
              <a:rPr lang="en-US" altLang="en-US" dirty="0" err="1"/>
              <a:t>jya</a:t>
            </a:r>
            <a:r>
              <a:rPr lang="en-US" altLang="en-US" dirty="0"/>
              <a:t>), cosine (</a:t>
            </a:r>
            <a:r>
              <a:rPr lang="en-US" altLang="en-US" dirty="0" err="1"/>
              <a:t>kojya</a:t>
            </a:r>
            <a:r>
              <a:rPr lang="en-US" altLang="en-US" dirty="0"/>
              <a:t>), </a:t>
            </a:r>
            <a:r>
              <a:rPr lang="en-US" altLang="en-US" dirty="0" err="1"/>
              <a:t>versine</a:t>
            </a:r>
            <a:r>
              <a:rPr lang="en-US" altLang="en-US" dirty="0"/>
              <a:t> (</a:t>
            </a:r>
            <a:r>
              <a:rPr lang="en-US" altLang="en-US" dirty="0" err="1"/>
              <a:t>utkrama-jya</a:t>
            </a:r>
            <a:r>
              <a:rPr lang="en-US" altLang="en-US" dirty="0"/>
              <a:t>)</a:t>
            </a:r>
          </a:p>
          <a:p>
            <a:r>
              <a:rPr lang="en-US" altLang="en-US" dirty="0"/>
              <a:t>Geometry: areas, volumes, circle theorems</a:t>
            </a:r>
          </a:p>
          <a:p>
            <a:r>
              <a:rPr lang="en-US" altLang="en-US" dirty="0"/>
              <a:t>Infinite series (by Kerala School, pre-Newton)</a:t>
            </a:r>
          </a:p>
          <a:p>
            <a:endParaRPr lang="en-US" altLang="en-US" dirty="0"/>
          </a:p>
          <a:p>
            <a:endParaRPr lang="en-US" alt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8435" y="143054"/>
            <a:ext cx="11892915" cy="1092200"/>
          </a:xfrm>
        </p:spPr>
        <p:txBody>
          <a:bodyPr>
            <a:normAutofit fontScale="90000"/>
          </a:bodyPr>
          <a:lstStyle/>
          <a:p>
            <a:r>
              <a:rPr lang="en-US" altLang="en-US" dirty="0">
                <a:sym typeface="+mn-ea"/>
              </a:rPr>
              <a:t>2. Indian Mathematics in the Asian Knowledge System</a:t>
            </a:r>
            <a:endParaRPr lang="en-US" dirty="0"/>
          </a:p>
        </p:txBody>
      </p:sp>
      <p:sp>
        <p:nvSpPr>
          <p:cNvPr id="3" name="Content Placeholder 2"/>
          <p:cNvSpPr>
            <a:spLocks noGrp="1"/>
          </p:cNvSpPr>
          <p:nvPr>
            <p:ph idx="1"/>
          </p:nvPr>
        </p:nvSpPr>
        <p:spPr>
          <a:xfrm>
            <a:off x="0" y="1239520"/>
            <a:ext cx="12191365" cy="5619115"/>
          </a:xfrm>
        </p:spPr>
        <p:txBody>
          <a:bodyPr>
            <a:normAutofit/>
          </a:bodyPr>
          <a:lstStyle/>
          <a:p>
            <a:r>
              <a:rPr lang="en-US" altLang="en-US" dirty="0" smtClean="0"/>
              <a:t>Spread </a:t>
            </a:r>
            <a:r>
              <a:rPr lang="en-US" altLang="en-US" dirty="0"/>
              <a:t>of Knowledge</a:t>
            </a:r>
          </a:p>
          <a:p>
            <a:r>
              <a:rPr lang="en-US" altLang="en-US" dirty="0"/>
              <a:t>Indian mathematical texts were translated into Arabic in the 8th–10th centuries:</a:t>
            </a:r>
          </a:p>
          <a:p>
            <a:r>
              <a:rPr lang="en-US" altLang="en-US" dirty="0"/>
              <a:t>Introduced the Hindu-Arabic numeral system and algebra to the Islamic world.</a:t>
            </a:r>
          </a:p>
          <a:p>
            <a:r>
              <a:rPr lang="en-US" altLang="en-US" dirty="0"/>
              <a:t>Influenced:</a:t>
            </a:r>
          </a:p>
          <a:p>
            <a:r>
              <a:rPr lang="en-US" altLang="en-US" dirty="0"/>
              <a:t>Persian, Chinese, and Southeast Asian scholars</a:t>
            </a:r>
          </a:p>
          <a:p>
            <a:r>
              <a:rPr lang="en-US" altLang="en-US" dirty="0"/>
              <a:t>The Tang dynasty in China adopted elements of Indian </a:t>
            </a:r>
            <a:r>
              <a:rPr lang="en-US" altLang="en-US" dirty="0" err="1"/>
              <a:t>calendrical</a:t>
            </a:r>
            <a:r>
              <a:rPr lang="en-US" altLang="en-US" dirty="0"/>
              <a:t> astronomy and math.</a:t>
            </a:r>
          </a:p>
          <a:p>
            <a:r>
              <a:rPr lang="en-US" altLang="en-US" dirty="0" err="1"/>
              <a:t>Nalanda</a:t>
            </a:r>
            <a:r>
              <a:rPr lang="en-US" altLang="en-US" dirty="0"/>
              <a:t> and </a:t>
            </a:r>
            <a:r>
              <a:rPr lang="en-US" altLang="en-US" dirty="0" err="1"/>
              <a:t>Takshashila</a:t>
            </a:r>
            <a:r>
              <a:rPr lang="en-US" altLang="en-US" dirty="0"/>
              <a:t> universities were major hubs of mathematical exchange.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635"/>
            <a:ext cx="12192635" cy="6857365"/>
          </a:xfrm>
        </p:spPr>
        <p:txBody>
          <a:bodyPr>
            <a:normAutofit fontScale="87500" lnSpcReduction="10000"/>
          </a:bodyPr>
          <a:lstStyle/>
          <a:p>
            <a:pPr marL="0" indent="0">
              <a:buNone/>
            </a:pPr>
            <a:r>
              <a:rPr lang="en-US" altLang="en-US" b="1"/>
              <a:t>Concept of Zero:</a:t>
            </a:r>
          </a:p>
          <a:p>
            <a:pPr marL="0" indent="0">
              <a:buNone/>
            </a:pPr>
            <a:r>
              <a:rPr lang="en-US" altLang="en-US" sz="4800"/>
              <a:t>‘Zero’ was discovered by an anonymous Indian. The concept of zero in India holds significanthistorical and mathematical importance. The numeral zero, as we understand it today, is an integralpart of the decimal numeral system, and it was developed in ancient India.</a:t>
            </a:r>
          </a:p>
          <a:p>
            <a:pPr marL="0" indent="0" algn="just">
              <a:buNone/>
            </a:pPr>
            <a:r>
              <a:rPr lang="en-US" altLang="en-US" sz="4000" b="1"/>
              <a:t>1.Early Development:</a:t>
            </a:r>
            <a:r>
              <a:rPr lang="en-US" altLang="en-US" sz="5600"/>
              <a:t> </a:t>
            </a:r>
          </a:p>
          <a:p>
            <a:pPr marL="0" indent="0" algn="just">
              <a:buNone/>
            </a:pPr>
            <a:r>
              <a:rPr lang="en-US" altLang="en-US" sz="4665"/>
              <a:t>India's earliest recorded use of a decimal system and zero can be traced backto the Indus Valley Civilization, which existed around 2500-1500 BCE. However, the concept of zeroas a number with its own value and significance started to evolve later.</a:t>
            </a:r>
          </a:p>
          <a:p>
            <a:pPr marL="0" indent="0" algn="just">
              <a:buNone/>
            </a:pPr>
            <a:endParaRPr lang="en-US" altLang="en-US" sz="4665"/>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635"/>
            <a:ext cx="12191365" cy="6858000"/>
          </a:xfrm>
        </p:spPr>
        <p:txBody>
          <a:bodyPr>
            <a:normAutofit fontScale="87500" lnSpcReduction="10000"/>
          </a:bodyPr>
          <a:lstStyle/>
          <a:p>
            <a:pPr marL="0" indent="0" algn="just">
              <a:buNone/>
            </a:pPr>
            <a:r>
              <a:rPr lang="en-US" altLang="en-US" sz="3000" b="1">
                <a:sym typeface="+mn-ea"/>
              </a:rPr>
              <a:t>2. Brahmagupta's Contributions:</a:t>
            </a:r>
            <a:r>
              <a:rPr lang="en-US" altLang="en-US" sz="3000">
                <a:sym typeface="+mn-ea"/>
              </a:rPr>
              <a:t> One of the key figures in the development of the concept of zero in India was the mathematician Brahmagupta, who lived around 598-668 CE. He made significant contributions to the understanding of zero. He defined zero as a number and discussed its mathematical properties. He introduced rules for arithmetic operations involving zero, such as the addition and subtraction of zero, which are now fundamental concepts in mathematics.</a:t>
            </a:r>
          </a:p>
          <a:p>
            <a:pPr marL="0" indent="0" algn="just">
              <a:buNone/>
            </a:pPr>
            <a:endParaRPr lang="en-US" altLang="en-US"/>
          </a:p>
          <a:p>
            <a:pPr marL="0" indent="0">
              <a:buNone/>
            </a:pPr>
            <a:r>
              <a:rPr lang="en-US" altLang="en-US" b="1">
                <a:sym typeface="+mn-ea"/>
              </a:rPr>
              <a:t>3. Aryabhata's Work:</a:t>
            </a:r>
            <a:r>
              <a:rPr lang="en-US" altLang="en-US">
                <a:sym typeface="+mn-ea"/>
              </a:rPr>
              <a:t> Aryabhata, an Indian mathematician and astronomer who lived around 476-</a:t>
            </a:r>
            <a:endParaRPr lang="en-US" altLang="en-US"/>
          </a:p>
          <a:p>
            <a:pPr marL="0" indent="0">
              <a:buNone/>
            </a:pPr>
            <a:r>
              <a:rPr lang="en-US" altLang="en-US">
                <a:sym typeface="+mn-ea"/>
              </a:rPr>
              <a:t>550 CE, also played a role in zero development. In his work, Aryabhata used a symbol to represent</a:t>
            </a:r>
            <a:endParaRPr lang="en-US" altLang="en-US"/>
          </a:p>
          <a:p>
            <a:pPr marL="0" indent="0">
              <a:buNone/>
            </a:pPr>
            <a:r>
              <a:rPr lang="en-US" altLang="en-US">
                <a:sym typeface="+mn-ea"/>
              </a:rPr>
              <a:t>zero and recognized its importance in mathematical calculations.</a:t>
            </a:r>
          </a:p>
          <a:p>
            <a:pPr marL="0" indent="0">
              <a:buNone/>
            </a:pPr>
            <a:endParaRPr lang="en-US" altLang="en-US"/>
          </a:p>
          <a:p>
            <a:pPr marL="0" indent="0">
              <a:buNone/>
            </a:pPr>
            <a:r>
              <a:rPr lang="en-US" altLang="en-US" b="1">
                <a:sym typeface="+mn-ea"/>
              </a:rPr>
              <a:t>4. Spread to the Islamic World and Europe:</a:t>
            </a:r>
            <a:r>
              <a:rPr lang="en-US" altLang="en-US">
                <a:sym typeface="+mn-ea"/>
              </a:rPr>
              <a:t> The concept of zero and the decimal numeral system</a:t>
            </a:r>
          </a:p>
          <a:p>
            <a:pPr marL="0" indent="0">
              <a:buNone/>
            </a:pPr>
            <a:r>
              <a:rPr lang="en-US" altLang="en-US">
                <a:sym typeface="+mn-ea"/>
              </a:rPr>
              <a:t>with its place-value notation spread from India to the Islamic world. Islamic scholars like AlKhwarizmi further developed these ideas, and they eventually made their way to Europe during the Middle Ages.</a:t>
            </a:r>
            <a:endParaRPr lang="en-US" altLang="en-US"/>
          </a:p>
          <a:p>
            <a:endParaRPr lang="en-US"/>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ABLE_ENDDRAG_ORIGIN_RECT" val="828*455"/>
  <p:tag name="TABLE_ENDDRAG_RECT" val="66*84*828*455"/>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216</TotalTime>
  <Words>992</Words>
  <Application>WPS Presentation</Application>
  <PresentationFormat>Custom</PresentationFormat>
  <Paragraphs>86</Paragraphs>
  <Slides>10</Slides>
  <Notes>0</Notes>
  <HiddenSlides>0</HiddenSlides>
  <MMClips>0</MMClip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Office Theme</vt:lpstr>
      <vt:lpstr>Unit:-7     Indian Mathematics: Vedic Mathematics and other ancient mathematical work</vt:lpstr>
      <vt:lpstr>Introduction</vt:lpstr>
      <vt:lpstr>Slide 3</vt:lpstr>
      <vt:lpstr>Slide 4</vt:lpstr>
      <vt:lpstr>Slide 5</vt:lpstr>
      <vt:lpstr>Key Contributions by Indian Mathematicians</vt:lpstr>
      <vt:lpstr>Slide 7</vt:lpstr>
      <vt:lpstr>2. Indian Mathematics in the Asian Knowledge System</vt:lpstr>
      <vt:lpstr>Slide 9</vt:lpstr>
      <vt:lpstr>Slide 10</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Admin</dc:creator>
  <cp:lastModifiedBy>Admin</cp:lastModifiedBy>
  <cp:revision>33</cp:revision>
  <dcterms:created xsi:type="dcterms:W3CDTF">2025-07-25T03:50:00Z</dcterms:created>
  <dcterms:modified xsi:type="dcterms:W3CDTF">2025-09-15T07:35:41Z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D9D0602D79F3474381BF34B1E989DBF9_11</vt:lpwstr>
  </property>
  <property fmtid="{D5CDD505-2E9C-101B-9397-08002B2CF9AE}" pid="3" name="KSOProductBuildVer">
    <vt:lpwstr>1033-12.2.0.21931</vt:lpwstr>
  </property>
</Properties>
</file>