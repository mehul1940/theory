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3"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542925" y="12700"/>
            <a:ext cx="11077575" cy="1114425"/>
          </a:xfrm>
        </p:spPr>
        <p:txBody>
          <a:bodyPr/>
          <a:p>
            <a:r>
              <a:rPr lang="en-US" altLang="en-US"/>
              <a:t> INDIAN KNOWLEDGE SYSTEM (</a:t>
            </a:r>
            <a:r>
              <a:rPr lang="en-US"/>
              <a:t>IKS)</a:t>
            </a:r>
            <a:endParaRPr lang="en-US"/>
          </a:p>
        </p:txBody>
      </p:sp>
      <p:sp>
        <p:nvSpPr>
          <p:cNvPr id="3" name="Subtitle 2"/>
          <p:cNvSpPr>
            <a:spLocks noGrp="1"/>
          </p:cNvSpPr>
          <p:nvPr>
            <p:ph type="subTitle" idx="1"/>
          </p:nvPr>
        </p:nvSpPr>
        <p:spPr>
          <a:xfrm>
            <a:off x="635" y="1126490"/>
            <a:ext cx="12191365" cy="5732145"/>
          </a:xfrm>
        </p:spPr>
        <p:txBody>
          <a:bodyPr>
            <a:noAutofit/>
          </a:bodyPr>
          <a:p>
            <a:pPr algn="just"/>
            <a:endParaRPr lang="en-US" altLang="en-US">
              <a:latin typeface="Times New Roman" panose="02020603050405020304" charset="0"/>
              <a:cs typeface="Times New Roman" panose="02020603050405020304" charset="0"/>
            </a:endParaRPr>
          </a:p>
          <a:p>
            <a:pPr algn="just"/>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By this term, we mean the indigenous sources of knowledge generated by the Indian society</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current political formation called India is of a recent origin and it alone does not qualify to be "India." The term India points to the Undivided Indian subcontinent (AKHANDA BHARATA).We mean the geographical area spanning from Burma on the east to modern day Afghanistan in the west and Himalayas in the north to the Indian ocean in the south. This region has common cultural, literary and social practices and has witnessed continuous exchange of people and ideas x them throughout the history of undivided India. Despite several political formations and princely states ruling this entire region for last several hundred years until consolidation begun from 16h century CE, the society was unified under the common umbrella of social practices. Chanakya could get educated in Taxila in the western part of subcontinent and be instrumental in establishing a powerful Mauryan empire with Pataliputra as the capital the Eastern part. Similarly Panini as Sanskrit Grammarian from Gandhara .The North Western corner (now in Pakistan)could influence the thinking of people in the entire country on Sanskrit language.</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12520" y="-467995"/>
            <a:ext cx="8653780" cy="1471930"/>
          </a:xfrm>
        </p:spPr>
        <p:txBody>
          <a:bodyPr/>
          <a:p>
            <a:pPr algn="ctr"/>
            <a:r>
              <a:rPr lang="en-US">
                <a:latin typeface="Times New Roman" panose="02020603050405020304" charset="0"/>
                <a:cs typeface="Times New Roman" panose="02020603050405020304" charset="0"/>
              </a:rPr>
              <a:t>India’s Map</a:t>
            </a:r>
            <a:endParaRPr lang="en-US">
              <a:latin typeface="Times New Roman" panose="02020603050405020304" charset="0"/>
              <a:cs typeface="Times New Roman" panose="02020603050405020304" charset="0"/>
            </a:endParaRPr>
          </a:p>
        </p:txBody>
      </p:sp>
      <p:pic>
        <p:nvPicPr>
          <p:cNvPr id="4" name="Content Placeholder 3" descr="Akhand Bharat"/>
          <p:cNvPicPr>
            <a:picLocks noChangeAspect="1"/>
          </p:cNvPicPr>
          <p:nvPr>
            <p:ph idx="1"/>
          </p:nvPr>
        </p:nvPicPr>
        <p:blipFill>
          <a:blip r:embed="rId1"/>
          <a:stretch>
            <a:fillRect/>
          </a:stretch>
        </p:blipFill>
        <p:spPr>
          <a:xfrm>
            <a:off x="0" y="596265"/>
            <a:ext cx="12191365" cy="4387850"/>
          </a:xfrm>
          <a:prstGeom prst="rect">
            <a:avLst/>
          </a:prstGeom>
        </p:spPr>
      </p:pic>
      <p:sp>
        <p:nvSpPr>
          <p:cNvPr id="3" name="Text Box 2"/>
          <p:cNvSpPr txBox="1"/>
          <p:nvPr/>
        </p:nvSpPr>
        <p:spPr>
          <a:xfrm>
            <a:off x="-635" y="4984115"/>
            <a:ext cx="12191365" cy="1873885"/>
          </a:xfrm>
          <a:prstGeom prst="rect">
            <a:avLst/>
          </a:prstGeom>
          <a:noFill/>
        </p:spPr>
        <p:txBody>
          <a:bodyPr wrap="square" rtlCol="0">
            <a:noAutofit/>
          </a:bodyPr>
          <a:p>
            <a:r>
              <a:rPr lang="en-US" altLang="en-US" sz="2800">
                <a:latin typeface="Times New Roman" panose="02020603050405020304" charset="0"/>
                <a:cs typeface="Times New Roman" panose="02020603050405020304" charset="0"/>
                <a:sym typeface="+mn-ea"/>
              </a:rPr>
              <a:t>A second aspect to this is only such knowledge synthesized, codified, and made available by the ' Indians' is considered Indian Knowledge. This implies that they ought to have been part of the Indian subcontinent, Those born and/or lived for a substantial amount of time, fully integrating with the native culture and practices.</a:t>
            </a:r>
            <a:endParaRPr lang="en-US" altLang="en-US" sz="2800">
              <a:latin typeface="Times New Roman" panose="02020603050405020304" charset="0"/>
              <a:cs typeface="Times New Roman" panose="02020603050405020304" charset="0"/>
            </a:endParaRPr>
          </a:p>
          <a:p>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735330"/>
            <a:ext cx="12192635" cy="6122670"/>
          </a:xfrm>
        </p:spPr>
        <p:txBody>
          <a:bodyPr>
            <a:normAutofit fontScale="90000" lnSpcReduction="10000"/>
          </a:bodyPr>
          <a:p>
            <a:endParaRPr lang="en-US" altLang="en-US">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rPr>
              <a:t>The second component of IKS is the . knowledge` which is always tacit. It is obtained by the insights gained by personal experiences with life situations, facing problems and coming up with means of solving them. At other times one obtains knowledge by means of intense observation of events, experimentations,conjecturing and analysis. Knowledge may or may not be converted into a literary format. The tacit knowledge can be preserved and transmitted through an oral traditions without a loss. India has rich traditions of folklore practices even to date, that belongs to this category. While both of these forms of knowledge are equally important and valuable it is impossible to formally study knowledge transmitted through oral traditions. Therefore by knowledge we mean a formal repository of knowledge available in literary forms.</a:t>
            </a:r>
            <a:endParaRPr lang="en-US" altLang="en-US" sz="2665">
              <a:latin typeface="Times New Roman" panose="02020603050405020304" charset="0"/>
              <a:cs typeface="Times New Roman" panose="02020603050405020304" charset="0"/>
            </a:endParaRPr>
          </a:p>
          <a:p>
            <a:pPr algn="just"/>
            <a:endParaRPr lang="en-US" altLang="en-US" sz="2665">
              <a:latin typeface="Times New Roman" panose="02020603050405020304" charset="0"/>
              <a:cs typeface="Times New Roman" panose="02020603050405020304" charset="0"/>
            </a:endParaRPr>
          </a:p>
          <a:p>
            <a:pPr algn="just"/>
            <a:r>
              <a:rPr lang="en-US" altLang="en-US" sz="2665">
                <a:latin typeface="Times New Roman" panose="02020603050405020304" charset="0"/>
                <a:cs typeface="Times New Roman" panose="02020603050405020304" charset="0"/>
                <a:sym typeface="+mn-ea"/>
              </a:rPr>
              <a:t>Tacit knowledge gained by a seeker is eventually transmitted systematically in the form of some explicit knowledge' This happens by way of proposing a new theory, framework or literary work. Furthermore, knowledge pervades all three domains: spiritual, religious and social day to day issues. We can summarize the term "knowledge' as that emanating from the wisdom and insights arising out of deep experiences, observation, experimentation and analysis and validated, improved and augmented further.</a:t>
            </a:r>
            <a:endParaRPr lang="en-US" altLang="en-US" sz="2665">
              <a:latin typeface="Times New Roman" panose="02020603050405020304" charset="0"/>
              <a:cs typeface="Times New Roman" panose="02020603050405020304" charset="0"/>
            </a:endParaRPr>
          </a:p>
          <a:p>
            <a:endParaRPr lang="en-US" altLang="en-US" sz="2665">
              <a:latin typeface="Times New Roman" panose="02020603050405020304" charset="0"/>
              <a:cs typeface="Times New Roman" panose="02020603050405020304" charset="0"/>
            </a:endParaRPr>
          </a:p>
        </p:txBody>
      </p:sp>
      <p:sp>
        <p:nvSpPr>
          <p:cNvPr id="2" name="Text Box 1"/>
          <p:cNvSpPr txBox="1"/>
          <p:nvPr/>
        </p:nvSpPr>
        <p:spPr>
          <a:xfrm>
            <a:off x="2644775" y="-635"/>
            <a:ext cx="7012305" cy="912495"/>
          </a:xfrm>
          <a:prstGeom prst="rect">
            <a:avLst/>
          </a:prstGeom>
          <a:noFill/>
        </p:spPr>
        <p:txBody>
          <a:bodyPr wrap="square" rtlCol="0">
            <a:noAutofit/>
          </a:bodyPr>
          <a:p>
            <a:pPr algn="ctr"/>
            <a:r>
              <a:rPr lang="en-US" altLang="en-US" sz="3200" b="1">
                <a:latin typeface="Times New Roman" panose="02020603050405020304" charset="0"/>
                <a:cs typeface="Times New Roman" panose="02020603050405020304" charset="0"/>
                <a:sym typeface="+mn-ea"/>
              </a:rPr>
              <a:t>KNOWLEDGE </a:t>
            </a:r>
            <a:endParaRPr lang="en-US" altLang="en-US" sz="3200" b="1">
              <a:latin typeface="Times New Roman" panose="02020603050405020304" charset="0"/>
              <a:cs typeface="Times New Roman" panose="020206030504050203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35" y="806450"/>
            <a:ext cx="12192635" cy="6051550"/>
          </a:xfrm>
        </p:spPr>
        <p:txBody>
          <a:bodyPr>
            <a:normAutofit lnSpcReduction="10000"/>
          </a:bodyPr>
          <a:p>
            <a:pPr lvl="8"/>
            <a:endParaRPr lang="en-US" altLang="en-US" sz="1535">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By System' in IKS we mean a structured methodology and a classification scheme to access the available corpus on knowledge. By inherent nature, knowledge could be accessed in any manner depending on the interest, purpose and capacity of the seeker. For an uninitiated, this vastness could throw a challenge as the seeker may be clueless as to where to begin and how to proceed. Therefore the available knowledge needs to be collected, grouped, and arranged logically. Codification and classification of the available knowledge using a definite framework would constitute one dimension of the word System' in IKS. The other important requirement is the interconnection between the parts of the knowledge in the classification framework. The framework used to represent should also provide some logical relationships between the different parts of the proposed framework. This helps easy understanding of the overall contribution of the knowledge and how different components of the knowledge complement each other.</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969645" y="0"/>
            <a:ext cx="6887210" cy="645160"/>
          </a:xfrm>
          <a:prstGeom prst="rect">
            <a:avLst/>
          </a:prstGeom>
          <a:noFill/>
        </p:spPr>
        <p:txBody>
          <a:bodyPr wrap="square" rtlCol="0">
            <a:spAutoFit/>
          </a:bodyPr>
          <a:p>
            <a:pPr marL="3657600" lvl="8" indent="0" algn="ctr">
              <a:buNone/>
            </a:pPr>
            <a:r>
              <a:rPr lang="en-US" altLang="en-US" b="1">
                <a:latin typeface="Times New Roman" panose="02020603050405020304" charset="0"/>
                <a:cs typeface="Times New Roman" panose="02020603050405020304" charset="0"/>
                <a:sym typeface="+mn-ea"/>
              </a:rPr>
              <a:t>     </a:t>
            </a:r>
            <a:r>
              <a:rPr lang="en-US" altLang="en-US" sz="3600" b="1">
                <a:latin typeface="Times New Roman" panose="02020603050405020304" charset="0"/>
                <a:cs typeface="Times New Roman" panose="02020603050405020304" charset="0"/>
                <a:sym typeface="+mn-ea"/>
              </a:rPr>
              <a:t>SYSTEM</a:t>
            </a:r>
            <a:endParaRPr lang="en-US" altLang="en-US" sz="3600" b="1">
              <a:latin typeface="Times New Roman" panose="02020603050405020304" charset="0"/>
              <a:cs typeface="Times New Roman" panose="020206030504050203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1325563"/>
          </a:xfrm>
        </p:spPr>
        <p:txBody>
          <a:bodyPr/>
          <a:p>
            <a:pPr algn="ctr"/>
            <a:r>
              <a:rPr lang="en-US" altLang="en-US" b="1">
                <a:latin typeface="Times New Roman" panose="02020603050405020304" charset="0"/>
                <a:cs typeface="Times New Roman" panose="02020603050405020304" charset="0"/>
                <a:sym typeface="+mn-ea"/>
              </a:rPr>
              <a:t>Defining Indian knowledge System</a:t>
            </a:r>
            <a:endParaRPr lang="en-US"/>
          </a:p>
        </p:txBody>
      </p:sp>
      <p:sp>
        <p:nvSpPr>
          <p:cNvPr id="3" name="Content Placeholder 2"/>
          <p:cNvSpPr>
            <a:spLocks noGrp="1"/>
          </p:cNvSpPr>
          <p:nvPr>
            <p:ph idx="1"/>
          </p:nvPr>
        </p:nvSpPr>
        <p:spPr>
          <a:xfrm>
            <a:off x="0" y="960120"/>
            <a:ext cx="12192635" cy="5897880"/>
          </a:xfrm>
        </p:spPr>
        <p:txBody>
          <a:bodyPr>
            <a:normAutofit lnSpcReduction="20000"/>
          </a:bodyPr>
          <a:p>
            <a:pPr marL="0" indent="0" algn="just">
              <a:buNone/>
            </a:pPr>
            <a:endParaRPr lang="en-US" altLang="en-US" b="1">
              <a:latin typeface="Times New Roman" panose="02020603050405020304" charset="0"/>
              <a:cs typeface="Times New Roman" panose="02020603050405020304" charset="0"/>
              <a:sym typeface="+mn-ea"/>
            </a:endParaRPr>
          </a:p>
          <a:p>
            <a:pPr marL="0" indent="0" algn="just">
              <a:buNone/>
            </a:pPr>
            <a:endParaRPr lang="en-US" altLang="en-US" b="1">
              <a:latin typeface="Times New Roman" panose="02020603050405020304" charset="0"/>
              <a:cs typeface="Times New Roman" panose="02020603050405020304" charset="0"/>
              <a:sym typeface="+mn-ea"/>
            </a:endParaRPr>
          </a:p>
          <a:p>
            <a:pPr marL="0" indent="0" algn="just">
              <a:buNone/>
            </a:pPr>
            <a:r>
              <a:rPr lang="en-US" altLang="en-US" b="1">
                <a:latin typeface="Times New Roman" panose="02020603050405020304" charset="0"/>
                <a:cs typeface="Times New Roman" panose="02020603050405020304" charset="0"/>
                <a:sym typeface="+mn-ea"/>
              </a:rPr>
              <a:t>Indian</a:t>
            </a:r>
            <a:r>
              <a:rPr lang="en-US" altLang="en-US">
                <a:latin typeface="Times New Roman" panose="02020603050405020304" charset="0"/>
                <a:cs typeface="Times New Roman" panose="02020603050405020304" charset="0"/>
                <a:sym typeface="+mn-ea"/>
              </a:rPr>
              <a:t>: Refers to people, things, or ideas that are related to or originate from India, a country in South Asia known for its diverse culture, traditions, languages, and history.</a:t>
            </a:r>
            <a:endParaRPr lang="en-US" altLang="en-US">
              <a:latin typeface="Times New Roman" panose="02020603050405020304" charset="0"/>
              <a:cs typeface="Times New Roman" panose="02020603050405020304" charset="0"/>
            </a:endParaRPr>
          </a:p>
          <a:p>
            <a:pPr marL="0" indent="0" algn="just">
              <a:buNone/>
            </a:pPr>
            <a:endParaRPr lang="en-US" altLang="en-US">
              <a:latin typeface="Times New Roman" panose="02020603050405020304" charset="0"/>
              <a:cs typeface="Times New Roman" panose="02020603050405020304" charset="0"/>
            </a:endParaRPr>
          </a:p>
          <a:p>
            <a:pPr marL="0" indent="0" algn="just">
              <a:buNone/>
            </a:pPr>
            <a:r>
              <a:rPr lang="en-US" altLang="en-US" sz="3200" b="1">
                <a:latin typeface="Times New Roman" panose="02020603050405020304" charset="0"/>
                <a:cs typeface="Times New Roman" panose="02020603050405020304" charset="0"/>
                <a:sym typeface="+mn-ea"/>
              </a:rPr>
              <a:t>Knowledge</a:t>
            </a:r>
            <a:r>
              <a:rPr lang="en-US" altLang="en-US" sz="3200">
                <a:latin typeface="Times New Roman" panose="02020603050405020304" charset="0"/>
                <a:cs typeface="Times New Roman" panose="02020603050405020304" charset="0"/>
                <a:sym typeface="+mn-ea"/>
              </a:rPr>
              <a:t>:</a:t>
            </a:r>
            <a:r>
              <a:rPr lang="en-US" altLang="en-US">
                <a:latin typeface="Times New Roman" panose="02020603050405020304" charset="0"/>
                <a:cs typeface="Times New Roman" panose="02020603050405020304" charset="0"/>
                <a:sym typeface="+mn-ea"/>
              </a:rPr>
              <a:t> Information, facts, or skills that a person gains through learning, experience, or education. It's what we know and understand about various subjects or areas.</a:t>
            </a:r>
            <a:endParaRPr lang="en-US" altLang="en-US">
              <a:latin typeface="Times New Roman" panose="02020603050405020304" charset="0"/>
              <a:cs typeface="Times New Roman" panose="02020603050405020304" charset="0"/>
            </a:endParaRPr>
          </a:p>
          <a:p>
            <a:pPr marL="0" indent="0" algn="just">
              <a:buNone/>
            </a:pPr>
            <a:endParaRPr lang="en-US" altLang="en-US">
              <a:latin typeface="Times New Roman" panose="02020603050405020304" charset="0"/>
              <a:cs typeface="Times New Roman" panose="02020603050405020304" charset="0"/>
            </a:endParaRPr>
          </a:p>
          <a:p>
            <a:pPr marL="0" indent="0" algn="just">
              <a:buNone/>
            </a:pPr>
            <a:r>
              <a:rPr lang="en-US" altLang="en-US" sz="3200" b="1">
                <a:latin typeface="Times New Roman" panose="02020603050405020304" charset="0"/>
                <a:cs typeface="Times New Roman" panose="02020603050405020304" charset="0"/>
                <a:sym typeface="+mn-ea"/>
              </a:rPr>
              <a:t>System</a:t>
            </a:r>
            <a:r>
              <a:rPr lang="en-US" altLang="en-US" sz="3200">
                <a:latin typeface="Times New Roman" panose="02020603050405020304" charset="0"/>
                <a:cs typeface="Times New Roman" panose="02020603050405020304" charset="0"/>
                <a:sym typeface="+mn-ea"/>
              </a:rPr>
              <a:t>:</a:t>
            </a:r>
            <a:r>
              <a:rPr lang="en-US" altLang="en-US">
                <a:latin typeface="Times New Roman" panose="02020603050405020304" charset="0"/>
                <a:cs typeface="Times New Roman" panose="02020603050405020304" charset="0"/>
                <a:sym typeface="+mn-ea"/>
              </a:rPr>
              <a:t> A group of related parts or elements that work together to perform a specific function or achieve a particular goal. It's like a structured and organized set of things working in a connected way</a:t>
            </a:r>
            <a:endParaRPr lang="en-US" altLang="en-US">
              <a:latin typeface="Times New Roman" panose="02020603050405020304" charset="0"/>
              <a:cs typeface="Times New Roman" panose="02020603050405020304" charset="0"/>
            </a:endParaRPr>
          </a:p>
          <a:p>
            <a:endParaRPr 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192000" cy="6857365"/>
          </a:xfrm>
        </p:spPr>
        <p:txBody>
          <a:bodyPr>
            <a:noAutofit/>
          </a:bodyPr>
          <a:p>
            <a:pPr algn="just"/>
            <a:r>
              <a:rPr lang="en-US" altLang="en-US">
                <a:latin typeface="Times New Roman" panose="02020603050405020304" charset="0"/>
                <a:cs typeface="Times New Roman" panose="02020603050405020304" charset="0"/>
              </a:rPr>
              <a:t>Indian Knowledge System comprises Jnan, Vigyan, Jeevan Darshan that has evolved out of experience, observation, experimentation, and rigorous analysis.</a:t>
            </a:r>
            <a:endParaRPr lang="en-US" altLang="en-US">
              <a:latin typeface="Times New Roman" panose="02020603050405020304" charset="0"/>
              <a:cs typeface="Times New Roman" panose="02020603050405020304" charset="0"/>
            </a:endParaRPr>
          </a:p>
          <a:p>
            <a:pPr algn="just"/>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Indian Knowledge system (IKS) is an innovative cell under Ministry Of Education (MoE) at AICTE, New Delhi. It is established to promote interdisciplinary research on all aspects of IKS, preserve and disseminate IKS for further research and societal</a:t>
            </a:r>
            <a:endParaRPr lang="en-US" altLang="en-US">
              <a:latin typeface="Times New Roman" panose="02020603050405020304" charset="0"/>
              <a:cs typeface="Times New Roman" panose="02020603050405020304" charset="0"/>
            </a:endParaRPr>
          </a:p>
          <a:p>
            <a:pPr algn="just"/>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applications. It will actively engage for spreading the rich heritage of our county and traditional knowledge in the field of Arts and Literature, Agriculture, Basic Sciences Engineering &amp; Technology, Architecture, Management, Economics, etc,</a:t>
            </a:r>
            <a:endParaRPr lang="en-US" altLang="en-US">
              <a:latin typeface="Times New Roman" panose="02020603050405020304" charset="0"/>
              <a:cs typeface="Times New Roman" panose="02020603050405020304" charset="0"/>
            </a:endParaRPr>
          </a:p>
          <a:p>
            <a:pPr marL="0" indent="0" algn="just">
              <a:buNone/>
            </a:pP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Knowledge systems refer to beliefs, practices, and wisdom developed by human civilizations over several millennia. The elements of knowledge system include</a:t>
            </a:r>
            <a:endParaRPr lang="en-US" altLang="en-US">
              <a:latin typeface="Times New Roman" panose="02020603050405020304" charset="0"/>
              <a:cs typeface="Times New Roman" panose="02020603050405020304" charset="0"/>
            </a:endParaRPr>
          </a:p>
          <a:p>
            <a:pPr algn="just"/>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1056005"/>
            <a:ext cx="12191365" cy="5801995"/>
          </a:xfrm>
        </p:spPr>
        <p:txBody>
          <a:bodyPr>
            <a:normAutofit lnSpcReduction="10000"/>
          </a:bodyPr>
          <a:p>
            <a:pPr marL="0" indent="0" algn="just">
              <a:buNone/>
            </a:pPr>
            <a:r>
              <a:rPr lang="en-US" altLang="en-US">
                <a:latin typeface="Times New Roman" panose="02020603050405020304" charset="0"/>
                <a:cs typeface="Times New Roman" panose="02020603050405020304" charset="0"/>
              </a:rPr>
              <a:t>1.</a:t>
            </a:r>
            <a:r>
              <a:rPr lang="en-US" altLang="en-US" sz="3200" b="1">
                <a:latin typeface="Times New Roman" panose="02020603050405020304" charset="0"/>
                <a:cs typeface="Times New Roman" panose="02020603050405020304" charset="0"/>
              </a:rPr>
              <a:t>Rich Heritage:</a:t>
            </a:r>
            <a:r>
              <a:rPr lang="en-US" altLang="en-US">
                <a:latin typeface="Times New Roman" panose="02020603050405020304" charset="0"/>
                <a:cs typeface="Times New Roman" panose="02020603050405020304" charset="0"/>
              </a:rPr>
              <a:t> Exploring Indian knowledge systems helps understand the rich cultural heritage and diverse wisdom passed down through generations.</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2.</a:t>
            </a:r>
            <a:r>
              <a:rPr lang="en-US" altLang="en-US" sz="3200" b="1">
                <a:latin typeface="Times New Roman" panose="02020603050405020304" charset="0"/>
                <a:cs typeface="Times New Roman" panose="02020603050405020304" charset="0"/>
              </a:rPr>
              <a:t>Holistic Learning:</a:t>
            </a:r>
            <a:r>
              <a:rPr lang="en-US" altLang="en-US">
                <a:latin typeface="Times New Roman" panose="02020603050405020304" charset="0"/>
                <a:cs typeface="Times New Roman" panose="02020603050405020304" charset="0"/>
              </a:rPr>
              <a:t> It offers a holistic approach, integrating various fields like science, philosophy, arts, and spirituality for a more comprehensive understanding of the world.</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3.</a:t>
            </a:r>
            <a:r>
              <a:rPr lang="en-US" altLang="en-US" sz="3200" b="1">
                <a:latin typeface="Times New Roman" panose="02020603050405020304" charset="0"/>
                <a:cs typeface="Times New Roman" panose="02020603050405020304" charset="0"/>
              </a:rPr>
              <a:t>Ancient Contributions:</a:t>
            </a:r>
            <a:r>
              <a:rPr lang="en-US" altLang="en-US">
                <a:latin typeface="Times New Roman" panose="02020603050405020304" charset="0"/>
                <a:cs typeface="Times New Roman" panose="02020603050405020304" charset="0"/>
              </a:rPr>
              <a:t> Indian knowledge systems contributed significant concepts like zero, decimal system, and advanced mathematical theories, which are fundamental in today's education.</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4.</a:t>
            </a:r>
            <a:r>
              <a:rPr lang="en-US" altLang="en-US" sz="3200" b="1">
                <a:latin typeface="Times New Roman" panose="02020603050405020304" charset="0"/>
                <a:cs typeface="Times New Roman" panose="02020603050405020304" charset="0"/>
              </a:rPr>
              <a:t>Practical Applications:</a:t>
            </a:r>
            <a:r>
              <a:rPr lang="en-US" altLang="en-US">
                <a:latin typeface="Times New Roman" panose="02020603050405020304" charset="0"/>
                <a:cs typeface="Times New Roman" panose="02020603050405020304" charset="0"/>
              </a:rPr>
              <a:t> Learning from these systems allows students to apply ancient wisdom practically, like principles in Ayurveda or Vedic mathematics.</a:t>
            </a:r>
            <a:endParaRPr lang="en-US" altLang="en-US">
              <a:latin typeface="Times New Roman" panose="02020603050405020304" charset="0"/>
              <a:cs typeface="Times New Roman" panose="02020603050405020304" charset="0"/>
            </a:endParaRPr>
          </a:p>
          <a:p>
            <a:pPr marL="0" indent="0" algn="just">
              <a:buNone/>
            </a:pPr>
            <a:r>
              <a:rPr lang="en-US" altLang="en-US">
                <a:latin typeface="Times New Roman" panose="02020603050405020304" charset="0"/>
                <a:cs typeface="Times New Roman" panose="02020603050405020304" charset="0"/>
              </a:rPr>
              <a:t>5.</a:t>
            </a:r>
            <a:r>
              <a:rPr lang="en-US" altLang="en-US" sz="3200" b="1">
                <a:latin typeface="Times New Roman" panose="02020603050405020304" charset="0"/>
                <a:cs typeface="Times New Roman" panose="02020603050405020304" charset="0"/>
              </a:rPr>
              <a:t>Global Relevance:</a:t>
            </a:r>
            <a:r>
              <a:rPr lang="en-US" altLang="en-US">
                <a:latin typeface="Times New Roman" panose="02020603050405020304" charset="0"/>
                <a:cs typeface="Times New Roman" panose="02020603050405020304" charset="0"/>
              </a:rPr>
              <a:t> Many concepts from Indian knowledge systems, such as yoga, meditation, and ethical principles, have gained global recognition and are relevant for personal well-being and development.</a:t>
            </a:r>
            <a:endParaRPr lang="en-US" altLang="en-US">
              <a:latin typeface="Times New Roman" panose="02020603050405020304" charset="0"/>
              <a:cs typeface="Times New Roman" panose="02020603050405020304" charset="0"/>
            </a:endParaRPr>
          </a:p>
        </p:txBody>
      </p:sp>
      <p:sp>
        <p:nvSpPr>
          <p:cNvPr id="2" name="Text Box 1"/>
          <p:cNvSpPr txBox="1"/>
          <p:nvPr/>
        </p:nvSpPr>
        <p:spPr>
          <a:xfrm>
            <a:off x="2872105" y="0"/>
            <a:ext cx="6096000" cy="882650"/>
          </a:xfrm>
          <a:prstGeom prst="rect">
            <a:avLst/>
          </a:prstGeom>
          <a:noFill/>
        </p:spPr>
        <p:txBody>
          <a:bodyPr wrap="square" rtlCol="0" anchor="t">
            <a:noAutofit/>
          </a:bodyPr>
          <a:p>
            <a:pPr marL="0" indent="0" algn="ctr">
              <a:buNone/>
            </a:pPr>
            <a:r>
              <a:rPr lang="en-US" altLang="en-US" sz="4000" b="1">
                <a:latin typeface="Times New Roman" panose="02020603050405020304" charset="0"/>
                <a:cs typeface="Times New Roman" panose="02020603050405020304" charset="0"/>
                <a:sym typeface="+mn-ea"/>
              </a:rPr>
              <a:t>Why we need IKS</a:t>
            </a:r>
            <a:endParaRPr lang="en-US" altLang="en-US" sz="4000" b="1">
              <a:latin typeface="Times New Roman" panose="02020603050405020304" charset="0"/>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1365" cy="6857365"/>
          </a:xfrm>
        </p:spPr>
        <p:txBody>
          <a:bodyPr>
            <a:normAutofit lnSpcReduction="10000"/>
          </a:bodyPr>
          <a:p>
            <a:pPr marL="0" indent="0" algn="just">
              <a:buNone/>
            </a:pPr>
            <a:r>
              <a:rPr lang="en-US" altLang="en-US" sz="2665" b="1">
                <a:latin typeface="Times New Roman" panose="02020603050405020304" charset="0"/>
                <a:cs typeface="Times New Roman" panose="02020603050405020304" charset="0"/>
              </a:rPr>
              <a:t>6.Cultural Understanding:</a:t>
            </a:r>
            <a:r>
              <a:rPr lang="en-US" altLang="en-US" sz="2665">
                <a:latin typeface="Times New Roman" panose="02020603050405020304" charset="0"/>
                <a:cs typeface="Times New Roman" panose="02020603050405020304" charset="0"/>
              </a:rPr>
              <a:t> It fosters a deeper understanding of Indian culture, including art, music, dance, and literature, which are essential elements of the country's identity.</a:t>
            </a:r>
            <a:endParaRPr lang="en-US" altLang="en-US" sz="2665">
              <a:latin typeface="Times New Roman" panose="02020603050405020304" charset="0"/>
              <a:cs typeface="Times New Roman" panose="02020603050405020304" charset="0"/>
            </a:endParaRPr>
          </a:p>
          <a:p>
            <a:pPr marL="0" indent="0" algn="just">
              <a:buNone/>
            </a:pPr>
            <a:r>
              <a:rPr lang="en-US" altLang="en-US" sz="2665" b="1">
                <a:latin typeface="Times New Roman" panose="02020603050405020304" charset="0"/>
                <a:cs typeface="Times New Roman" panose="02020603050405020304" charset="0"/>
              </a:rPr>
              <a:t>7.Spiritual Insights:</a:t>
            </a:r>
            <a:r>
              <a:rPr lang="en-US" altLang="en-US" sz="2665">
                <a:latin typeface="Times New Roman" panose="02020603050405020304" charset="0"/>
                <a:cs typeface="Times New Roman" panose="02020603050405020304" charset="0"/>
              </a:rPr>
              <a:t> Provides insights into spiritual philosophies and ancient wisdom from texts like the Bhagavad Gita, offering guidance on ethics and morality.</a:t>
            </a:r>
            <a:endParaRPr lang="en-US" altLang="en-US" sz="2665">
              <a:latin typeface="Times New Roman" panose="02020603050405020304" charset="0"/>
              <a:cs typeface="Times New Roman" panose="02020603050405020304" charset="0"/>
            </a:endParaRPr>
          </a:p>
          <a:p>
            <a:pPr marL="0" indent="0" algn="just">
              <a:buNone/>
            </a:pPr>
            <a:r>
              <a:rPr lang="en-US" altLang="en-US" sz="2665" b="1">
                <a:latin typeface="Times New Roman" panose="02020603050405020304" charset="0"/>
                <a:cs typeface="Times New Roman" panose="02020603050405020304" charset="0"/>
              </a:rPr>
              <a:t>8.Environment and Sustainability:</a:t>
            </a:r>
            <a:r>
              <a:rPr lang="en-US" altLang="en-US" sz="2665">
                <a:latin typeface="Times New Roman" panose="02020603050405020304" charset="0"/>
                <a:cs typeface="Times New Roman" panose="02020603050405020304" charset="0"/>
              </a:rPr>
              <a:t> Ancient Indian knowledge systems include sustainable practices in agriculture and environmental conservation, relevant in today's context of climate change.</a:t>
            </a:r>
            <a:endParaRPr lang="en-US" altLang="en-US" sz="2665">
              <a:latin typeface="Times New Roman" panose="02020603050405020304" charset="0"/>
              <a:cs typeface="Times New Roman" panose="02020603050405020304" charset="0"/>
            </a:endParaRPr>
          </a:p>
          <a:p>
            <a:pPr marL="0" indent="0" algn="just">
              <a:buNone/>
            </a:pPr>
            <a:r>
              <a:rPr lang="en-US" altLang="en-US" sz="2665" b="1">
                <a:latin typeface="Times New Roman" panose="02020603050405020304" charset="0"/>
                <a:cs typeface="Times New Roman" panose="02020603050405020304" charset="0"/>
              </a:rPr>
              <a:t>9.Alternative Perspectives:</a:t>
            </a:r>
            <a:r>
              <a:rPr lang="en-US" altLang="en-US" sz="2665">
                <a:latin typeface="Times New Roman" panose="02020603050405020304" charset="0"/>
                <a:cs typeface="Times New Roman" panose="02020603050405020304" charset="0"/>
              </a:rPr>
              <a:t> It introduces alternative perspectives and approaches that may differ from the Western-centric education system, broadening the scope of learning.</a:t>
            </a:r>
            <a:endParaRPr lang="en-US" altLang="en-US" sz="2665">
              <a:latin typeface="Times New Roman" panose="02020603050405020304" charset="0"/>
              <a:cs typeface="Times New Roman" panose="02020603050405020304" charset="0"/>
            </a:endParaRPr>
          </a:p>
          <a:p>
            <a:pPr marL="0" indent="0" algn="just">
              <a:buNone/>
            </a:pPr>
            <a:r>
              <a:rPr lang="en-US" altLang="en-US" b="1">
                <a:latin typeface="Times New Roman" panose="02020603050405020304" charset="0"/>
                <a:cs typeface="Times New Roman" panose="02020603050405020304" charset="0"/>
              </a:rPr>
              <a:t>10.Modern Adaptations:</a:t>
            </a:r>
            <a:r>
              <a:rPr lang="en-US" altLang="en-US" sz="2665" b="1">
                <a:latin typeface="Times New Roman" panose="02020603050405020304" charset="0"/>
                <a:cs typeface="Times New Roman" panose="02020603050405020304" charset="0"/>
              </a:rPr>
              <a:t> </a:t>
            </a:r>
            <a:r>
              <a:rPr lang="en-US" altLang="en-US" sz="2665">
                <a:latin typeface="Times New Roman" panose="02020603050405020304" charset="0"/>
                <a:cs typeface="Times New Roman" panose="02020603050405020304" charset="0"/>
              </a:rPr>
              <a:t>Indian knowledge systems have evolved and integrated with modern practices, making it adaptable and relevant for contemporary needs and challenges.</a:t>
            </a:r>
            <a:endParaRPr lang="en-US" altLang="en-US" sz="2665">
              <a:latin typeface="Times New Roman" panose="02020603050405020304" charset="0"/>
              <a:cs typeface="Times New Roman" panose="02020603050405020304" charset="0"/>
            </a:endParaRPr>
          </a:p>
          <a:p>
            <a:pPr marL="0" indent="0" algn="just">
              <a:buNone/>
            </a:pPr>
            <a:r>
              <a:rPr lang="en-US" altLang="en-US" b="1">
                <a:latin typeface="Times New Roman" panose="02020603050405020304" charset="0"/>
                <a:cs typeface="Times New Roman" panose="02020603050405020304" charset="0"/>
              </a:rPr>
              <a:t>11.Career Opportunities:</a:t>
            </a:r>
            <a:r>
              <a:rPr lang="en-US" altLang="en-US">
                <a:latin typeface="Times New Roman" panose="02020603050405020304" charset="0"/>
                <a:cs typeface="Times New Roman" panose="02020603050405020304" charset="0"/>
              </a:rPr>
              <a:t> </a:t>
            </a:r>
            <a:r>
              <a:rPr lang="en-US" altLang="en-US" sz="2665">
                <a:latin typeface="Times New Roman" panose="02020603050405020304" charset="0"/>
                <a:cs typeface="Times New Roman" panose="02020603050405020304" charset="0"/>
              </a:rPr>
              <a:t>Understanding these systems can open up career paths in fields like alternative medicine, heritage conservation, philosophy, and cultural studies.</a:t>
            </a:r>
            <a:endParaRPr lang="en-US" altLang="en-US" sz="2665">
              <a:latin typeface="Times New Roman" panose="02020603050405020304" charset="0"/>
              <a:cs typeface="Times New Roman" panose="02020603050405020304" charset="0"/>
            </a:endParaRPr>
          </a:p>
          <a:p>
            <a:pPr marL="0" indent="0" algn="just">
              <a:buNone/>
            </a:pPr>
            <a:r>
              <a:rPr lang="en-US" altLang="en-US" b="1">
                <a:latin typeface="Times New Roman" panose="02020603050405020304" charset="0"/>
                <a:cs typeface="Times New Roman" panose="02020603050405020304" charset="0"/>
              </a:rPr>
              <a:t> 12.Cultural Identity:</a:t>
            </a:r>
            <a:r>
              <a:rPr lang="en-US" altLang="en-US" sz="2665">
                <a:latin typeface="Times New Roman" panose="02020603050405020304" charset="0"/>
                <a:cs typeface="Times New Roman" panose="02020603050405020304" charset="0"/>
              </a:rPr>
              <a:t> For students of Indian origin, exploring these systems helps connect with their roots, fostering a sense of cultural identity and pride</a:t>
            </a:r>
            <a:endParaRPr lang="en-US" altLang="en-US" sz="2665">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7418</Words>
  <Application>WPS Presentation</Application>
  <PresentationFormat>Widescreen</PresentationFormat>
  <Paragraphs>58</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Arial</vt:lpstr>
      <vt:lpstr>SimSun</vt:lpstr>
      <vt:lpstr>Wingdings</vt:lpstr>
      <vt:lpstr>Times New Roman</vt:lpstr>
      <vt:lpstr>Calibri Light</vt:lpstr>
      <vt:lpstr>Calibri</vt:lpstr>
      <vt:lpstr>Microsoft YaHei</vt:lpstr>
      <vt:lpstr>Arial Unicode MS</vt:lpstr>
      <vt:lpstr>Office Theme</vt:lpstr>
      <vt:lpstr> INDIAN KNOWLEDGE SYSTEM (IKS)</vt:lpstr>
      <vt:lpstr>India’s Map</vt:lpstr>
      <vt:lpstr>PowerPoint 演示文稿</vt:lpstr>
      <vt:lpstr>PowerPoint 演示文稿</vt:lpstr>
      <vt:lpstr>Defining Indian knowledge System</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INDIAN KNOWLEDGE SYSTEM (IKS)</dc:title>
  <dc:creator>Admin</dc:creator>
  <cp:lastModifiedBy>Admin</cp:lastModifiedBy>
  <cp:revision>16</cp:revision>
  <dcterms:created xsi:type="dcterms:W3CDTF">2025-07-24T06:38:00Z</dcterms:created>
  <dcterms:modified xsi:type="dcterms:W3CDTF">2025-07-29T02:13:20Z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D51CDF7916AB4502A192756505ECA385_11</vt:lpwstr>
  </property>
  <property fmtid="{D5CDD505-2E9C-101B-9397-08002B2CF9AE}" pid="3" name="KSOProductBuildVer">
    <vt:lpwstr>1033-12.2.0.21931</vt:lpwstr>
  </property>
</Properties>
</file>