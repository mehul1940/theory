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1" r:id="rId2"/>
    <p:sldId id="260" r:id="rId3"/>
    <p:sldId id="262" r:id="rId4"/>
    <p:sldId id="263" r:id="rId5"/>
    <p:sldId id="264" r:id="rId6"/>
    <p:sldId id="265" r:id="rId7"/>
    <p:sldId id="266" r:id="rId8"/>
    <p:sldId id="267" r:id="rId9"/>
    <p:sldId id="268" r:id="rId10"/>
    <p:sldId id="272" r:id="rId11"/>
    <p:sldId id="276" r:id="rId12"/>
    <p:sldId id="296" r:id="rId13"/>
    <p:sldId id="297" r:id="rId14"/>
    <p:sldId id="298" r:id="rId15"/>
    <p:sldId id="299" r:id="rId16"/>
    <p:sldId id="277" r:id="rId17"/>
    <p:sldId id="273" r:id="rId18"/>
    <p:sldId id="274" r:id="rId19"/>
    <p:sldId id="275" r:id="rId20"/>
    <p:sldId id="283" r:id="rId21"/>
    <p:sldId id="278" r:id="rId22"/>
    <p:sldId id="280" r:id="rId23"/>
    <p:sldId id="281" r:id="rId24"/>
    <p:sldId id="279" r:id="rId25"/>
    <p:sldId id="282" r:id="rId26"/>
    <p:sldId id="258" r:id="rId27"/>
    <p:sldId id="284" r:id="rId28"/>
    <p:sldId id="287" r:id="rId29"/>
    <p:sldId id="285" r:id="rId30"/>
    <p:sldId id="286" r:id="rId31"/>
    <p:sldId id="259" r:id="rId32"/>
    <p:sldId id="288" r:id="rId33"/>
    <p:sldId id="289" r:id="rId34"/>
    <p:sldId id="291" r:id="rId35"/>
    <p:sldId id="292" r:id="rId36"/>
    <p:sldId id="293" r:id="rId37"/>
    <p:sldId id="294" r:id="rId38"/>
    <p:sldId id="295" r:id="rId39"/>
    <p:sldId id="270" r:id="rId40"/>
    <p:sldId id="290" r:id="rId41"/>
    <p:sldId id="271"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981" autoAdjust="0"/>
    <p:restoredTop sz="98251" autoAdjust="0"/>
  </p:normalViewPr>
  <p:slideViewPr>
    <p:cSldViewPr snapToGrid="0">
      <p:cViewPr varScale="1">
        <p:scale>
          <a:sx n="72" d="100"/>
          <a:sy n="72" d="100"/>
        </p:scale>
        <p:origin x="-618" y="-90"/>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20/09/2025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20/09/2025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pPr/>
              <a:t>20/09/2025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pPr/>
              <a:t>20/09/2025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pPr/>
              <a:t>20/09/2025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pPr/>
              <a:t>20/09/2025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pPr/>
              <a:t>20/09/2025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20/09/2025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20/09/2025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20/09/2025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20/09/2025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pPr/>
              <a:t>20/09/2025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google.com/search?cs=0&amp;sca_esv=a6493d853efe4d30&amp;q=Yoga&amp;sa=X&amp;ved=2ahUKEwiLosS-x-SPAxXVT2wGHcX-MUkQxccNegQIBBAC&amp;mstk=AUtExfCXNGFNg_FikiP7C2FoD8XsIXsI7q9rSUoxAMUkOYhcZONBcismDOutR82t_Dwybp18ZjLmByxwJlxF0_WDNVzo3esrLtub-zq2vMaZnLggS7y7Uuo_M5UA9VCrxtoYaXw5Fo9rIRj6CBngmLXJSl2SAdAtDYb564jhxdnMM7qdYwA&amp;csui=3" TargetMode="External"/><Relationship Id="rId2" Type="http://schemas.openxmlformats.org/officeDocument/2006/relationships/hyperlink" Target="https://www.google.com/search?cs=0&amp;sca_esv=a6493d853efe4d30&amp;q=Nyaya&amp;sa=X&amp;ved=2ahUKEwiLosS-x-SPAxXVT2wGHcX-MUkQxccNegQIBBAB&amp;mstk=AUtExfCXNGFNg_FikiP7C2FoD8XsIXsI7q9rSUoxAMUkOYhcZONBcismDOutR82t_Dwybp18ZjLmByxwJlxF0_WDNVzo3esrLtub-zq2vMaZnLggS7y7Uuo_M5UA9VCrxtoYaXw5Fo9rIRj6CBngmLXJSl2SAdAtDYb564jhxdnMM7qdYwA&amp;csui=3" TargetMode="External"/><Relationship Id="rId1" Type="http://schemas.openxmlformats.org/officeDocument/2006/relationships/slideLayout" Target="../slideLayouts/slideLayout2.xml"/><Relationship Id="rId6" Type="http://schemas.openxmlformats.org/officeDocument/2006/relationships/hyperlink" Target="https://www.google.com/search?sca_esv=a6493d853efe4d30&amp;q=Charvaka&amp;sa=X&amp;ved=2ahUKEwiqjYWPyOSPAxXTTmwGHQjkMq0QxccNegQIMhAB&amp;mstk=AUtExfCy_59uE7LkF8bD_3ZHf2AvUWrd5tjX5CpMDaFQhnpQp5ngYSSTdw0mIdJTEl7VS835CQcLPw_cBibwYoFkdbCkE-ACOvqY7zLq9i2C7mh_ZojklEMsV3pJ5A8Z6ZqjtjbgaLqimWO79NFDehvUazsxZWGZwfeK9TWQXzcqB_MvIw_-OUxi6Co9gQk7LwaQ5Mc-&amp;csui=3" TargetMode="External"/><Relationship Id="rId5" Type="http://schemas.openxmlformats.org/officeDocument/2006/relationships/hyperlink" Target="https://www.google.com/search?cs=0&amp;sca_esv=a6493d853efe4d30&amp;q=Vedanta&amp;sa=X&amp;ved=2ahUKEwiLosS-x-SPAxXVT2wGHcX-MUkQxccNegQIBBAE&amp;mstk=AUtExfCXNGFNg_FikiP7C2FoD8XsIXsI7q9rSUoxAMUkOYhcZONBcismDOutR82t_Dwybp18ZjLmByxwJlxF0_WDNVzo3esrLtub-zq2vMaZnLggS7y7Uuo_M5UA9VCrxtoYaXw5Fo9rIRj6CBngmLXJSl2SAdAtDYb564jhxdnMM7qdYwA&amp;csui=3" TargetMode="External"/><Relationship Id="rId4" Type="http://schemas.openxmlformats.org/officeDocument/2006/relationships/hyperlink" Target="https://www.google.com/search?cs=0&amp;sca_esv=a6493d853efe4d30&amp;q=Mimamsa&amp;sa=X&amp;ved=2ahUKEwiLosS-x-SPAxXVT2wGHcX-MUkQxccNegQIBBAD&amp;mstk=AUtExfCXNGFNg_FikiP7C2FoD8XsIXsI7q9rSUoxAMUkOYhcZONBcismDOutR82t_Dwybp18ZjLmByxwJlxF0_WDNVzo3esrLtub-zq2vMaZnLggS7y7Uuo_M5UA9VCrxtoYaXw5Fo9rIRj6CBngmLXJSl2SAdAtDYb564jhxdnMM7qdYwA&amp;csui=3"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google.com/search?sca_esv=f04038ad81816743&amp;cs=0&amp;q=pramanas&amp;sa=X&amp;ved=2ahUKEwiAjYqHiOePAxXrWXADHebFBowQxccNegQIBBAB&amp;mstk=AUtExfB38QclJm4QXezxKwFMJkzfUuaujqxqkbkdIWR25choBjsuWkdLmeZxj624e2hzSX1z9VJazrhBXS4TzIwflNncTbzPN4iUOOlqN6uukEQgEkpA4UddtBKeN0FXB036ejeVrn-yVScK3Jqe6DAxzstlrgb5EdJaZI8vVkb9EFXBEwrmVppyJqDhM6PO9v9OTrHF&amp;csui=3" TargetMode="External"/><Relationship Id="rId2" Type="http://schemas.openxmlformats.org/officeDocument/2006/relationships/hyperlink" Target="https://www.google.com/search?sca_esv=f04038ad81816743&amp;cs=0&amp;q=Jaina+knowledge+system&amp;sa=X&amp;ved=2ahUKEwiAjYqHiOePAxXrWXADHebFBowQxccNegQIAhAB&amp;mstk=AUtExfB38QclJm4QXezxKwFMJkzfUuaujqxqkbkdIWR25choBjsuWkdLmeZxj624e2hzSX1z9VJazrhBXS4TzIwflNncTbzPN4iUOOlqN6uukEQgEkpA4UddtBKeN0FXB036ejeVrn-yVScK3Jqe6DAxzstlrgb5EdJaZI8vVkb9EFXBEwrmVppyJqDhM6PO9v9OTrHF&amp;csui=3" TargetMode="External"/><Relationship Id="rId1" Type="http://schemas.openxmlformats.org/officeDocument/2006/relationships/slideLayout" Target="../slideLayouts/slideLayout2.xml"/><Relationship Id="rId6" Type="http://schemas.openxmlformats.org/officeDocument/2006/relationships/hyperlink" Target="https://www.google.com/search?sca_esv=f04038ad81816743&amp;cs=0&amp;q=nonviolence+%28ahimsa%29&amp;sa=X&amp;ved=2ahUKEwiAjYqHiOePAxXrWXADHebFBowQxccNegQIBRAB&amp;mstk=AUtExfB38QclJm4QXezxKwFMJkzfUuaujqxqkbkdIWR25choBjsuWkdLmeZxj624e2hzSX1z9VJazrhBXS4TzIwflNncTbzPN4iUOOlqN6uukEQgEkpA4UddtBKeN0FXB036ejeVrn-yVScK3Jqe6DAxzstlrgb5EdJaZI8vVkb9EFXBEwrmVppyJqDhM6PO9v9OTrHF&amp;csui=3" TargetMode="External"/><Relationship Id="rId5" Type="http://schemas.openxmlformats.org/officeDocument/2006/relationships/hyperlink" Target="https://www.google.com/search?sca_esv=f04038ad81816743&amp;cs=0&amp;q=immediate&amp;sa=X&amp;ved=2ahUKEwiAjYqHiOePAxXrWXADHebFBowQxccNegQIBBAD&amp;mstk=AUtExfB38QclJm4QXezxKwFMJkzfUuaujqxqkbkdIWR25choBjsuWkdLmeZxj624e2hzSX1z9VJazrhBXS4TzIwflNncTbzPN4iUOOlqN6uukEQgEkpA4UddtBKeN0FXB036ejeVrn-yVScK3Jqe6DAxzstlrgb5EdJaZI8vVkb9EFXBEwrmVppyJqDhM6PO9v9OTrHF&amp;csui=3" TargetMode="External"/><Relationship Id="rId4" Type="http://schemas.openxmlformats.org/officeDocument/2006/relationships/hyperlink" Target="https://www.google.com/search?sca_esv=f04038ad81816743&amp;cs=0&amp;q=mediate&amp;sa=X&amp;ved=2ahUKEwiAjYqHiOePAxXrWXADHebFBowQxccNegQIBBAC&amp;mstk=AUtExfB38QclJm4QXezxKwFMJkzfUuaujqxqkbkdIWR25choBjsuWkdLmeZxj624e2hzSX1z9VJazrhBXS4TzIwflNncTbzPN4iUOOlqN6uukEQgEkpA4UddtBKeN0FXB036ejeVrn-yVScK3Jqe6DAxzstlrgb5EdJaZI8vVkb9EFXBEwrmVppyJqDhM6PO9v9OTrHF&amp;csui=3"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google.com/search?sca_esv=f04038ad81816743&amp;cs=0&amp;q=Upanishads&amp;sa=X&amp;ved=2ahUKEwjh85fAh-ePAxVh9zgGHW1oLqIQxccNegQIAxAD&amp;mstk=AUtExfAA9EiD1tvtr2CH3XiAlwCGEfE_b1ARZkhXUXpC6NbZvfPAAqtW9tshfe9j7nQB8oJID8Gqt5P6wwQBwH_v79KsjW0HrgGE346O8Q6Uq_2A02psvUdUL1TMgDPwZghkN8gimXRT6-f3NRrBdlwWFwqn21vXLJwDslMQ-nFTE7KKeHgM98_q5Y7gyF6BC4RM3Ykh&amp;csui=3" TargetMode="External"/><Relationship Id="rId2" Type="http://schemas.openxmlformats.org/officeDocument/2006/relationships/hyperlink" Target="https://www.google.com/search?sca_esv=f04038ad81816743&amp;cs=0&amp;q=Vedas&amp;sa=X&amp;ved=2ahUKEwjh85fAh-ePAxVh9zgGHW1oLqIQxccNegQIAxAC&amp;mstk=AUtExfAA9EiD1tvtr2CH3XiAlwCGEfE_b1ARZkhXUXpC6NbZvfPAAqtW9tshfe9j7nQB8oJID8Gqt5P6wwQBwH_v79KsjW0HrgGE346O8Q6Uq_2A02psvUdUL1TMgDPwZghkN8gimXRT6-f3NRrBdlwWFwqn21vXLJwDslMQ-nFTE7KKeHgM98_q5Y7gyF6BC4RM3Ykh&amp;csui=3"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google.com/search?sca_esv=0cc3b5bc5eb43f9c&amp;cs=0&amp;q=compounding&amp;sa=X&amp;ved=2ahUKEwicydio4LmPAxWjzjgGHW29ABQQxccNegQIAxAC&amp;mstk=AUtExfBWWMuZ95IX44ylJgU8CWetnQ0NsK36-xXtekYKb3hbfKq0o5HzPLgXsEeK78MFrf_uItviE_Ckd-OD1X3DsrJfLZq-8mMjSgmNbGKYIb59CJiailir7iSnc4lwDJC73jTqM1Vu5_149cc6qeFHIHKDjxE0YT5cQVSi4m8LYP0Pn0Y&amp;csui=3" TargetMode="External"/><Relationship Id="rId2" Type="http://schemas.openxmlformats.org/officeDocument/2006/relationships/hyperlink" Target="https://www.google.com/search?sca_esv=0cc3b5bc5eb43f9c&amp;cs=0&amp;q=derivation&amp;sa=X&amp;ved=2ahUKEwicydio4LmPAxWjzjgGHW29ABQQxccNegQIAxAB&amp;mstk=AUtExfBWWMuZ95IX44ylJgU8CWetnQ0NsK36-xXtekYKb3hbfKq0o5HzPLgXsEeK78MFrf_uItviE_Ckd-OD1X3DsrJfLZq-8mMjSgmNbGKYIb59CJiailir7iSnc4lwDJC73jTqM1Vu5_149cc6qeFHIHKDjxE0YT5cQVSi4m8LYP0Pn0Y&amp;csui=3"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google.com/search?sca_esv=0cc3b5bc5eb43f9c&amp;cs=0&amp;q=compositional+semantics&amp;sa=X&amp;ved=2ahUKEwiBp-7D4bmPAxUVxjgGHXw6DNEQxccNegQIBBAB&amp;mstk=AUtExfARF-Iaw94x6ewGkdHDKNJMGpsSCdQmUu_gQNBn2iQqMSsro-vQtP3QsFhmo-4PU23VHS5-1MganBZozr2aMSZrop2eqhaSLOBNWbRFTubvccdf3rHgXY06K9Snr6pfR7NYz0qZpyPWUl1VTZfO3NXqxgjhabr1o74Exy0doHzAbddUZWhztq3KxA-BvagjxEAo&amp;csui=3"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google.com/search?sca_esv=7fc613d9cd9ef286&amp;cs=0&amp;q=data+mining&amp;sa=X&amp;ved=2ahUKEwimq83wsrqPAxWgi2MGHfRiBXEQxccNegQIAxAD&amp;mstk=AUtExfDc9Iumyoh8AspgfpfbtZ7V2qFSYnA6cqs93dMmhi88jIL139pISfDMvJSsconKgkFnDEBDitff6Jmdr-IZ09aqx40URuJeqZRRaMQQwlTwXTdeOzOdFPrk5En21uEed2I&amp;csui=3" TargetMode="External"/><Relationship Id="rId2" Type="http://schemas.openxmlformats.org/officeDocument/2006/relationships/hyperlink" Target="https://www.google.com/search?sca_esv=7fc613d9cd9ef286&amp;cs=0&amp;q=artificial+intelligence&amp;sa=X&amp;ved=2ahUKEwimq83wsrqPAxWgi2MGHfRiBXEQxccNegQIAxAC&amp;mstk=AUtExfDc9Iumyoh8AspgfpfbtZ7V2qFSYnA6cqs93dMmhi88jIL139pISfDMvJSsconKgkFnDEBDitff6Jmdr-IZ09aqx40URuJeqZRRaMQQwlTwXTdeOzOdFPrk5En21uEed2I&amp;csui=3"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google.com/search?cs=0&amp;sca_esv=dee9b9933ec66180&amp;q=generative+grammar&amp;sa=X&amp;ved=2ahUKEwi4s-Df2r6PAxUEyDgGHZxPANcQxccNegQIBBAB&amp;mstk=AUtExfDw0YObR-4f4FmSaPKWgR9NoWhMvjIbOY-15ov2sXfbNpUet685Asg70ABNtvy6qgam5_1AjeO6SoOMwvN5gea9fUx0Pn25pjhPRPMMmguyAK4rcrNy7ExbQOwdvQVcPl3f5xp9_HiYhvsb7qgZO7RyBGqddZWKgJ8O3PmF5fwhugk&amp;csui=3"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google.com/search?sca_esv=dee9b9933ec66180&amp;q=Swiss+linguist+Ferdinand+de+Saussure&amp;sa=X&amp;ved=2ahUKEwiRy4Lp4L6PAxWmwzgGHeLiAGoQxccNegQIGxAC&amp;mstk=AUtExfBSVNPEWxN7khPsduj5x3G_wfDQ8uBvBzUi9iVlWmLnLvDtDGUIQW3AMOeRWgv0a57eBftGU-krF3I0a-X7RqmNBI2Zz9nezhL-G7dhXFlBJYH7SXSTeRK3aQy-BEi4R6l5q_tezoF1QxPSNVzk-9RDsyARmCrgyKOt-RO98oJtKk8vukd8j18hmTyr7RuOhqPV&amp;csui=3"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967105"/>
          </a:xfrm>
        </p:spPr>
        <p:txBody>
          <a:bodyPr>
            <a:normAutofit fontScale="90000"/>
          </a:bodyPr>
          <a:lstStyle/>
          <a:p>
            <a:pPr algn="ctr"/>
            <a:r>
              <a:rPr lang="en-US" altLang="en-US"/>
              <a:t>Indian Philosophical System</a:t>
            </a:r>
            <a:br>
              <a:rPr lang="en-US" altLang="en-US"/>
            </a:br>
            <a:r>
              <a:rPr lang="en-US" altLang="en-US"/>
              <a:t>Introduction to Vedas</a:t>
            </a:r>
          </a:p>
        </p:txBody>
      </p:sp>
      <p:sp>
        <p:nvSpPr>
          <p:cNvPr id="3" name="Content Placeholder 2"/>
          <p:cNvSpPr>
            <a:spLocks noGrp="1"/>
          </p:cNvSpPr>
          <p:nvPr>
            <p:ph idx="1"/>
          </p:nvPr>
        </p:nvSpPr>
        <p:spPr>
          <a:xfrm>
            <a:off x="0" y="1106805"/>
            <a:ext cx="12191365" cy="5751830"/>
          </a:xfrm>
        </p:spPr>
        <p:txBody>
          <a:bodyPr>
            <a:noAutofit/>
          </a:bodyPr>
          <a:lstStyle/>
          <a:p>
            <a:pPr algn="just"/>
            <a:r>
              <a:rPr lang="en-US" altLang="en-US" sz="2400">
                <a:latin typeface="Times New Roman" panose="02020603050405020304" charset="0"/>
                <a:cs typeface="Times New Roman" panose="02020603050405020304" charset="0"/>
              </a:rPr>
              <a:t>The Vedas are ancient texts from India that hold great importance in the country's cultural and spiritual heritage. They are a collection of extremely old scriptures that were composed in Sanskrit, the ancient language of India.</a:t>
            </a:r>
          </a:p>
          <a:p>
            <a:pPr algn="just"/>
            <a:r>
              <a:rPr lang="en-US" altLang="en-US" sz="2400">
                <a:latin typeface="Times New Roman" panose="02020603050405020304" charset="0"/>
                <a:cs typeface="Times New Roman" panose="02020603050405020304" charset="0"/>
              </a:rPr>
              <a:t>Here's a simple introduction to the VedasThe Vedas are a set of very old books that contain hymns, prayers, rituals, and guidance. They are considered the oldest sacred texts in the world and are the foundation of Hindu philosophy and spiritual knowledge.</a:t>
            </a:r>
          </a:p>
          <a:p>
            <a:pPr algn="just"/>
            <a:r>
              <a:rPr lang="en-US" altLang="en-US" sz="2400">
                <a:latin typeface="Times New Roman" panose="02020603050405020304" charset="0"/>
                <a:cs typeface="Times New Roman" panose="02020603050405020304" charset="0"/>
              </a:rPr>
              <a:t>There are four Vedas: Rigveda, Samaveda, Yajurveda, and Atharvaveda. Each Veda is divided into different parts. The hymns and verses in these texts are dedicated to various gods and cover a wide range of topics, including rituals, ceremonies, prayers for peace, prosperity, and the understanding of the universe.These texts were originally passed down orally from generation to generation before being written down. They were highly revered and studied by ancient scholars and continue to be studied and respected by many even today.</a:t>
            </a:r>
          </a:p>
          <a:p>
            <a:pPr algn="just"/>
            <a:r>
              <a:rPr lang="en-US" altLang="en-US" sz="2400">
                <a:latin typeface="Times New Roman" panose="02020603050405020304" charset="0"/>
                <a:cs typeface="Times New Roman" panose="02020603050405020304" charset="0"/>
              </a:rPr>
              <a:t>The Vedas provide insights into ancient Indian culture, spiritual beliefs, and the practices followed by the people thousands of years ago. They have a profound impact not only on Hinduism but also on Indian society as a whole.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 y="-635"/>
            <a:ext cx="12191365" cy="6858000"/>
          </a:xfrm>
        </p:spPr>
        <p:txBody>
          <a:bodyPr>
            <a:normAutofit/>
          </a:bodyPr>
          <a:lstStyle/>
          <a:p>
            <a:r>
              <a:rPr lang="en-US" altLang="en-US">
                <a:latin typeface="Times New Roman" panose="02020603050405020304" charset="0"/>
                <a:cs typeface="Times New Roman" panose="02020603050405020304" charset="0"/>
              </a:rPr>
              <a:t>"</a:t>
            </a:r>
            <a:r>
              <a:rPr lang="en-US" altLang="en-US" b="1">
                <a:latin typeface="Times New Roman" panose="02020603050405020304" charset="0"/>
                <a:cs typeface="Times New Roman" panose="02020603050405020304" charset="0"/>
              </a:rPr>
              <a:t>Vadang</a:t>
            </a:r>
            <a:r>
              <a:rPr lang="en-US" altLang="en-US">
                <a:latin typeface="Times New Roman" panose="02020603050405020304" charset="0"/>
                <a:cs typeface="Times New Roman" panose="02020603050405020304" charset="0"/>
              </a:rPr>
              <a:t>" in simple terms, refers to different branches or fields of knowledge in ancient texts or scriptures, particularly in the context of Indian traditions or philosophical writings. It encompasses various disciplines or subjects that are studied or discussed within these texts, often covering subjects like science, philosophy, ethics, rituals, music, or other areas of learning. Essentially, it refers to the different categories or domains of knowledge or learning within a specific context, particularly in ancient texts or philosophical discussions</a:t>
            </a:r>
          </a:p>
          <a:p>
            <a:pPr marL="0" indent="0">
              <a:buNone/>
            </a:pP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a:t>
            </a:r>
            <a:r>
              <a:rPr lang="en-US" altLang="en-US" b="1">
                <a:latin typeface="Times New Roman" panose="02020603050405020304" charset="0"/>
                <a:cs typeface="Times New Roman" panose="02020603050405020304" charset="0"/>
              </a:rPr>
              <a:t>Darsanas</a:t>
            </a:r>
            <a:r>
              <a:rPr lang="en-US" altLang="en-US">
                <a:latin typeface="Times New Roman" panose="02020603050405020304" charset="0"/>
                <a:cs typeface="Times New Roman" panose="02020603050405020304" charset="0"/>
              </a:rPr>
              <a:t>" are different schools of thought or philosophies from a</a:t>
            </a:r>
          </a:p>
          <a:p>
            <a:pPr marL="0" indent="0">
              <a:buNone/>
            </a:pPr>
            <a:r>
              <a:rPr lang="en-US" altLang="en-US">
                <a:latin typeface="Times New Roman" panose="02020603050405020304" charset="0"/>
                <a:cs typeface="Times New Roman" panose="02020603050405020304" charset="0"/>
              </a:rPr>
              <a:t>ncient Indian teachings. These philosophies offer various ways of understanding life, reality, and the universe. They explore different viewpoints on topics such as logic, the nature of existence, spirituality, and the study of ancient texts. Each darsana presents its own unique perspective on how to comprehend and navigate the complexities of the world and human existence.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 y="635"/>
            <a:ext cx="12192635" cy="6857365"/>
          </a:xfrm>
        </p:spPr>
        <p:txBody>
          <a:bodyPr>
            <a:normAutofit/>
          </a:bodyPr>
          <a:lstStyle/>
          <a:p>
            <a:r>
              <a:rPr lang="en-US" altLang="en-US" b="1"/>
              <a:t>Puranas</a:t>
            </a:r>
            <a:r>
              <a:rPr lang="en-US" altLang="en-US"/>
              <a:t>: Puranas are ancient texts in Hinduism that consist of stories, myths, legends, and historical narratives. They often narrate the genealogies of gods, demigods, and heroes, along with cosmology, cosmogony, rituals, and moral teachings. Puranas cover a wide range of topics, including religious ceremonies, legends of gods and goddesses, and the history of ancient dynasties. They serve to impart moral and spiritual lessons through storytelling and are an essential part of Hindu religious literature.</a:t>
            </a:r>
          </a:p>
          <a:p>
            <a:r>
              <a:rPr lang="en-US" altLang="en-US" b="1"/>
              <a:t>Itihasas</a:t>
            </a:r>
            <a:r>
              <a:rPr lang="en-US" altLang="en-US"/>
              <a:t>: The Itihasas refer to epic narratives in Hinduism, specifically the two most significant ones— the Ramayana and the Mahabharata. These epics narrate the tales of heroic figures, their triumphs, challenges, and moral dilemmas. The Ramayana tells the story of Lord Rama, his wife Sita, and his battle against the demon king Ravana. The Mahabharata focuses on the conflict between the Pandavas and Kauravas and includes the Bhagavad Gita. Both epics contain profound moral, ethical, and philosophical teachings and are considered guiding sources of wisdom and righteousness in Hinduism.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35"/>
            <a:ext cx="12191365" cy="6858000"/>
          </a:xfrm>
        </p:spPr>
        <p:txBody>
          <a:bodyPr/>
          <a:lstStyle/>
          <a:p>
            <a:r>
              <a:rPr lang="en-US" altLang="en-US" b="1"/>
              <a:t>Dharma Shastras: </a:t>
            </a:r>
            <a:r>
              <a:rPr lang="en-US" altLang="en-US"/>
              <a:t>Dharma Shastras are ancient texts that provide guidelines and rules for leading a righteous life. They cover moral and ethical codes of conduct, religious duties, social laws, and principles for individuals and society. These texts, written by sages and scholars, address various aspects of life, such as family, marriage, inheritance, governance, and personal conduct.</a:t>
            </a:r>
          </a:p>
          <a:p>
            <a:r>
              <a:rPr lang="en-US" altLang="en-US" b="1"/>
              <a:t>Smritis</a:t>
            </a:r>
            <a:r>
              <a:rPr lang="en-US" altLang="en-US"/>
              <a:t>: Smritis are a category of texts that provide a collection of remembered or remembered knowledge. They cover legal, ethical, and social guidelines for living a virtuous life and are derived from remembered traditions, customs, and codes. Smritis often include practical guidance for individuals' conduct in society, legal matters, and social order, and they complement and expand upon the principles outlined in the Dharma Shastras.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805" y="0"/>
            <a:ext cx="10515600" cy="783590"/>
          </a:xfrm>
        </p:spPr>
        <p:txBody>
          <a:bodyPr/>
          <a:lstStyle/>
          <a:p>
            <a:pPr algn="ctr"/>
            <a:r>
              <a:rPr lang="en-US" altLang="en-US"/>
              <a:t>The Four Vedas</a:t>
            </a:r>
          </a:p>
        </p:txBody>
      </p:sp>
      <p:sp>
        <p:nvSpPr>
          <p:cNvPr id="3" name="Content Placeholder 2"/>
          <p:cNvSpPr>
            <a:spLocks noGrp="1"/>
          </p:cNvSpPr>
          <p:nvPr>
            <p:ph idx="1"/>
          </p:nvPr>
        </p:nvSpPr>
        <p:spPr>
          <a:xfrm>
            <a:off x="0" y="783590"/>
            <a:ext cx="12192635" cy="6074410"/>
          </a:xfrm>
        </p:spPr>
        <p:txBody>
          <a:bodyPr>
            <a:normAutofit/>
          </a:bodyPr>
          <a:lstStyle/>
          <a:p>
            <a:r>
              <a:rPr lang="en-US" altLang="en-US"/>
              <a:t>The Vedas are ancient texts highly revered in Hinduism and considered the oldest scriptures in the world. They consist of a vast collection of hymns, prayers, rituals, and philosophical teachings. Here's a simple explanation:</a:t>
            </a:r>
          </a:p>
          <a:p>
            <a:r>
              <a:rPr lang="en-US" altLang="en-US" sz="3200" b="1"/>
              <a:t>Rigveda</a:t>
            </a:r>
            <a:r>
              <a:rPr lang="en-US" altLang="en-US"/>
              <a:t>: The oldest Veda, containing hymns dedicated to various gods and natural forces. It </a:t>
            </a:r>
          </a:p>
          <a:p>
            <a:r>
              <a:rPr lang="en-US" altLang="en-US"/>
              <a:t>talks about rituals, prayers, and philosophical questions.</a:t>
            </a:r>
          </a:p>
          <a:p>
            <a:r>
              <a:rPr lang="en-US" altLang="en-US" sz="3200" b="1"/>
              <a:t>Samaveda</a:t>
            </a:r>
            <a:r>
              <a:rPr lang="en-US" altLang="en-US"/>
              <a:t>: Consists of melodies and musical notations derived from the Rigveda. It's used </a:t>
            </a:r>
          </a:p>
          <a:p>
            <a:r>
              <a:rPr lang="en-US" altLang="en-US"/>
              <a:t>during rituals and ceremonies, focusing on the musical aspects of hymns.</a:t>
            </a:r>
          </a:p>
          <a:p>
            <a:r>
              <a:rPr lang="en-US" altLang="en-US" sz="3200" b="1"/>
              <a:t>Yajurveda</a:t>
            </a:r>
            <a:r>
              <a:rPr lang="en-US" altLang="en-US"/>
              <a:t>: Offers guidelines for performing rituals and ceremonies. It includes instructions on sacrificial rites and prayers.</a:t>
            </a:r>
          </a:p>
          <a:p>
            <a:r>
              <a:rPr lang="en-US" altLang="en-US" sz="3200" b="1"/>
              <a:t>Atharvaveda</a:t>
            </a:r>
            <a:r>
              <a:rPr lang="en-US" altLang="en-US"/>
              <a:t>: Includes spells, incantations, and prayers for healing, protection, and addressing everyday life issues. It's a collection of hymns for domestic rituals.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9335" y="-635"/>
            <a:ext cx="10515600" cy="782955"/>
          </a:xfrm>
        </p:spPr>
        <p:txBody>
          <a:bodyPr/>
          <a:lstStyle/>
          <a:p>
            <a:pPr algn="ctr"/>
            <a:r>
              <a:rPr lang="en-US" altLang="en-US"/>
              <a:t>The Four divisions of each Veda</a:t>
            </a:r>
          </a:p>
        </p:txBody>
      </p:sp>
      <p:sp>
        <p:nvSpPr>
          <p:cNvPr id="3" name="Content Placeholder 2"/>
          <p:cNvSpPr>
            <a:spLocks noGrp="1"/>
          </p:cNvSpPr>
          <p:nvPr>
            <p:ph idx="1"/>
          </p:nvPr>
        </p:nvSpPr>
        <p:spPr>
          <a:xfrm>
            <a:off x="635" y="630555"/>
            <a:ext cx="12191365" cy="6226810"/>
          </a:xfrm>
        </p:spPr>
        <p:txBody>
          <a:bodyPr>
            <a:normAutofit fontScale="97500" lnSpcReduction="10000"/>
          </a:bodyPr>
          <a:lstStyle/>
          <a:p>
            <a:r>
              <a:rPr lang="en-US" altLang="en-US" b="1"/>
              <a:t>The Samhitas:</a:t>
            </a:r>
            <a:r>
              <a:rPr lang="en-US" altLang="en-US"/>
              <a:t> This text consists of a collection of mantras, hymns and prayers. They constitute the core part of the Vedas. The Brahmanas consist of the commentaries and interpretations of themantras (Samhita). It is referred to as the Karma Kanda part of the Vedas. </a:t>
            </a:r>
          </a:p>
          <a:p>
            <a:r>
              <a:rPr lang="en-US" altLang="en-US" b="1"/>
              <a:t>The Aranyakas :</a:t>
            </a:r>
            <a:r>
              <a:rPr lang="en-US" altLang="en-US"/>
              <a:t> The Aranyakas are a part of the ancient Indian Vedas concerned with the meaning of ritual sacrifice. They typically represent the later sections of the Vedas, and are one of many layers of Vedic texts.</a:t>
            </a:r>
          </a:p>
          <a:p>
            <a:r>
              <a:rPr lang="en-US" altLang="en-US" b="1"/>
              <a:t>The Brahmanas :</a:t>
            </a:r>
            <a:r>
              <a:rPr lang="en-US" altLang="en-US"/>
              <a:t> It comes from the word Brahman which means both the Veda and the Mantra –“Brahma Vai Mantrah.” Thus the word Brahmana means 'that which relates to Brahman or the Veda'. It is derived from the root brih 'to grow', 'to expand'. In other words, the name 'Brahmana' means the explanation of a ritual by a learned priest</a:t>
            </a:r>
          </a:p>
          <a:p>
            <a:r>
              <a:rPr lang="en-US" altLang="en-US"/>
              <a:t>.</a:t>
            </a:r>
            <a:r>
              <a:rPr lang="en-US" altLang="en-US" b="1"/>
              <a:t>The Upanishads:</a:t>
            </a:r>
            <a:r>
              <a:rPr lang="en-US" altLang="en-US"/>
              <a:t> The Upanishads are part of a large collection of sacred books of Hindu people, called the Vedas. They are placed at the end of the Vedas and they primarily deal with knowledge or wisdom. Because they deal with knowledge portion of the Vedas, they are called Jnana-Kanda (Jnana means knowledge).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35" y="-85090"/>
            <a:ext cx="12192635" cy="69430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0" y="0"/>
            <a:ext cx="10515600" cy="818515"/>
          </a:xfrm>
        </p:spPr>
        <p:txBody>
          <a:bodyPr/>
          <a:lstStyle/>
          <a:p>
            <a:pPr algn="ctr"/>
            <a:r>
              <a:rPr lang="en-US" altLang="en-US">
                <a:sym typeface="+mn-ea"/>
              </a:rPr>
              <a:t>Vedic Life: Distinctive Features</a:t>
            </a:r>
            <a:endParaRPr lang="en-US"/>
          </a:p>
        </p:txBody>
      </p:sp>
      <p:sp>
        <p:nvSpPr>
          <p:cNvPr id="3" name="Content Placeholder 2"/>
          <p:cNvSpPr>
            <a:spLocks noGrp="1"/>
          </p:cNvSpPr>
          <p:nvPr>
            <p:ph idx="1"/>
          </p:nvPr>
        </p:nvSpPr>
        <p:spPr>
          <a:xfrm>
            <a:off x="0" y="721360"/>
            <a:ext cx="12090400" cy="6136640"/>
          </a:xfrm>
        </p:spPr>
        <p:txBody>
          <a:bodyPr>
            <a:normAutofit fontScale="85000" lnSpcReduction="20000"/>
          </a:bodyPr>
          <a:lstStyle/>
          <a:p>
            <a:r>
              <a:rPr lang="en-US" altLang="en-US"/>
              <a:t>Vedic life refers to the way of living, beliefs, practices, and traditions based on the principles outlined in the Vedas, the ancient sacred texts of India. It embodies the cultural, social, religious, and philosophical aspects of life as prescribed in these texts.</a:t>
            </a:r>
          </a:p>
          <a:p>
            <a:endParaRPr lang="en-US" altLang="en-US"/>
          </a:p>
          <a:p>
            <a:r>
              <a:rPr lang="en-US" altLang="en-US" b="1"/>
              <a:t>Dharma (Duty and Righteousness): </a:t>
            </a:r>
            <a:r>
              <a:rPr lang="en-US" altLang="en-US"/>
              <a:t>Giving importance to fulfilling one's responsibilities and duties towards family, society, and oneself. Living in a way that upholds moral and ethical values.</a:t>
            </a:r>
          </a:p>
          <a:p>
            <a:endParaRPr lang="en-US" altLang="en-US"/>
          </a:p>
          <a:p>
            <a:r>
              <a:rPr lang="en-US" altLang="en-US" b="1"/>
              <a:t>Artha (Wealth and Prosperity):</a:t>
            </a:r>
            <a:r>
              <a:rPr lang="en-US" altLang="en-US"/>
              <a:t> Understanding the significance of earning wealth and resources through rightful means to support oneself, family, and contribute to the welfare of society.</a:t>
            </a:r>
          </a:p>
          <a:p>
            <a:endParaRPr lang="en-US" altLang="en-US"/>
          </a:p>
          <a:p>
            <a:r>
              <a:rPr lang="en-US" altLang="en-US" b="1"/>
              <a:t>Kama (Desires and Enjoyment): </a:t>
            </a:r>
            <a:r>
              <a:rPr lang="en-US" altLang="en-US"/>
              <a:t>Acknowledging the importance of desires and pleasures in life while ensuring they are pursued within ethical boundaries and do not overshadow one's duties and spiritual growth.</a:t>
            </a:r>
          </a:p>
          <a:p>
            <a:pPr marL="0" indent="0">
              <a:buNone/>
            </a:pPr>
            <a:endParaRPr lang="en-US" altLang="en-US"/>
          </a:p>
          <a:p>
            <a:r>
              <a:rPr lang="en-US" altLang="en-US" b="1"/>
              <a:t>Respect for Nature:</a:t>
            </a:r>
            <a:r>
              <a:rPr lang="en-US" altLang="en-US"/>
              <a:t> Vedic principles stress the importance of treating nature with reverence and understanding that humans are interconnected with the environment. It advocates for conserving natural resources and living in harmony with the ecosystem.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 y="635"/>
            <a:ext cx="12191365" cy="6857365"/>
          </a:xfrm>
        </p:spPr>
        <p:txBody>
          <a:bodyPr>
            <a:normAutofit/>
          </a:bodyPr>
          <a:lstStyle/>
          <a:p>
            <a:r>
              <a:rPr lang="en-US" altLang="en-US" b="1"/>
              <a:t>Yajna (Sacred Offerings):</a:t>
            </a:r>
            <a:r>
              <a:rPr lang="en-US" altLang="en-US"/>
              <a:t> The practice of Yajna involves offering oblations into a sacred fire, symbolizing a sustainable cycle of giving back to nature. This ritual represents the balance between taking from the earth and giving back to maintain ecological harmony.</a:t>
            </a:r>
          </a:p>
          <a:p>
            <a:r>
              <a:rPr lang="en-US" altLang="en-US" b="1"/>
              <a:t>Ahinsa (Non-Violence):</a:t>
            </a:r>
            <a:r>
              <a:rPr lang="en-US" altLang="en-US"/>
              <a:t> Vedic teachings promote non-violence and compassion towards all living beings. This philosophy extends to sustainable living by advocating for responsible consumption and minimizing harm to the environment and other creatu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altLang="en-US"/>
              <a:t>Indian Philosophical System</a:t>
            </a:r>
          </a:p>
        </p:txBody>
      </p:sp>
      <p:sp>
        <p:nvSpPr>
          <p:cNvPr id="3" name="Content Placeholder 2"/>
          <p:cNvSpPr>
            <a:spLocks noGrp="1"/>
          </p:cNvSpPr>
          <p:nvPr>
            <p:ph idx="1"/>
          </p:nvPr>
        </p:nvSpPr>
        <p:spPr>
          <a:xfrm>
            <a:off x="0" y="946785"/>
            <a:ext cx="12192635" cy="5911215"/>
          </a:xfrm>
        </p:spPr>
        <p:txBody>
          <a:bodyPr/>
          <a:lstStyle/>
          <a:p>
            <a:r>
              <a:rPr lang="en-US" altLang="en-US"/>
              <a:t>Philosophy arose in India as an enquiry into the mystery of life and existence.</a:t>
            </a:r>
          </a:p>
          <a:p>
            <a:r>
              <a:rPr lang="en-US" altLang="en-US"/>
              <a:t>Indian Philosophy refers to several traditions of philosophical thought that originated in the Indian subcontinent.</a:t>
            </a:r>
          </a:p>
          <a:p>
            <a:r>
              <a:rPr lang="en-US" altLang="en-US"/>
              <a:t>Over centuries, India’s intellectual exploration of truth has come to be represented by six systems of philosophy. These are known as Vaishesika, Nyaya, Samkhya, Yoga, Purva Mimansa and Vedanta or Uttara Mimansa.</a:t>
            </a:r>
          </a:p>
          <a:p>
            <a:r>
              <a:rPr lang="en-US" altLang="en-US"/>
              <a:t>These six systems of philosophy are said to have been founded by sages Konada, Gotama, Kapila, Patanjali, Jaimini and Vyasa, respectively. These philosophies still guide scholarly discourse in the country.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ndian-Philosophy-Chart-Surpi-et-al-2020"/>
          <p:cNvPicPr>
            <a:picLocks noGrp="1" noChangeAspect="1"/>
          </p:cNvPicPr>
          <p:nvPr>
            <p:ph idx="1"/>
          </p:nvPr>
        </p:nvPicPr>
        <p:blipFill>
          <a:blip r:embed="rId2"/>
          <a:stretch>
            <a:fillRect/>
          </a:stretch>
        </p:blipFill>
        <p:spPr>
          <a:xfrm>
            <a:off x="0" y="0"/>
            <a:ext cx="12192635" cy="66967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err="1" smtClean="0"/>
              <a:t>Astik</a:t>
            </a:r>
            <a:r>
              <a:rPr lang="en-US" b="1" dirty="0" smtClean="0"/>
              <a:t>:- </a:t>
            </a:r>
            <a:r>
              <a:rPr lang="en-US" dirty="0" smtClean="0"/>
              <a:t>In the Indian knowledge system, </a:t>
            </a:r>
            <a:r>
              <a:rPr lang="en-US" dirty="0" err="1" smtClean="0"/>
              <a:t>Astik</a:t>
            </a:r>
            <a:r>
              <a:rPr lang="en-US" dirty="0" smtClean="0"/>
              <a:t> schools are the orthodox philosophical traditions that accept the authority of the Vedas as the supreme source of knowledge. The Vedas are considered ancient, sacred scriptures that form the basis of classical Hinduism and contain hymns, ritual instructions, and philosophical insights, influencing various </a:t>
            </a:r>
            <a:r>
              <a:rPr lang="en-US" dirty="0" err="1" smtClean="0"/>
              <a:t>Astik</a:t>
            </a:r>
            <a:r>
              <a:rPr lang="en-US" dirty="0" smtClean="0"/>
              <a:t> systems like </a:t>
            </a:r>
            <a:r>
              <a:rPr lang="en-US" dirty="0" err="1" smtClean="0">
                <a:hlinkClick r:id="rId2"/>
              </a:rPr>
              <a:t>Nyaya</a:t>
            </a:r>
            <a:r>
              <a:rPr lang="en-US" dirty="0" smtClean="0"/>
              <a:t>, </a:t>
            </a:r>
            <a:r>
              <a:rPr lang="en-US" dirty="0" smtClean="0">
                <a:hlinkClick r:id="rId3"/>
              </a:rPr>
              <a:t>Yoga</a:t>
            </a:r>
            <a:r>
              <a:rPr lang="en-US" dirty="0" smtClean="0"/>
              <a:t>, </a:t>
            </a:r>
            <a:r>
              <a:rPr lang="en-US" dirty="0" err="1" smtClean="0">
                <a:hlinkClick r:id="rId4"/>
              </a:rPr>
              <a:t>Mimamsa</a:t>
            </a:r>
            <a:r>
              <a:rPr lang="en-US" dirty="0" smtClean="0"/>
              <a:t>, and </a:t>
            </a:r>
            <a:r>
              <a:rPr lang="en-US" dirty="0" smtClean="0">
                <a:hlinkClick r:id="rId5"/>
              </a:rPr>
              <a:t>Vedanta</a:t>
            </a:r>
            <a:r>
              <a:rPr lang="en-US" dirty="0" smtClean="0"/>
              <a:t>. </a:t>
            </a:r>
          </a:p>
          <a:p>
            <a:r>
              <a:rPr lang="en-US" b="1" dirty="0" err="1" smtClean="0"/>
              <a:t>Nastik</a:t>
            </a:r>
            <a:r>
              <a:rPr lang="en-US" b="1" smtClean="0"/>
              <a:t> :- </a:t>
            </a:r>
            <a:r>
              <a:rPr lang="en-US" smtClean="0"/>
              <a:t> </a:t>
            </a:r>
            <a:r>
              <a:rPr lang="en-US" dirty="0" smtClean="0"/>
              <a:t>philosophy refers to heterodox schools of thought in Indian philosophy that reject the absolute authority of the Vedas as a source of knowledge or truth. Unlike </a:t>
            </a:r>
            <a:r>
              <a:rPr lang="en-US" dirty="0" err="1" smtClean="0"/>
              <a:t>Astika</a:t>
            </a:r>
            <a:r>
              <a:rPr lang="en-US" dirty="0" smtClean="0"/>
              <a:t> schools, which accept Vedic authority, </a:t>
            </a:r>
            <a:r>
              <a:rPr lang="en-US" dirty="0" err="1" smtClean="0"/>
              <a:t>Nastik</a:t>
            </a:r>
            <a:r>
              <a:rPr lang="en-US" dirty="0" smtClean="0"/>
              <a:t> schools include systems like Buddhism, Jainism, and </a:t>
            </a:r>
            <a:r>
              <a:rPr lang="en-US" dirty="0" err="1" smtClean="0">
                <a:hlinkClick r:id="rId6"/>
              </a:rPr>
              <a:t>Charvaka</a:t>
            </a:r>
            <a:r>
              <a:rPr lang="en-US" dirty="0" smtClean="0"/>
              <a:t>, which challenged traditional beliefs and are not necessarily atheistic, though they may question concepts like the afterlife or the efficacy of Vedic rituals.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smtClean="0"/>
              <a:t>Buddhism</a:t>
            </a:r>
            <a:r>
              <a:rPr lang="en-US" dirty="0" smtClean="0"/>
              <a:t> is a foundational element of the Indian Knowledge System (IKS), deeply influencing its ethical, philosophical, and cultural landscape. Originating in India, Buddhist principles emphasize compassion, non-violence, social responsibility, and interconnectedness, impacting Indian society and philosophy for over 2,500 years. Its influence is evident in Buddhist literature like the </a:t>
            </a:r>
            <a:r>
              <a:rPr lang="en-US" dirty="0" err="1" smtClean="0"/>
              <a:t>Tripitaka</a:t>
            </a:r>
            <a:r>
              <a:rPr lang="en-US" dirty="0" smtClean="0"/>
              <a:t>, art and architecture (e.g., Ajanta caves), and major learning centers like </a:t>
            </a:r>
            <a:r>
              <a:rPr lang="en-US" dirty="0" err="1" smtClean="0"/>
              <a:t>Nalanda</a:t>
            </a:r>
            <a:r>
              <a:rPr lang="en-US" dirty="0" smtClean="0"/>
              <a:t>, showcasing its role in shaping a holistic and interconnected knowledge tradition. </a:t>
            </a:r>
            <a:endParaRPr lang="en-US" dirty="0" smtClean="0"/>
          </a:p>
          <a:p>
            <a:r>
              <a:rPr lang="en-US" b="1" dirty="0" smtClean="0"/>
              <a:t>The </a:t>
            </a:r>
            <a:r>
              <a:rPr lang="en-US" b="1" dirty="0" err="1" smtClean="0">
                <a:hlinkClick r:id="rId2"/>
              </a:rPr>
              <a:t>Jaina</a:t>
            </a:r>
            <a:r>
              <a:rPr lang="en-US" b="1" dirty="0" smtClean="0">
                <a:hlinkClick r:id="rId2"/>
              </a:rPr>
              <a:t> knowledge system</a:t>
            </a:r>
            <a:r>
              <a:rPr lang="en-US" dirty="0" smtClean="0"/>
              <a:t> is an integral part of Indian tradition, focusing on liberation through right knowledge, faith, and conduct, emphasizing the soul's inherent omniscience. It uses three </a:t>
            </a:r>
            <a:r>
              <a:rPr lang="en-US" dirty="0" err="1" smtClean="0">
                <a:hlinkClick r:id="rId3"/>
              </a:rPr>
              <a:t>pramanas</a:t>
            </a:r>
            <a:r>
              <a:rPr lang="en-US" dirty="0" smtClean="0"/>
              <a:t> (means of knowledge)—perception, inference, and testimony—and classifies knowledge into </a:t>
            </a:r>
            <a:r>
              <a:rPr lang="en-US" dirty="0" smtClean="0">
                <a:hlinkClick r:id="rId4"/>
              </a:rPr>
              <a:t>mediate</a:t>
            </a:r>
            <a:r>
              <a:rPr lang="en-US" dirty="0" smtClean="0"/>
              <a:t> and </a:t>
            </a:r>
            <a:r>
              <a:rPr lang="en-US" dirty="0" smtClean="0">
                <a:hlinkClick r:id="rId5"/>
              </a:rPr>
              <a:t>immediate</a:t>
            </a:r>
            <a:r>
              <a:rPr lang="en-US" dirty="0" smtClean="0"/>
              <a:t> forms, with the ultimate goal of achieving </a:t>
            </a:r>
            <a:r>
              <a:rPr lang="en-US" dirty="0" err="1" smtClean="0"/>
              <a:t>Kevala</a:t>
            </a:r>
            <a:r>
              <a:rPr lang="en-US" dirty="0" smtClean="0"/>
              <a:t> </a:t>
            </a:r>
            <a:r>
              <a:rPr lang="en-US" dirty="0" err="1" smtClean="0"/>
              <a:t>Jnana</a:t>
            </a:r>
            <a:r>
              <a:rPr lang="en-US" dirty="0" smtClean="0"/>
              <a:t> (absolute knowledge). Key tenets include </a:t>
            </a:r>
            <a:r>
              <a:rPr lang="en-US" dirty="0" smtClean="0">
                <a:hlinkClick r:id="rId6"/>
              </a:rPr>
              <a:t>nonviolence (ahimsa)</a:t>
            </a:r>
            <a:r>
              <a:rPr lang="en-US" dirty="0" smtClean="0"/>
              <a:t>, the doctrine of relativity (</a:t>
            </a:r>
            <a:r>
              <a:rPr lang="en-US" dirty="0" err="1" smtClean="0"/>
              <a:t>syadvada</a:t>
            </a:r>
            <a:r>
              <a:rPr lang="en-US" dirty="0" smtClean="0"/>
              <a:t>), and the veneration of </a:t>
            </a:r>
            <a:r>
              <a:rPr lang="en-US" dirty="0" err="1" smtClean="0"/>
              <a:t>Tirthankaras</a:t>
            </a:r>
            <a:r>
              <a:rPr lang="en-US" dirty="0" smtClean="0"/>
              <a:t> over a supreme god.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pPr fontAlgn="ctr"/>
            <a:r>
              <a:rPr lang="en-US" b="1" dirty="0" smtClean="0"/>
              <a:t>"</a:t>
            </a:r>
            <a:r>
              <a:rPr lang="en-US" b="1" dirty="0" err="1" smtClean="0"/>
              <a:t>Ajnan</a:t>
            </a:r>
            <a:r>
              <a:rPr lang="en-US" b="1" dirty="0" smtClean="0"/>
              <a:t>" </a:t>
            </a:r>
            <a:r>
              <a:rPr lang="en-US" dirty="0" smtClean="0"/>
              <a:t>does not appear as a concept within the "Indian Knowledge System" (IKS). The term "</a:t>
            </a:r>
            <a:r>
              <a:rPr lang="en-US" dirty="0" err="1" smtClean="0"/>
              <a:t>ajnani</a:t>
            </a:r>
            <a:r>
              <a:rPr lang="en-US" dirty="0" smtClean="0"/>
              <a:t>" (</a:t>
            </a:r>
            <a:r>
              <a:rPr lang="en-US" dirty="0" err="1" smtClean="0"/>
              <a:t>ajnani</a:t>
            </a:r>
            <a:r>
              <a:rPr lang="en-US" dirty="0" smtClean="0"/>
              <a:t>) actually means ignorant or someone lacking knowledge, in direct contrast to the IKS, which encompasses vast, evolving knowledge systems like the </a:t>
            </a:r>
            <a:r>
              <a:rPr lang="en-US" dirty="0" smtClean="0">
                <a:hlinkClick r:id="rId2"/>
              </a:rPr>
              <a:t>Vedas</a:t>
            </a:r>
            <a:r>
              <a:rPr lang="en-US" dirty="0" smtClean="0"/>
              <a:t>, </a:t>
            </a:r>
            <a:r>
              <a:rPr lang="en-US" dirty="0" smtClean="0">
                <a:hlinkClick r:id="rId3"/>
              </a:rPr>
              <a:t>Upanishads</a:t>
            </a:r>
            <a:r>
              <a:rPr lang="en-US" dirty="0" smtClean="0"/>
              <a:t>, and various arts, sciences, and traditions. The IKS Division of the Ministry of Education promotes the integration and dissemination of this "</a:t>
            </a:r>
            <a:r>
              <a:rPr lang="en-US" dirty="0" err="1" smtClean="0"/>
              <a:t>Jnan</a:t>
            </a:r>
            <a:r>
              <a:rPr lang="en-US" dirty="0" smtClean="0"/>
              <a:t>" (knowledge) for modern applications while preserving Indian heritage. </a:t>
            </a:r>
          </a:p>
          <a:p>
            <a:r>
              <a:rPr lang="en-US" dirty="0" smtClean="0"/>
              <a:t>Understanding "</a:t>
            </a:r>
            <a:r>
              <a:rPr lang="en-US" dirty="0" err="1" smtClean="0"/>
              <a:t>Jnan</a:t>
            </a:r>
            <a:r>
              <a:rPr lang="en-US" dirty="0" smtClean="0"/>
              <a:t>" vs. "</a:t>
            </a:r>
            <a:r>
              <a:rPr lang="en-US" dirty="0" err="1" smtClean="0"/>
              <a:t>Ajnani</a:t>
            </a:r>
            <a:r>
              <a:rPr lang="en-US" dirty="0" smtClean="0"/>
              <a:t>"</a:t>
            </a:r>
          </a:p>
          <a:p>
            <a:r>
              <a:rPr lang="en-US" b="1" dirty="0" err="1" smtClean="0"/>
              <a:t>Jnan</a:t>
            </a:r>
            <a:r>
              <a:rPr lang="en-US" b="1" dirty="0" smtClean="0"/>
              <a:t> (Knowledge):</a:t>
            </a:r>
            <a:r>
              <a:rPr lang="en-US" dirty="0" smtClean="0"/>
              <a:t> </a:t>
            </a:r>
          </a:p>
          <a:p>
            <a:pPr fontAlgn="ctr"/>
            <a:r>
              <a:rPr lang="en-US" dirty="0" smtClean="0"/>
              <a:t>This is the core concept of the IKS, referring to a holistic body of wisdom that includes intellectual, moral, physical, and spiritual development. It is often discussed in conjunction with "</a:t>
            </a:r>
            <a:r>
              <a:rPr lang="en-US" dirty="0" err="1" smtClean="0"/>
              <a:t>Vignan</a:t>
            </a:r>
            <a:r>
              <a:rPr lang="en-US" dirty="0" smtClean="0"/>
              <a:t>" (science) and "</a:t>
            </a:r>
            <a:r>
              <a:rPr lang="en-US" dirty="0" err="1" smtClean="0"/>
              <a:t>Jeevan</a:t>
            </a:r>
            <a:r>
              <a:rPr lang="en-US" dirty="0" smtClean="0"/>
              <a:t> </a:t>
            </a:r>
            <a:r>
              <a:rPr lang="en-US" dirty="0" err="1" smtClean="0"/>
              <a:t>Darshan</a:t>
            </a:r>
            <a:r>
              <a:rPr lang="en-US" dirty="0" smtClean="0"/>
              <a:t>" (philosophy of life). </a:t>
            </a:r>
          </a:p>
          <a:p>
            <a:r>
              <a:rPr lang="en-US" b="1" dirty="0" err="1" smtClean="0"/>
              <a:t>Ajnani</a:t>
            </a:r>
            <a:r>
              <a:rPr lang="en-US" b="1" dirty="0" smtClean="0"/>
              <a:t> (Ignorant):</a:t>
            </a:r>
            <a:r>
              <a:rPr lang="en-US" dirty="0" smtClean="0"/>
              <a:t> </a:t>
            </a:r>
          </a:p>
          <a:p>
            <a:r>
              <a:rPr lang="en-US" dirty="0" smtClean="0"/>
              <a:t>This term signifies the absence of "</a:t>
            </a:r>
            <a:r>
              <a:rPr lang="en-US" dirty="0" err="1" smtClean="0"/>
              <a:t>Jnan</a:t>
            </a:r>
            <a:r>
              <a:rPr lang="en-US" dirty="0" smtClean="0"/>
              <a:t>" or wisdom, making it a concept opposed to the principles of the Indian Knowledge System. </a:t>
            </a:r>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dirty="0" smtClean="0"/>
              <a:t>The </a:t>
            </a:r>
            <a:r>
              <a:rPr lang="en-US" dirty="0" err="1" smtClean="0"/>
              <a:t>Charvaka</a:t>
            </a:r>
            <a:r>
              <a:rPr lang="en-US" dirty="0" smtClean="0"/>
              <a:t>, or </a:t>
            </a:r>
            <a:r>
              <a:rPr lang="en-US" dirty="0" err="1" smtClean="0"/>
              <a:t>Lokāyata</a:t>
            </a:r>
            <a:r>
              <a:rPr lang="en-US" dirty="0" smtClean="0"/>
              <a:t>, is an ancient Indian, heterodox philosophical system that emphasizes materialism, empiricism, and hedonism, rejecting the authority of the Vedas and the existence of a soul, gods, or an afterlife. Its central doctrine is that perception (</a:t>
            </a:r>
            <a:r>
              <a:rPr lang="en-US" dirty="0" err="1" smtClean="0"/>
              <a:t>pratyakṣa</a:t>
            </a:r>
            <a:r>
              <a:rPr lang="en-US" smtClean="0"/>
              <a:t>) is the only valid source of knowledge, and it advocates for the pursuit of sensory pleasure in this life as the ultimate good.</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Purusha-Pakriti"/>
          <p:cNvPicPr>
            <a:picLocks noGrp="1" noChangeAspect="1"/>
          </p:cNvPicPr>
          <p:nvPr>
            <p:ph idx="1"/>
          </p:nvPr>
        </p:nvPicPr>
        <p:blipFill>
          <a:blip r:embed="rId2"/>
          <a:stretch>
            <a:fillRect/>
          </a:stretch>
        </p:blipFill>
        <p:spPr>
          <a:xfrm>
            <a:off x="635" y="-635"/>
            <a:ext cx="12190730" cy="68586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 y="16510"/>
            <a:ext cx="12192635" cy="6857365"/>
          </a:xfrm>
        </p:spPr>
        <p:txBody>
          <a:bodyPr>
            <a:normAutofit/>
          </a:bodyPr>
          <a:lstStyle/>
          <a:p>
            <a:r>
              <a:rPr lang="en-US" altLang="en-US" sz="3110" b="1"/>
              <a:t>Samkhya (Kapila):</a:t>
            </a:r>
            <a:r>
              <a:rPr lang="en-US" altLang="en-US"/>
              <a:t> Samkhya is the oldest of the orthodox philosophical systems, and it postulates that everything in reality stems from purusha (self, soul or mind) and prakriti (matter, creative agency, energy).</a:t>
            </a:r>
          </a:p>
          <a:p>
            <a:r>
              <a:rPr lang="en-US" altLang="en-US"/>
              <a:t>Purush cannot be modified or changed while prakriti brings change in all objects.</a:t>
            </a:r>
          </a:p>
          <a:p>
            <a:endParaRPr lang="en-US" altLang="en-US"/>
          </a:p>
          <a:p>
            <a:r>
              <a:rPr lang="en-US" altLang="en-US" sz="3555" b="1"/>
              <a:t>Key aspects of Samkhya dualism:</a:t>
            </a:r>
          </a:p>
          <a:p>
            <a:r>
              <a:rPr lang="en-US" altLang="en-US" sz="3110" b="1"/>
              <a:t>Purusha:</a:t>
            </a:r>
            <a:r>
              <a:rPr lang="en-US" altLang="en-US" b="1"/>
              <a:t> </a:t>
            </a:r>
            <a:r>
              <a:rPr lang="en-US" altLang="en-US"/>
              <a:t>Referred to as the self, spirit, or consciousness, Purusha is considered eternal, unchanging, and inactive. It is a passive observer, a pure witness to the activities of Prakriti. </a:t>
            </a:r>
          </a:p>
          <a:p>
            <a:r>
              <a:rPr lang="en-US" altLang="en-US" sz="3110" b="1"/>
              <a:t>Prakriti:</a:t>
            </a:r>
            <a:r>
              <a:rPr lang="en-US" altLang="en-US"/>
              <a:t> Prakriti is the source of all material existence, encompassing the physical world, the mind, and the senses. It is dynamic, active, and composed of three fundamental qualities called gunas (Sattva, Rajas, and Tamas).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 y="-635"/>
            <a:ext cx="12192635" cy="6858000"/>
          </a:xfrm>
        </p:spPr>
        <p:txBody>
          <a:bodyPr>
            <a:normAutofit fontScale="97500" lnSpcReduction="10000"/>
          </a:bodyPr>
          <a:lstStyle/>
          <a:p>
            <a:r>
              <a:rPr lang="en-US" altLang="en-US" sz="3110" b="1"/>
              <a:t>Dualism: </a:t>
            </a:r>
            <a:r>
              <a:rPr lang="en-US" altLang="en-US"/>
              <a:t>Samkhya's dualism highlights the fundamental difference between Purusha and Prakriti, asserting that they are distinct and independent entities. This distinction is crucial for understanding the nature of reality and the path to liberation. </a:t>
            </a:r>
          </a:p>
          <a:p>
            <a:r>
              <a:rPr lang="en-US" altLang="en-US" sz="3110" b="1"/>
              <a:t>Plurality of Purushas: </a:t>
            </a:r>
            <a:r>
              <a:rPr lang="en-US" altLang="en-US"/>
              <a:t>Unlike some other schools of thought, Samkhya believes in the existence of multiple Purushas, meaning each individual has their own distinct consciousness. </a:t>
            </a:r>
          </a:p>
          <a:p>
            <a:r>
              <a:rPr lang="en-US" altLang="en-US" sz="3110" b="1"/>
              <a:t>Causality: </a:t>
            </a:r>
            <a:r>
              <a:rPr lang="en-US" altLang="en-US"/>
              <a:t>Samkhya proposes that the world arises from the interaction of Purusha and Prakriti. Prakriti, through the interplay of the gunas, creates the universe, while Purusha's presence is necessary for Prakriti to manifest. </a:t>
            </a:r>
          </a:p>
          <a:p>
            <a:r>
              <a:rPr lang="en-US" altLang="en-US" sz="3110" b="1"/>
              <a:t>Liberation (Kaivalya): </a:t>
            </a:r>
            <a:r>
              <a:rPr lang="en-US" altLang="en-US"/>
              <a:t>Samkhya's goal is liberation from suffering, which is achieved through gaining knowledge of the true nature of Purusha and Prakriti and recognizing their distinct identities. This realization leads to the cessation of identification with Prakriti and the experience of pure consciousness. </a:t>
            </a:r>
          </a:p>
          <a:p>
            <a:r>
              <a:rPr lang="en-US" altLang="en-US"/>
              <a:t>In essence, Samkhya's dualism provides a framework for understanding the relationship between consciousness and the material world, offering a path to self-realization and liberation from suffering.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altLang="en-US"/>
              <a:t>Yoga (Patanjali):</a:t>
            </a:r>
          </a:p>
        </p:txBody>
      </p:sp>
      <p:sp>
        <p:nvSpPr>
          <p:cNvPr id="3" name="Content Placeholder 2"/>
          <p:cNvSpPr>
            <a:spLocks noGrp="1"/>
          </p:cNvSpPr>
          <p:nvPr>
            <p:ph idx="1"/>
          </p:nvPr>
        </p:nvSpPr>
        <p:spPr>
          <a:xfrm>
            <a:off x="0" y="1108710"/>
            <a:ext cx="12191365" cy="5749290"/>
          </a:xfrm>
        </p:spPr>
        <p:txBody>
          <a:bodyPr/>
          <a:lstStyle/>
          <a:p>
            <a:r>
              <a:rPr lang="en-US" altLang="en-US" b="1"/>
              <a:t>Yoga literally means the union of two principal entities.</a:t>
            </a:r>
            <a:r>
              <a:rPr lang="en-US" altLang="en-US"/>
              <a:t> Yogic techniques control body, mind &amp; sense organs, thus considered as a means of achieving freedom or mukti.</a:t>
            </a:r>
          </a:p>
          <a:p>
            <a:r>
              <a:rPr lang="en-US" altLang="en-US"/>
              <a:t>This freedom could be attained by practising self-control (yama), observation of rules (niyama), fixed postures (asana), breath control (pranayama), choosing an object (pratyahara) and fixing the mind (dharna), concentrating on the chosen object (dhyana) and complete dissolution of self, merging the mind and the object (Samadhi).</a:t>
            </a:r>
          </a:p>
          <a:p>
            <a:r>
              <a:rPr lang="en-US" altLang="en-US"/>
              <a:t>Yoga admits the existence of God as a teacher and guide.</a:t>
            </a:r>
          </a:p>
          <a:p>
            <a:r>
              <a:rPr lang="en-US" altLang="en-US" b="1"/>
              <a:t>Not an Invention:</a:t>
            </a:r>
          </a:p>
          <a:p>
            <a:r>
              <a:rPr lang="en-US" altLang="en-US"/>
              <a:t>Patanjali didn't create yoga itself, but rather compiled and systematized existing yogic practices and philosophical ideas.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shtanga-yoga"/>
          <p:cNvPicPr>
            <a:picLocks noChangeAspect="1"/>
          </p:cNvPicPr>
          <p:nvPr/>
        </p:nvPicPr>
        <p:blipFill>
          <a:blip r:embed="rId2"/>
          <a:stretch>
            <a:fillRect/>
          </a:stretch>
        </p:blipFill>
        <p:spPr>
          <a:xfrm>
            <a:off x="0" y="635"/>
            <a:ext cx="12192000" cy="685736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35"/>
            <a:ext cx="12192635" cy="6857365"/>
          </a:xfrm>
        </p:spPr>
        <p:txBody>
          <a:bodyPr/>
          <a:lstStyle/>
          <a:p>
            <a:r>
              <a:rPr lang="en-US" altLang="en-US"/>
              <a:t>Comprising 196 verses, these sutras delve into four principal themes: yoga as a lifestyle, key yogic principles (the eight limbs of yoga), yoga as a potent life force, and the pursuit of absolute fulfillment. The Yoga Sutras, Patanjali's spiritual roadmap, guide yogis on the journey to enlightenment.</a:t>
            </a:r>
          </a:p>
          <a:p>
            <a:r>
              <a:rPr lang="en-US" altLang="en-US"/>
              <a:t>YAMA - Restraints, moral disciplines or moral vows. </a:t>
            </a:r>
          </a:p>
          <a:p>
            <a:r>
              <a:rPr lang="en-US" altLang="en-US"/>
              <a:t>NIYAMA - Positive duties or observances. </a:t>
            </a:r>
          </a:p>
          <a:p>
            <a:r>
              <a:rPr lang="en-US" altLang="en-US"/>
              <a:t>ASANA - Posture. </a:t>
            </a:r>
          </a:p>
          <a:p>
            <a:r>
              <a:rPr lang="en-US" altLang="en-US"/>
              <a:t>PRANAYAMA - Breathing Techniques. </a:t>
            </a:r>
          </a:p>
          <a:p>
            <a:r>
              <a:rPr lang="en-US" altLang="en-US"/>
              <a:t>PRATYAHARA - Sense withdrawal. </a:t>
            </a:r>
          </a:p>
          <a:p>
            <a:r>
              <a:rPr lang="en-US" altLang="en-US"/>
              <a:t>DHARANA - Focused Concentration.</a:t>
            </a:r>
          </a:p>
          <a:p>
            <a:r>
              <a:rPr lang="en-US" altLang="en-US"/>
              <a:t>DHYANA - Meditative absorption. </a:t>
            </a:r>
          </a:p>
          <a:p>
            <a:r>
              <a:rPr lang="en-US" altLang="en-US"/>
              <a:t>SAMADHI - Bliss or Enlightenment.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 y="635"/>
            <a:ext cx="12191365" cy="6857365"/>
          </a:xfrm>
        </p:spPr>
        <p:txBody>
          <a:bodyPr/>
          <a:lstStyle/>
          <a:p>
            <a:r>
              <a:rPr lang="en-US" altLang="en-US" sz="3200" b="1">
                <a:sym typeface="+mn-ea"/>
              </a:rPr>
              <a:t>YAMA :</a:t>
            </a:r>
            <a:r>
              <a:rPr lang="en-US" altLang="en-US">
                <a:sym typeface="+mn-ea"/>
              </a:rPr>
              <a:t> </a:t>
            </a:r>
            <a:r>
              <a:rPr lang="en-US" altLang="en-US"/>
              <a:t>In yoga, Yama represents ethical disciplines or moral restraints, the first of the eight limbs of yoga as outlined by Patanjali in the Yoga Sutras. It focuses on how individuals interact with the external world, emphasizing ethical conduct and social harmony. The five Yamas are: Ahimsa (non-violence), Satya (truthfulness), Asteya (non-stealing), Brahmacharya (continence/self-control), and Aparigraha (non-greed/non-possessiveness). </a:t>
            </a:r>
          </a:p>
          <a:p>
            <a:endParaRPr lang="en-US" altLang="en-US"/>
          </a:p>
          <a:p>
            <a:r>
              <a:rPr lang="en-US" altLang="en-US" sz="3200" b="1"/>
              <a:t>Ahimsa (Non-violence):</a:t>
            </a:r>
          </a:p>
          <a:p>
            <a:r>
              <a:rPr lang="en-US" altLang="en-US"/>
              <a:t>This Yama emphasizes harmlessness and compassion towards all beings, including oneself. It encourages avoiding harm through thoughts, words, and actions. </a:t>
            </a:r>
          </a:p>
          <a:p>
            <a:r>
              <a:rPr lang="en-US" altLang="en-US" sz="3200" b="1"/>
              <a:t>Satya (Truthfulness):</a:t>
            </a:r>
          </a:p>
          <a:p>
            <a:r>
              <a:rPr lang="en-US" altLang="en-US"/>
              <a:t>Satya promotes honesty and truthfulness in all interactions, avoiding deceit and falsehoods. It also encompasses integrity and acting in accordance with one's inner truth.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 y="-635"/>
            <a:ext cx="12191365" cy="6859270"/>
          </a:xfrm>
        </p:spPr>
        <p:txBody>
          <a:bodyPr/>
          <a:lstStyle/>
          <a:p>
            <a:r>
              <a:rPr lang="en-US" altLang="en-US" sz="3200" b="1"/>
              <a:t>Asteya (Non-stealing):</a:t>
            </a:r>
          </a:p>
          <a:p>
            <a:r>
              <a:rPr lang="en-US" altLang="en-US"/>
              <a:t>Asteya involves respecting the property of others and refraining from taking anything that is not freely given. It also extends to respecting boundaries and not taking advantage of others. </a:t>
            </a:r>
          </a:p>
          <a:p>
            <a:r>
              <a:rPr lang="en-US" altLang="en-US" sz="3200" b="1"/>
              <a:t>Brahmacharya (Continence/Self-control):</a:t>
            </a:r>
          </a:p>
          <a:p>
            <a:r>
              <a:rPr lang="en-US" altLang="en-US"/>
              <a:t>While often translated as celibacy, Brahmacharya is about self-control and moderation in all aspects of life, including sexual conduct. It encourages mindful use of energy and avoiding overindulgence. </a:t>
            </a:r>
          </a:p>
          <a:p>
            <a:r>
              <a:rPr lang="en-US" altLang="en-US" sz="3200" b="1"/>
              <a:t>Aparigraha (Non-greed/Non-possessiveness):</a:t>
            </a:r>
          </a:p>
          <a:p>
            <a:r>
              <a:rPr lang="en-US" altLang="en-US"/>
              <a:t>Aparigraha focuses on letting go of greed, attachment to material possessions, and the desire to accumulate. It encourages contentment, simplicity, and generosity. </a:t>
            </a:r>
          </a:p>
          <a:p>
            <a:r>
              <a:rPr lang="en-US" altLang="en-US"/>
              <a:t>By practicing the Yamas, individuals can cultivate a strong ethical foundation for their yoga practice and their interactions with the world, leading to a more harmonious and fulfilling life.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35"/>
            <a:ext cx="12191365" cy="6857365"/>
          </a:xfrm>
        </p:spPr>
        <p:txBody>
          <a:bodyPr/>
          <a:lstStyle/>
          <a:p>
            <a:pPr algn="ctr"/>
            <a:r>
              <a:rPr lang="en-US" altLang="en-US" b="1"/>
              <a:t>Nyaya (Gautama Muni):</a:t>
            </a:r>
          </a:p>
          <a:p>
            <a:pPr algn="just"/>
            <a:r>
              <a:rPr lang="en-US" altLang="en-US"/>
              <a:t> Nyaya Philosophy states that nothing is acceptable unless it is in accordance with reason and experience (scientific approach). Nyaya is considered as a technique of logical thinking.</a:t>
            </a:r>
          </a:p>
          <a:p>
            <a:r>
              <a:rPr lang="en-US" altLang="en-US"/>
              <a:t>Nyaya Sutras say that there are four means of attaining valid knowledge: perception, inference, comparison, and verbal testimony.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5655"/>
            <a:ext cx="10515600" cy="1325563"/>
          </a:xfrm>
        </p:spPr>
        <p:txBody>
          <a:bodyPr/>
          <a:lstStyle/>
          <a:p>
            <a:pPr algn="ctr"/>
            <a:r>
              <a:rPr lang="en-US"/>
              <a:t>Unit:- 4</a:t>
            </a:r>
          </a:p>
        </p:txBody>
      </p:sp>
      <p:sp>
        <p:nvSpPr>
          <p:cNvPr id="4" name="Text Box 3"/>
          <p:cNvSpPr txBox="1"/>
          <p:nvPr/>
        </p:nvSpPr>
        <p:spPr>
          <a:xfrm>
            <a:off x="635" y="1212850"/>
            <a:ext cx="12191365" cy="2051050"/>
          </a:xfrm>
          <a:prstGeom prst="rect">
            <a:avLst/>
          </a:prstGeom>
        </p:spPr>
        <p:txBody>
          <a:bodyPr>
            <a:noAutofit/>
          </a:bodyPr>
          <a:lstStyle/>
          <a:p>
            <a:pPr algn="ctr"/>
            <a:endParaRPr sz="1600">
              <a:solidFill>
                <a:srgbClr val="000000"/>
              </a:solidFill>
              <a:latin typeface="Times New Roman" panose="02020603050405020304"/>
              <a:ea typeface="Times New Roman" panose="02020603050405020304"/>
            </a:endParaRPr>
          </a:p>
          <a:p>
            <a:pPr algn="ctr"/>
            <a:endParaRPr sz="1600">
              <a:solidFill>
                <a:srgbClr val="000000"/>
              </a:solidFill>
              <a:latin typeface="Times New Roman" panose="02020603050405020304"/>
              <a:ea typeface="Times New Roman" panose="02020603050405020304"/>
            </a:endParaRPr>
          </a:p>
          <a:p>
            <a:pPr algn="ctr"/>
            <a:endParaRPr sz="1600">
              <a:solidFill>
                <a:srgbClr val="000000"/>
              </a:solidFill>
              <a:latin typeface="Times New Roman" panose="02020603050405020304"/>
              <a:ea typeface="Times New Roman" panose="02020603050405020304"/>
            </a:endParaRPr>
          </a:p>
          <a:p>
            <a:pPr algn="ctr"/>
            <a:endParaRPr sz="1600">
              <a:solidFill>
                <a:srgbClr val="000000"/>
              </a:solidFill>
              <a:latin typeface="Times New Roman" panose="02020603050405020304"/>
              <a:ea typeface="Times New Roman" panose="02020603050405020304"/>
            </a:endParaRPr>
          </a:p>
          <a:p>
            <a:pPr algn="ctr"/>
            <a:endParaRPr sz="1600">
              <a:solidFill>
                <a:srgbClr val="000000"/>
              </a:solidFill>
              <a:latin typeface="Times New Roman" panose="02020603050405020304"/>
              <a:ea typeface="Times New Roman" panose="02020603050405020304"/>
            </a:endParaRPr>
          </a:p>
          <a:p>
            <a:pPr algn="ctr"/>
            <a:endParaRPr sz="1600">
              <a:solidFill>
                <a:srgbClr val="000000"/>
              </a:solidFill>
              <a:latin typeface="Times New Roman" panose="02020603050405020304"/>
              <a:ea typeface="Times New Roman" panose="02020603050405020304"/>
            </a:endParaRPr>
          </a:p>
          <a:p>
            <a:pPr algn="ctr"/>
            <a:r>
              <a:rPr sz="4400">
                <a:solidFill>
                  <a:srgbClr val="000000"/>
                </a:solidFill>
                <a:latin typeface="Times New Roman" panose="02020603050405020304"/>
                <a:ea typeface="Times New Roman" panose="02020603050405020304"/>
              </a:rPr>
              <a:t>Scientific Foundation in Linguistics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115"/>
            <a:ext cx="10515600" cy="1325563"/>
          </a:xfrm>
        </p:spPr>
        <p:txBody>
          <a:bodyPr/>
          <a:lstStyle/>
          <a:p>
            <a:pPr algn="ctr"/>
            <a:r>
              <a:rPr lang="en-US" altLang="en-US"/>
              <a:t>Scientific Foundations in Linguistics </a:t>
            </a:r>
          </a:p>
        </p:txBody>
      </p:sp>
      <p:sp>
        <p:nvSpPr>
          <p:cNvPr id="3" name="Content Placeholder 2"/>
          <p:cNvSpPr>
            <a:spLocks noGrp="1"/>
          </p:cNvSpPr>
          <p:nvPr>
            <p:ph idx="1"/>
          </p:nvPr>
        </p:nvSpPr>
        <p:spPr>
          <a:xfrm>
            <a:off x="0" y="905510"/>
            <a:ext cx="12191365" cy="2301240"/>
          </a:xfrm>
        </p:spPr>
        <p:txBody>
          <a:bodyPr>
            <a:normAutofit/>
          </a:bodyPr>
          <a:lstStyle/>
          <a:p>
            <a:pPr marL="0" indent="0">
              <a:buNone/>
            </a:pPr>
            <a:r>
              <a:rPr lang="en-US" altLang="en-US"/>
              <a:t>1</a:t>
            </a:r>
            <a:r>
              <a:rPr lang="en-US" altLang="en-US" b="1"/>
              <a:t>. Introduction to Linguistics as a Science</a:t>
            </a:r>
            <a:endParaRPr lang="en-US" altLang="en-US"/>
          </a:p>
          <a:p>
            <a:r>
              <a:rPr lang="en-US" altLang="en-US"/>
              <a:t>Linguistics is the scientific study of language, examining properties of specific languages and language in general using empirical, systematic methods. It connects with disciplines like cognitive science, psychology, anthropology, and computer science</a:t>
            </a:r>
          </a:p>
          <a:p>
            <a:pPr marL="0" indent="0">
              <a:buNone/>
            </a:pPr>
            <a:endParaRPr lang="en-US" altLang="en-US"/>
          </a:p>
        </p:txBody>
      </p:sp>
      <p:sp>
        <p:nvSpPr>
          <p:cNvPr id="4" name="Text Box 3"/>
          <p:cNvSpPr txBox="1"/>
          <p:nvPr/>
        </p:nvSpPr>
        <p:spPr>
          <a:xfrm>
            <a:off x="0" y="3090545"/>
            <a:ext cx="4776470" cy="3489960"/>
          </a:xfrm>
          <a:prstGeom prst="rect">
            <a:avLst/>
          </a:prstGeom>
          <a:noFill/>
        </p:spPr>
        <p:txBody>
          <a:bodyPr wrap="square" rtlCol="0">
            <a:noAutofit/>
          </a:bodyPr>
          <a:lstStyle/>
          <a:p>
            <a:pPr marL="0" indent="0">
              <a:buNone/>
            </a:pPr>
            <a:r>
              <a:rPr lang="en-US" altLang="en-US" sz="2800" b="1" dirty="0">
                <a:sym typeface="+mn-ea"/>
              </a:rPr>
              <a:t>Language as a System</a:t>
            </a:r>
            <a:endParaRPr lang="en-US" altLang="en-US" sz="2800" b="1" dirty="0"/>
          </a:p>
          <a:p>
            <a:pPr marL="285750" indent="-285750">
              <a:buFont typeface="Arial" panose="020B0604020202020204" pitchFamily="34" charset="0"/>
              <a:buChar char="•"/>
            </a:pPr>
            <a:r>
              <a:rPr lang="en-US" altLang="en-US" sz="2000" dirty="0">
                <a:sym typeface="+mn-ea"/>
              </a:rPr>
              <a:t>Languages have rules and patterns:</a:t>
            </a:r>
            <a:endParaRPr lang="en-US" altLang="en-US" sz="2000" dirty="0"/>
          </a:p>
          <a:p>
            <a:pPr marL="285750" indent="-285750">
              <a:buFont typeface="Arial" panose="020B0604020202020204" pitchFamily="34" charset="0"/>
              <a:buChar char="•"/>
            </a:pPr>
            <a:r>
              <a:rPr lang="en-US" altLang="en-US" sz="2000" dirty="0">
                <a:sym typeface="+mn-ea"/>
              </a:rPr>
              <a:t>Phonological rules (sound systems)</a:t>
            </a:r>
            <a:endParaRPr lang="en-US" altLang="en-US" sz="2000" dirty="0"/>
          </a:p>
          <a:p>
            <a:pPr marL="285750" indent="-285750">
              <a:buFont typeface="Arial" panose="020B0604020202020204" pitchFamily="34" charset="0"/>
              <a:buChar char="•"/>
            </a:pPr>
            <a:r>
              <a:rPr lang="en-US" altLang="en-US" sz="2000" dirty="0">
                <a:sym typeface="+mn-ea"/>
              </a:rPr>
              <a:t>Morphological rules (word formation)</a:t>
            </a:r>
            <a:endParaRPr lang="en-US" altLang="en-US" sz="2000" dirty="0"/>
          </a:p>
          <a:p>
            <a:pPr marL="285750" indent="-285750">
              <a:buFont typeface="Arial" panose="020B0604020202020204" pitchFamily="34" charset="0"/>
              <a:buChar char="•"/>
            </a:pPr>
            <a:r>
              <a:rPr lang="en-US" altLang="en-US" sz="2000" dirty="0">
                <a:sym typeface="+mn-ea"/>
              </a:rPr>
              <a:t>Syntactic rules (sentence structure)</a:t>
            </a:r>
            <a:endParaRPr lang="en-US" altLang="en-US" sz="2000" dirty="0"/>
          </a:p>
          <a:p>
            <a:pPr marL="285750" indent="-285750">
              <a:buFont typeface="Arial" panose="020B0604020202020204" pitchFamily="34" charset="0"/>
              <a:buChar char="•"/>
            </a:pPr>
            <a:r>
              <a:rPr lang="en-US" altLang="en-US" sz="2000" dirty="0">
                <a:sym typeface="+mn-ea"/>
              </a:rPr>
              <a:t>Semantic rules (meaning)</a:t>
            </a:r>
            <a:endParaRPr lang="en-US" altLang="en-US" sz="2000" dirty="0"/>
          </a:p>
          <a:p>
            <a:pPr marL="285750" indent="-285750">
              <a:buFont typeface="Arial" panose="020B0604020202020204" pitchFamily="34" charset="0"/>
              <a:buChar char="•"/>
            </a:pPr>
            <a:r>
              <a:rPr lang="en-US" altLang="en-US" sz="2000" dirty="0">
                <a:sym typeface="+mn-ea"/>
              </a:rPr>
              <a:t>Pragmatic rules (contextual use)</a:t>
            </a:r>
            <a:endParaRPr lang="en-US" altLang="en-US" sz="2000" dirty="0"/>
          </a:p>
          <a:p>
            <a:pPr marL="285750" indent="-285750">
              <a:buFont typeface="Arial" panose="020B0604020202020204" pitchFamily="34" charset="0"/>
              <a:buChar char="•"/>
            </a:pPr>
            <a:endParaRPr lang="en-US" sz="2000" dirty="0"/>
          </a:p>
        </p:txBody>
      </p:sp>
      <p:sp>
        <p:nvSpPr>
          <p:cNvPr id="5" name="Text Box 4"/>
          <p:cNvSpPr txBox="1"/>
          <p:nvPr/>
        </p:nvSpPr>
        <p:spPr>
          <a:xfrm>
            <a:off x="5325110" y="3090545"/>
            <a:ext cx="6214110" cy="3767455"/>
          </a:xfrm>
          <a:prstGeom prst="rect">
            <a:avLst/>
          </a:prstGeom>
          <a:noFill/>
        </p:spPr>
        <p:txBody>
          <a:bodyPr wrap="square" rtlCol="0">
            <a:noAutofit/>
          </a:bodyPr>
          <a:lstStyle/>
          <a:p>
            <a:r>
              <a:rPr lang="en-US" altLang="en-US" sz="2400" b="1" dirty="0"/>
              <a:t>Branches of Linguistics</a:t>
            </a:r>
          </a:p>
          <a:p>
            <a:pPr marL="285750" indent="-285750">
              <a:buFont typeface="Arial" panose="020B0604020202020204" pitchFamily="34" charset="0"/>
              <a:buChar char="•"/>
            </a:pPr>
            <a:r>
              <a:rPr lang="en-US" altLang="en-US" sz="2000" dirty="0"/>
              <a:t>Phonetics – Study of speech sounds</a:t>
            </a:r>
          </a:p>
          <a:p>
            <a:pPr marL="285750" indent="-285750">
              <a:buFont typeface="Arial" panose="020B0604020202020204" pitchFamily="34" charset="0"/>
              <a:buChar char="•"/>
            </a:pPr>
            <a:r>
              <a:rPr lang="en-US" altLang="en-US" sz="2000" dirty="0"/>
              <a:t>Phonology – Patterns of sounds</a:t>
            </a:r>
          </a:p>
          <a:p>
            <a:pPr marL="285750" indent="-285750">
              <a:buFont typeface="Arial" panose="020B0604020202020204" pitchFamily="34" charset="0"/>
              <a:buChar char="•"/>
            </a:pPr>
            <a:r>
              <a:rPr lang="en-US" altLang="en-US" sz="2000" dirty="0"/>
              <a:t>Morphology – Structure of words</a:t>
            </a:r>
          </a:p>
          <a:p>
            <a:pPr marL="285750" indent="-285750">
              <a:buFont typeface="Arial" panose="020B0604020202020204" pitchFamily="34" charset="0"/>
              <a:buChar char="•"/>
            </a:pPr>
            <a:r>
              <a:rPr lang="en-US" altLang="en-US" sz="2000" dirty="0"/>
              <a:t>Syntax – Sentence structure</a:t>
            </a:r>
          </a:p>
          <a:p>
            <a:pPr marL="285750" indent="-285750">
              <a:buFont typeface="Arial" panose="020B0604020202020204" pitchFamily="34" charset="0"/>
              <a:buChar char="•"/>
            </a:pPr>
            <a:r>
              <a:rPr lang="en-US" altLang="en-US" sz="2000" dirty="0"/>
              <a:t>Semantics – Meaning of words and sentences</a:t>
            </a:r>
          </a:p>
          <a:p>
            <a:pPr marL="285750" indent="-285750">
              <a:buFont typeface="Arial" panose="020B0604020202020204" pitchFamily="34" charset="0"/>
              <a:buChar char="•"/>
            </a:pPr>
            <a:r>
              <a:rPr lang="en-US" altLang="en-US" sz="2000" dirty="0"/>
              <a:t>Pragmatics – Language use in context</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ctr">
              <a:buNone/>
            </a:pPr>
            <a:r>
              <a:rPr lang="en-US" altLang="en-US" sz="4800" b="1" dirty="0" smtClean="0">
                <a:sym typeface="+mn-ea"/>
              </a:rPr>
              <a:t>Language as a System</a:t>
            </a:r>
            <a:endParaRPr lang="en-US" altLang="en-US" sz="4800" b="1" dirty="0" smtClean="0"/>
          </a:p>
          <a:p>
            <a:pPr>
              <a:buNone/>
            </a:pPr>
            <a:endParaRPr lang="en-US" altLang="en-US" b="1" dirty="0" smtClean="0">
              <a:sym typeface="+mn-ea"/>
            </a:endParaRPr>
          </a:p>
          <a:p>
            <a:pPr>
              <a:buNone/>
            </a:pPr>
            <a:r>
              <a:rPr lang="en-US" altLang="en-US" b="1" dirty="0" smtClean="0">
                <a:sym typeface="+mn-ea"/>
              </a:rPr>
              <a:t>Languages have rules and patterns</a:t>
            </a:r>
            <a:endParaRPr lang="en-US" b="1" dirty="0" smtClean="0"/>
          </a:p>
          <a:p>
            <a:r>
              <a:rPr lang="en-US" dirty="0" smtClean="0"/>
              <a:t>Language is not random; it is structured and governed by a set of rules that make communication possible and meaningful. These rules create consistency across speakers, allowing us to understand each other. Let’s look at the main types</a:t>
            </a:r>
          </a:p>
          <a:p>
            <a:endParaRPr lang="en-US" altLang="en-US" dirty="0" smtClean="0"/>
          </a:p>
          <a:p>
            <a:pPr marL="285750" indent="-285750">
              <a:buNone/>
            </a:pPr>
            <a:r>
              <a:rPr lang="en-US" altLang="en-US" b="1" dirty="0" smtClean="0">
                <a:sym typeface="+mn-ea"/>
              </a:rPr>
              <a:t>Phonological rules (sound systems)</a:t>
            </a:r>
            <a:endParaRPr lang="en-US" dirty="0" smtClean="0"/>
          </a:p>
          <a:p>
            <a:r>
              <a:rPr lang="en-US" dirty="0" smtClean="0"/>
              <a:t>Concerned with the organization of sounds in a language.</a:t>
            </a:r>
          </a:p>
          <a:p>
            <a:r>
              <a:rPr lang="en-US" dirty="0" smtClean="0"/>
              <a:t> Every language has a unique phonemic inventory (set of distinct sounds).</a:t>
            </a:r>
          </a:p>
          <a:p>
            <a:pPr>
              <a:buNone/>
            </a:pPr>
            <a:endParaRPr lang="en-US" dirty="0" smtClean="0"/>
          </a:p>
          <a:p>
            <a:pPr marL="285750" indent="-285750"/>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3970318"/>
          </a:xfrm>
          <a:prstGeom prst="rect">
            <a:avLst/>
          </a:prstGeom>
        </p:spPr>
        <p:txBody>
          <a:bodyPr wrap="square">
            <a:spAutoFit/>
          </a:bodyPr>
          <a:lstStyle/>
          <a:p>
            <a:pPr>
              <a:buNone/>
            </a:pPr>
            <a:r>
              <a:rPr lang="en-US" sz="2800" b="1" dirty="0" smtClean="0"/>
              <a:t>Morphological Rules (Word Formation)</a:t>
            </a:r>
          </a:p>
          <a:p>
            <a:pPr>
              <a:buFont typeface="Arial" pitchFamily="34" charset="0"/>
              <a:buChar char="•"/>
            </a:pPr>
            <a:r>
              <a:rPr lang="en-US" sz="2800" dirty="0" smtClean="0"/>
              <a:t> Morphological rules govern how words are formed in a language by combining smaller units of meaning called morphemes. These rules define processes such as </a:t>
            </a:r>
            <a:r>
              <a:rPr lang="en-US" sz="2800" dirty="0" smtClean="0">
                <a:hlinkClick r:id="rId2"/>
              </a:rPr>
              <a:t>derivation</a:t>
            </a:r>
            <a:r>
              <a:rPr lang="en-US" sz="2800" dirty="0" smtClean="0"/>
              <a:t> (e.g., adding "un-" to "do" to form "undo") and </a:t>
            </a:r>
            <a:r>
              <a:rPr lang="en-US" sz="2800" dirty="0" smtClean="0">
                <a:hlinkClick r:id="rId3"/>
              </a:rPr>
              <a:t>compounding</a:t>
            </a:r>
            <a:r>
              <a:rPr lang="en-US" sz="2800" dirty="0" smtClean="0"/>
              <a:t> (e.g., "black" + "board" = "blackboard"), as well as inflection (e.g., adding "-s" to "dog" to form "dogs") which changes a word's grammatical function rather than its core meaning or class.</a:t>
            </a:r>
          </a:p>
          <a:p>
            <a:r>
              <a:rPr lang="en-US" sz="2800" dirty="0" smtClean="0"/>
              <a:t> Deal with the structure of words  and how smaller units of meaning (morphemes) combine.</a:t>
            </a:r>
            <a:endParaRPr lang="en-IN"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buNone/>
            </a:pPr>
            <a:r>
              <a:rPr lang="en-US" altLang="en-US" b="1" dirty="0" smtClean="0">
                <a:sym typeface="+mn-ea"/>
              </a:rPr>
              <a:t>Syntactic rules (sentence structure)</a:t>
            </a:r>
          </a:p>
          <a:p>
            <a:pPr lvl="1"/>
            <a:r>
              <a:rPr lang="en-US" dirty="0" smtClean="0"/>
              <a:t>Syntactic rules, or rules of syntax, govern how words are arranged to form grammatical phrases, clauses, and sentences, ensuring meaning in a language. The fundamental rule in English is the Subject-Verb-Object (SVO) word order, where the subject performs an action (verb) on an object. Key elements are the subject (who/what performs the action), the verb (the action or state of being), and the object (what receives the action). A complete sentence requires at least a subject and a verb to express a complete thought. </a:t>
            </a:r>
          </a:p>
          <a:p>
            <a:pPr>
              <a:buNone/>
            </a:pPr>
            <a:r>
              <a:rPr lang="en-US" altLang="en-US" b="1" dirty="0" smtClean="0">
                <a:sym typeface="+mn-ea"/>
              </a:rPr>
              <a:t>Semantic rules (meaning)</a:t>
            </a:r>
            <a:endParaRPr lang="en-US" b="1" dirty="0" smtClean="0"/>
          </a:p>
          <a:p>
            <a:r>
              <a:rPr lang="en-US" sz="2400" dirty="0" smtClean="0"/>
              <a:t>Semantic rules are principles that govern the meaning and interpretation of language, dictating how words, phrases, and symbols are used to convey specific understandings in communication. These rules define the relationship between symbols and the world, including how word meanings and their combination determine the meaning of a sentence, a concept known as </a:t>
            </a:r>
            <a:r>
              <a:rPr lang="en-US" sz="2400" dirty="0" smtClean="0">
                <a:hlinkClick r:id="rId2"/>
              </a:rPr>
              <a:t>compositional semantics</a:t>
            </a:r>
            <a:r>
              <a:rPr lang="en-US" sz="2400" dirty="0" smtClean="0"/>
              <a:t>. Semantic rules are found in both linguistics and computer science, where they are used in compiler design to ensure a program's logic is meaningful beyond its grammatical structure.</a:t>
            </a:r>
          </a:p>
          <a:p>
            <a:pPr>
              <a:buNone/>
            </a:pPr>
            <a:endParaRPr lang="en-US" altLang="en-US" b="1" dirty="0" smtClean="0"/>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a:buNone/>
            </a:pPr>
            <a:r>
              <a:rPr lang="en-US" altLang="en-US" b="1" dirty="0" smtClean="0">
                <a:sym typeface="+mn-ea"/>
              </a:rPr>
              <a:t>Pragmatic rules (contextual use)</a:t>
            </a:r>
            <a:endParaRPr lang="en-US" altLang="en-US" b="1" dirty="0" smtClean="0"/>
          </a:p>
          <a:p>
            <a:r>
              <a:rPr lang="en-US" sz="2400" dirty="0" smtClean="0"/>
              <a:t>Pragmatic rules are the unstated principles people use to interpret the contextual or implied meaning of language, going beyond literal definitions to understand social, situational, and cultural factors. These rules govern how speakers and listeners infer meaning, for example, in politeness, turn-taking, and understanding sarcasm, allowing for effective communication even when meaning is not explicitly stated. Key aspects include interpreting implied meanings (conversational </a:t>
            </a:r>
            <a:r>
              <a:rPr lang="en-US" sz="2400" dirty="0" err="1" smtClean="0"/>
              <a:t>implicature</a:t>
            </a:r>
            <a:r>
              <a:rPr lang="en-US" sz="2400" dirty="0" smtClean="0"/>
              <a:t>) and adjusting language based on shared context, such as social relationships and physical environment.</a:t>
            </a:r>
          </a:p>
          <a:p>
            <a:pPr>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35"/>
            <a:ext cx="12191365" cy="6858000"/>
          </a:xfrm>
        </p:spPr>
        <p:txBody>
          <a:bodyPr>
            <a:normAutofit fontScale="97500"/>
          </a:bodyPr>
          <a:lstStyle/>
          <a:p>
            <a:pPr algn="just">
              <a:buNone/>
            </a:pPr>
            <a:r>
              <a:rPr lang="en-US" altLang="en-US" dirty="0">
                <a:latin typeface="Times New Roman" panose="02020603050405020304" charset="0"/>
                <a:cs typeface="Times New Roman" panose="02020603050405020304" charset="0"/>
              </a:rPr>
              <a:t> 2. Scientific Methodology in Linguistics </a:t>
            </a:r>
          </a:p>
          <a:p>
            <a:pPr marL="0" indent="0" algn="just">
              <a:buNone/>
            </a:pPr>
            <a:r>
              <a:rPr lang="en-US" altLang="en-US" b="1" dirty="0">
                <a:latin typeface="Times New Roman" panose="02020603050405020304" charset="0"/>
                <a:cs typeface="Times New Roman" panose="02020603050405020304" charset="0"/>
              </a:rPr>
              <a:t>Steps:</a:t>
            </a:r>
          </a:p>
          <a:p>
            <a:pPr algn="just"/>
            <a:r>
              <a:rPr lang="en-US" altLang="en-US" sz="2400" dirty="0">
                <a:latin typeface="Times New Roman" panose="02020603050405020304" charset="0"/>
                <a:cs typeface="Times New Roman" panose="02020603050405020304" charset="0"/>
              </a:rPr>
              <a:t>Observation – Patterns in spoken or written language</a:t>
            </a:r>
          </a:p>
          <a:p>
            <a:pPr algn="just"/>
            <a:r>
              <a:rPr lang="en-US" altLang="en-US" sz="2400" dirty="0">
                <a:latin typeface="Times New Roman" panose="02020603050405020304" charset="0"/>
                <a:cs typeface="Times New Roman" panose="02020603050405020304" charset="0"/>
              </a:rPr>
              <a:t>Hypothesis – Possible explanations or rules</a:t>
            </a:r>
          </a:p>
          <a:p>
            <a:pPr algn="just"/>
            <a:r>
              <a:rPr lang="en-US" altLang="en-US" sz="2400" dirty="0">
                <a:latin typeface="Times New Roman" panose="02020603050405020304" charset="0"/>
                <a:cs typeface="Times New Roman" panose="02020603050405020304" charset="0"/>
              </a:rPr>
              <a:t>Data Collection – Through fieldwork, recordings, corpora, experiments</a:t>
            </a:r>
          </a:p>
          <a:p>
            <a:pPr algn="just"/>
            <a:r>
              <a:rPr lang="en-US" altLang="en-US" sz="2400" dirty="0">
                <a:latin typeface="Times New Roman" panose="02020603050405020304" charset="0"/>
                <a:cs typeface="Times New Roman" panose="02020603050405020304" charset="0"/>
              </a:rPr>
              <a:t>Analysis and Testing – Rule validation and generalization</a:t>
            </a:r>
          </a:p>
          <a:p>
            <a:pPr algn="just"/>
            <a:r>
              <a:rPr lang="en-US" altLang="en-US" sz="2400" dirty="0">
                <a:latin typeface="Times New Roman" panose="02020603050405020304" charset="0"/>
                <a:cs typeface="Times New Roman" panose="02020603050405020304" charset="0"/>
              </a:rPr>
              <a:t>Theory Building – Explaining linguistic universals and </a:t>
            </a:r>
            <a:r>
              <a:rPr lang="en-US" altLang="en-US" sz="2400" dirty="0" smtClean="0">
                <a:latin typeface="Times New Roman" panose="02020603050405020304" charset="0"/>
                <a:cs typeface="Times New Roman" panose="02020603050405020304" charset="0"/>
              </a:rPr>
              <a:t>variation</a:t>
            </a:r>
          </a:p>
          <a:p>
            <a:pPr algn="just"/>
            <a:endParaRPr lang="en-US" altLang="en-US" sz="2400" dirty="0" smtClean="0">
              <a:latin typeface="Times New Roman" panose="02020603050405020304" charset="0"/>
              <a:cs typeface="Times New Roman" panose="02020603050405020304" charset="0"/>
            </a:endParaRPr>
          </a:p>
          <a:p>
            <a:pPr algn="just">
              <a:buNone/>
            </a:pPr>
            <a:endParaRPr lang="en-US" altLang="en-US" sz="2400" dirty="0">
              <a:latin typeface="Times New Roman" panose="02020603050405020304" charset="0"/>
              <a:cs typeface="Times New Roman" panose="02020603050405020304" charset="0"/>
            </a:endParaRPr>
          </a:p>
          <a:p>
            <a:pPr marL="0" indent="0" algn="just">
              <a:buNone/>
            </a:pPr>
            <a:r>
              <a:rPr lang="en-US" altLang="en-US" dirty="0">
                <a:latin typeface="Times New Roman" panose="02020603050405020304" charset="0"/>
                <a:cs typeface="Times New Roman" panose="02020603050405020304" charset="0"/>
              </a:rPr>
              <a:t> </a:t>
            </a:r>
            <a:r>
              <a:rPr lang="en-US" altLang="en-US" b="1" dirty="0">
                <a:latin typeface="Times New Roman" panose="02020603050405020304" charset="0"/>
                <a:cs typeface="Times New Roman" panose="02020603050405020304" charset="0"/>
              </a:rPr>
              <a:t>Types of Data:</a:t>
            </a:r>
            <a:endParaRPr lang="en-US" altLang="en-US" dirty="0">
              <a:latin typeface="Times New Roman" panose="02020603050405020304" charset="0"/>
              <a:cs typeface="Times New Roman" panose="02020603050405020304" charset="0"/>
            </a:endParaRPr>
          </a:p>
          <a:p>
            <a:pPr algn="just"/>
            <a:r>
              <a:rPr lang="en-US" altLang="en-US" sz="2400" dirty="0">
                <a:latin typeface="Times New Roman" panose="02020603050405020304" charset="0"/>
                <a:cs typeface="Times New Roman" panose="02020603050405020304" charset="0"/>
              </a:rPr>
              <a:t>Introspective: Speaker’s intuition (used in syntax)</a:t>
            </a:r>
          </a:p>
          <a:p>
            <a:pPr algn="just"/>
            <a:r>
              <a:rPr lang="en-US" altLang="en-US" sz="2400" dirty="0">
                <a:latin typeface="Times New Roman" panose="02020603050405020304" charset="0"/>
                <a:cs typeface="Times New Roman" panose="02020603050405020304" charset="0"/>
              </a:rPr>
              <a:t>Empirical: Spoken/written data from native speakers</a:t>
            </a:r>
          </a:p>
          <a:p>
            <a:pPr algn="just"/>
            <a:r>
              <a:rPr lang="en-US" altLang="en-US" sz="2400" dirty="0">
                <a:latin typeface="Times New Roman" panose="02020603050405020304" charset="0"/>
                <a:cs typeface="Times New Roman" panose="02020603050405020304" charset="0"/>
              </a:rPr>
              <a:t>Experimental: Psycholinguistic or </a:t>
            </a:r>
            <a:r>
              <a:rPr lang="en-US" altLang="en-US" sz="2400" dirty="0" err="1">
                <a:latin typeface="Times New Roman" panose="02020603050405020304" charset="0"/>
                <a:cs typeface="Times New Roman" panose="02020603050405020304" charset="0"/>
              </a:rPr>
              <a:t>neurolinguistic</a:t>
            </a:r>
            <a:r>
              <a:rPr lang="en-US" altLang="en-US" sz="2400" dirty="0">
                <a:latin typeface="Times New Roman" panose="02020603050405020304" charset="0"/>
                <a:cs typeface="Times New Roman" panose="02020603050405020304" charset="0"/>
              </a:rPr>
              <a:t> studies</a:t>
            </a:r>
          </a:p>
          <a:p>
            <a:pPr algn="just"/>
            <a:endParaRPr lang="en-US" altLang="en-US" sz="2400" dirty="0">
              <a:latin typeface="Times New Roman" panose="02020603050405020304" charset="0"/>
              <a:cs typeface="Times New Roman" panose="02020603050405020304" charset="0"/>
            </a:endParaRPr>
          </a:p>
          <a:p>
            <a:pPr algn="just">
              <a:buNone/>
            </a:pPr>
            <a:r>
              <a:rPr lang="en-US" altLang="en-US" sz="2400" b="1" dirty="0">
                <a:latin typeface="Times New Roman" panose="02020603050405020304" charset="0"/>
                <a:cs typeface="Times New Roman" panose="02020603050405020304" charset="0"/>
              </a:rPr>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r>
              <a:rPr lang="en-IN" sz="2400" dirty="0" smtClean="0"/>
              <a:t>Observing patterns in spoken and written language involves noticing regularities in grammar, vocabulary, and communication styles to improve understanding and learning. </a:t>
            </a:r>
          </a:p>
          <a:p>
            <a:pPr>
              <a:buNone/>
            </a:pPr>
            <a:endParaRPr lang="en-IN" sz="2400" dirty="0" smtClean="0"/>
          </a:p>
          <a:p>
            <a:r>
              <a:rPr lang="en-IN" sz="2400" dirty="0" smtClean="0"/>
              <a:t>A hypothesis is a proposed explanation for a phenomenon, serving as a foundational element of the scientific method. It is characterized by its provisional nature, meaning it is not a definitive truth but rather a possible truth that can be tested through experiments or other forms of evidence gathering.</a:t>
            </a:r>
          </a:p>
          <a:p>
            <a:endParaRPr lang="en-IN" sz="2400" dirty="0" smtClean="0"/>
          </a:p>
          <a:p>
            <a:r>
              <a:rPr lang="en-IN" sz="2400" dirty="0" smtClean="0"/>
              <a:t>Data collection encompasses fieldwork, recordings, corpora, and experiments, each offering distinct ways to gather information. Fieldwork involves firsthand, ground-level observation, while recordings capture real-time audio and video data. Corpora are large, pre-compiled collections of texts or audio/video for analysis. Experiments involve systematically manipulating variables to observe their effects, allowing for controlled data collection.</a:t>
            </a:r>
          </a:p>
          <a:p>
            <a:endParaRPr lang="en-IN"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1353800" cy="6858000"/>
          </a:xfrm>
        </p:spPr>
        <p:txBody>
          <a:bodyPr/>
          <a:lstStyle/>
          <a:p>
            <a:r>
              <a:rPr lang="en-IN" dirty="0" smtClean="0"/>
              <a:t>Rule validation and generalization involves validating the accuracy of a rule or model to ensure it functions correctly in its intended context and generalizing that rule or model's performance to new, unseen data by assessing its ability to adapt to diverse populations and varied environments, which is a critical step in ensuring robustness and applicability in real-world scenarios, particularly in fields like </a:t>
            </a:r>
            <a:r>
              <a:rPr lang="en-IN" dirty="0" smtClean="0">
                <a:hlinkClick r:id="rId2"/>
              </a:rPr>
              <a:t>artificial intelligence</a:t>
            </a:r>
            <a:r>
              <a:rPr lang="en-IN" dirty="0" smtClean="0"/>
              <a:t> (AI) and </a:t>
            </a:r>
            <a:r>
              <a:rPr lang="en-IN" dirty="0" smtClean="0">
                <a:hlinkClick r:id="rId3"/>
              </a:rPr>
              <a:t>data mining</a:t>
            </a:r>
            <a:r>
              <a:rPr lang="en-IN" dirty="0" smtClean="0"/>
              <a:t>.  </a:t>
            </a:r>
          </a:p>
          <a:p>
            <a:endParaRPr lang="en-IN" dirty="0" smtClean="0"/>
          </a:p>
          <a:p>
            <a:r>
              <a:rPr lang="en-IN" dirty="0" smtClean="0"/>
              <a:t>Theory building to explain linguistic universals and variation draws on two main frameworks: Universal Grammar (UG), which posits innate, shared principles governing all languages, and Language Typology, which examines patterns of similarities and differences across languages through large datasets to understand constraints on variation</a:t>
            </a:r>
          </a:p>
          <a:p>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a:buNone/>
            </a:pPr>
            <a:r>
              <a:rPr lang="en-US" altLang="en-US" b="1" dirty="0" smtClean="0">
                <a:latin typeface="Times New Roman" panose="02020603050405020304" charset="0"/>
                <a:cs typeface="Times New Roman" panose="02020603050405020304" charset="0"/>
              </a:rPr>
              <a:t>Types of Data:</a:t>
            </a:r>
          </a:p>
          <a:p>
            <a:pPr>
              <a:buNone/>
            </a:pPr>
            <a:r>
              <a:rPr lang="en-US" altLang="en-US" b="1" dirty="0" smtClean="0">
                <a:latin typeface="Times New Roman" panose="02020603050405020304" charset="0"/>
                <a:cs typeface="Times New Roman" panose="02020603050405020304" charset="0"/>
              </a:rPr>
              <a:t>Introspective: Speaker’s intuition (used in syntax):</a:t>
            </a:r>
          </a:p>
          <a:p>
            <a:pPr>
              <a:buNone/>
            </a:pPr>
            <a:r>
              <a:rPr lang="en-US" dirty="0" smtClean="0"/>
              <a:t>   </a:t>
            </a:r>
            <a:r>
              <a:rPr lang="en-US" sz="2400" dirty="0" smtClean="0"/>
              <a:t>In syntax, "introspective" refers to a linguist's use of their own internal, unconscious linguistic knowledge to make judgments about the grammaticality or meaning of a sentence. These "speaker's intuitions" are a foundational, albeit debated, method of gathering data in linguistics, particularly within </a:t>
            </a:r>
            <a:r>
              <a:rPr lang="en-US" sz="2400" dirty="0" smtClean="0">
                <a:hlinkClick r:id="rId2"/>
              </a:rPr>
              <a:t>generative grammar</a:t>
            </a:r>
            <a:r>
              <a:rPr lang="en-US" sz="2400" dirty="0" smtClean="0"/>
              <a:t>, to understand the speaker's "mind/brain". While it's a direct way to access linguistic structure, it faces challenges as an empirical science due to its subjective nature. </a:t>
            </a:r>
          </a:p>
          <a:p>
            <a:pPr>
              <a:buNone/>
            </a:pPr>
            <a:endParaRPr lang="en-US" sz="2400" dirty="0" smtClean="0"/>
          </a:p>
          <a:p>
            <a:pPr>
              <a:buNone/>
            </a:pPr>
            <a:r>
              <a:rPr lang="en-US" altLang="en-US" b="1" dirty="0" smtClean="0">
                <a:latin typeface="Times New Roman" panose="02020603050405020304" charset="0"/>
                <a:cs typeface="Times New Roman" panose="02020603050405020304" charset="0"/>
              </a:rPr>
              <a:t>Empirical: Spoken/written data from native speakers:</a:t>
            </a:r>
            <a:r>
              <a:rPr lang="en-US" dirty="0" smtClean="0"/>
              <a:t> </a:t>
            </a:r>
          </a:p>
          <a:p>
            <a:pPr>
              <a:buNone/>
            </a:pPr>
            <a:r>
              <a:rPr lang="en-US" dirty="0" smtClean="0"/>
              <a:t>   </a:t>
            </a:r>
            <a:r>
              <a:rPr lang="en-US" sz="2400" dirty="0" smtClean="0"/>
              <a:t>Mandarin Chinese has the most native speakers in the world, with close to 940 million native speakers, primarily in China. This is followed by Spanish, with approximately 460 to 484 million native speakers, and then Hindi and English, which have around 345 to 375 million native speakers each. </a:t>
            </a:r>
            <a:endParaRPr lang="en-US" altLang="en-US" sz="2400" b="1" dirty="0" smtClean="0">
              <a:latin typeface="Times New Roman" panose="02020603050405020304" charset="0"/>
              <a:cs typeface="Times New Roman" panose="02020603050405020304" charset="0"/>
            </a:endParaRPr>
          </a:p>
          <a:p>
            <a:pPr>
              <a:buNone/>
            </a:pPr>
            <a:endParaRPr lang="en-US" altLang="en-US" b="1" dirty="0" smtClean="0">
              <a:latin typeface="Times New Roman" panose="02020603050405020304" charset="0"/>
              <a:cs typeface="Times New Roman" panose="02020603050405020304" charset="0"/>
            </a:endParaRPr>
          </a:p>
          <a:p>
            <a:pPr>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altLang="en-US" b="1" dirty="0" smtClean="0">
                <a:latin typeface="Times New Roman" panose="02020603050405020304" charset="0"/>
                <a:cs typeface="Times New Roman" panose="02020603050405020304" charset="0"/>
              </a:rPr>
              <a:t>Experimental: Psycholinguistic or </a:t>
            </a:r>
            <a:r>
              <a:rPr lang="en-US" altLang="en-US" b="1" dirty="0" err="1" smtClean="0">
                <a:latin typeface="Times New Roman" panose="02020603050405020304" charset="0"/>
                <a:cs typeface="Times New Roman" panose="02020603050405020304" charset="0"/>
              </a:rPr>
              <a:t>neurolinguistic</a:t>
            </a:r>
            <a:r>
              <a:rPr lang="en-US" altLang="en-US" b="1" dirty="0" smtClean="0">
                <a:latin typeface="Times New Roman" panose="02020603050405020304" charset="0"/>
                <a:cs typeface="Times New Roman" panose="02020603050405020304" charset="0"/>
              </a:rPr>
              <a:t> studies</a:t>
            </a:r>
            <a:endParaRPr lang="en-US" b="1" dirty="0" smtClean="0"/>
          </a:p>
          <a:p>
            <a:pPr>
              <a:buNone/>
            </a:pPr>
            <a:r>
              <a:rPr lang="en-US" dirty="0" smtClean="0"/>
              <a:t>   </a:t>
            </a:r>
            <a:r>
              <a:rPr lang="en-US" sz="2400" dirty="0" smtClean="0"/>
              <a:t>Experimental psycholinguistic studies use controlled experiments and reaction time measures to test models of language perception and production, while </a:t>
            </a:r>
            <a:r>
              <a:rPr lang="en-US" sz="2400" dirty="0" err="1" smtClean="0"/>
              <a:t>neurolinguistic</a:t>
            </a:r>
            <a:r>
              <a:rPr lang="en-US" sz="2400" dirty="0" smtClean="0"/>
              <a:t> studies combine psycholinguistic theories with brain imaging (like EEG/ERP, </a:t>
            </a:r>
            <a:r>
              <a:rPr lang="en-US" sz="2400" dirty="0" err="1" smtClean="0"/>
              <a:t>fMRI</a:t>
            </a:r>
            <a:r>
              <a:rPr lang="en-US" sz="2400" dirty="0" smtClean="0"/>
              <a:t>) and lesion studies to map language functions to specific brain regions and networks. Both fields are deeply intertwined, with </a:t>
            </a:r>
            <a:r>
              <a:rPr lang="en-US" sz="2400" dirty="0" err="1" smtClean="0"/>
              <a:t>neurolinguistics</a:t>
            </a:r>
            <a:r>
              <a:rPr lang="en-US" sz="2400" dirty="0" smtClean="0"/>
              <a:t> often validating psycholinguistic hypotheses by analyzing brain activity during language tasks. </a:t>
            </a:r>
          </a:p>
          <a:p>
            <a:pPr>
              <a:buNone/>
            </a:pPr>
            <a:endParaRPr lang="en-US" sz="2400" b="1" dirty="0" smtClean="0"/>
          </a:p>
          <a:p>
            <a:pPr>
              <a:buNone/>
            </a:pPr>
            <a:endParaRPr lang="en-US" sz="2400" dirty="0" smtClean="0"/>
          </a:p>
          <a:p>
            <a:pPr>
              <a:buNone/>
            </a:pPr>
            <a:endParaRPr lang="en-US" sz="2400" dirty="0" smtClean="0"/>
          </a:p>
          <a:p>
            <a:pPr>
              <a:buNone/>
            </a:pPr>
            <a:endParaRPr lang="en-US" sz="2400" dirty="0" smtClean="0"/>
          </a:p>
          <a:p>
            <a:pPr>
              <a:buNone/>
            </a:pP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algn="ctr">
              <a:buNone/>
            </a:pPr>
            <a:r>
              <a:rPr lang="en-US" altLang="en-US" b="1" dirty="0" smtClean="0">
                <a:latin typeface="Times New Roman" panose="02020603050405020304" charset="0"/>
                <a:cs typeface="Times New Roman" panose="02020603050405020304" charset="0"/>
              </a:rPr>
              <a:t>3.Core Theories in Linguistics:</a:t>
            </a:r>
          </a:p>
          <a:p>
            <a:pPr>
              <a:buNone/>
            </a:pPr>
            <a:r>
              <a:rPr lang="en-US" dirty="0" smtClean="0"/>
              <a:t>    The three core theoretical approaches to understanding language, particularly language acquisition, are the </a:t>
            </a:r>
            <a:r>
              <a:rPr lang="en-US" dirty="0" err="1" smtClean="0"/>
              <a:t>Nativist</a:t>
            </a:r>
            <a:r>
              <a:rPr lang="en-US" dirty="0" smtClean="0"/>
              <a:t> theory, which posits an innate language capacity; the Learning (Behaviorist) theory, which emphasizes imitation and conditioning; and the Social </a:t>
            </a:r>
            <a:r>
              <a:rPr lang="en-US" dirty="0" err="1" smtClean="0"/>
              <a:t>Interactionist</a:t>
            </a:r>
            <a:r>
              <a:rPr lang="en-US" dirty="0" smtClean="0"/>
              <a:t> theory, which highlights the role of social context and interaction. Other key areas within theoretical linguistics, focusing on the structure and rules of language itself, include phonology (sound systems), morphology (word structure), syntax (sentence structure), and semantics (meaning)</a:t>
            </a:r>
            <a:endParaRPr lang="en-US" altLang="en-US" b="1" dirty="0" smtClean="0">
              <a:latin typeface="Times New Roman" panose="02020603050405020304" charset="0"/>
              <a:cs typeface="Times New Roman" panose="02020603050405020304" charset="0"/>
            </a:endParaRPr>
          </a:p>
          <a:p>
            <a:pPr algn="just">
              <a:buNone/>
            </a:pPr>
            <a:endParaRPr lang="en-US" altLang="en-US" b="1" dirty="0" smtClean="0">
              <a:latin typeface="Times New Roman" panose="02020603050405020304" charset="0"/>
              <a:cs typeface="Times New Roman" panose="02020603050405020304" charset="0"/>
            </a:endParaRPr>
          </a:p>
          <a:p>
            <a:pPr marL="0" indent="0" algn="just">
              <a:buNone/>
            </a:pPr>
            <a:r>
              <a:rPr lang="en-US" altLang="en-US" b="1" dirty="0" smtClean="0">
                <a:latin typeface="Times New Roman" panose="02020603050405020304" charset="0"/>
                <a:cs typeface="Times New Roman" panose="02020603050405020304" charset="0"/>
              </a:rPr>
              <a:t>Structuralism (Saussure, Bloomfield):</a:t>
            </a:r>
          </a:p>
          <a:p>
            <a:pPr algn="just"/>
            <a:r>
              <a:rPr lang="en-US" altLang="en-US" dirty="0" smtClean="0">
                <a:latin typeface="Times New Roman" panose="02020603050405020304" charset="0"/>
                <a:cs typeface="Times New Roman" panose="02020603050405020304" charset="0"/>
              </a:rPr>
              <a:t>Language as a system of signs</a:t>
            </a:r>
          </a:p>
          <a:p>
            <a:pPr algn="just"/>
            <a:r>
              <a:rPr lang="en-US" altLang="en-US" dirty="0" smtClean="0">
                <a:latin typeface="Times New Roman" panose="02020603050405020304" charset="0"/>
                <a:cs typeface="Times New Roman" panose="02020603050405020304" charset="0"/>
              </a:rPr>
              <a:t>Importance of structure over meaning</a:t>
            </a:r>
          </a:p>
          <a:p>
            <a:pPr algn="just"/>
            <a:r>
              <a:rPr lang="en-US" altLang="en-US" dirty="0" smtClean="0">
                <a:latin typeface="Times New Roman" panose="02020603050405020304" charset="0"/>
                <a:cs typeface="Times New Roman" panose="02020603050405020304" charset="0"/>
              </a:rPr>
              <a:t>Language = langue (system) </a:t>
            </a:r>
            <a:r>
              <a:rPr lang="en-US" altLang="en-US" dirty="0" err="1" smtClean="0">
                <a:latin typeface="Times New Roman" panose="02020603050405020304" charset="0"/>
                <a:cs typeface="Times New Roman" panose="02020603050405020304" charset="0"/>
              </a:rPr>
              <a:t>vs</a:t>
            </a:r>
            <a:r>
              <a:rPr lang="en-US" altLang="en-US" dirty="0" smtClean="0">
                <a:latin typeface="Times New Roman" panose="02020603050405020304" charset="0"/>
                <a:cs typeface="Times New Roman" panose="02020603050405020304" charset="0"/>
              </a:rPr>
              <a:t> parole (speech)</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altLang="en-US" b="1" dirty="0" smtClean="0">
                <a:latin typeface="Times New Roman" panose="02020603050405020304" charset="0"/>
                <a:cs typeface="Times New Roman" panose="02020603050405020304" charset="0"/>
              </a:rPr>
              <a:t>Language as a system of signs:</a:t>
            </a:r>
          </a:p>
          <a:p>
            <a:pPr>
              <a:buNone/>
            </a:pPr>
            <a:r>
              <a:rPr lang="en-US" dirty="0" smtClean="0">
                <a:latin typeface="Times New Roman" panose="02020603050405020304" charset="0"/>
                <a:cs typeface="Times New Roman" panose="02020603050405020304" charset="0"/>
              </a:rPr>
              <a:t>   </a:t>
            </a:r>
            <a:r>
              <a:rPr lang="en-US" sz="2400" dirty="0" smtClean="0"/>
              <a:t>Language is a system of signs because its meaning comes from the structured relationships between arbitrary signs, rather than from inherent connections to reality, according to </a:t>
            </a:r>
            <a:r>
              <a:rPr lang="en-US" sz="2400" dirty="0" smtClean="0">
                <a:hlinkClick r:id="rId2"/>
              </a:rPr>
              <a:t>Swiss linguist Ferdinand de Saussure</a:t>
            </a:r>
            <a:r>
              <a:rPr lang="en-US" sz="2400" dirty="0" smtClean="0"/>
              <a:t>. Each linguistic sign consists of a signifier (the sound-image or form) and a signified (the concept it represents), with their connection being arbitrary and established through their contrast with other signs within the language system. This perspective, central to the field of semiotics or </a:t>
            </a:r>
            <a:r>
              <a:rPr lang="en-US" sz="2400" dirty="0" err="1" smtClean="0"/>
              <a:t>semiology</a:t>
            </a:r>
            <a:r>
              <a:rPr lang="en-US" sz="2400" dirty="0" smtClean="0"/>
              <a:t>, views language as an autonomous, self-contained structure that can be studied independently.</a:t>
            </a:r>
          </a:p>
          <a:p>
            <a:pPr>
              <a:buNone/>
            </a:pPr>
            <a:endParaRPr lang="en-US" sz="2400" dirty="0" smtClean="0"/>
          </a:p>
          <a:p>
            <a:pPr>
              <a:buNone/>
            </a:pPr>
            <a:r>
              <a:rPr lang="en-US" altLang="en-US" sz="2400" b="1" dirty="0" smtClean="0">
                <a:latin typeface="Times New Roman" panose="02020603050405020304" charset="0"/>
                <a:cs typeface="Times New Roman" panose="02020603050405020304" charset="0"/>
              </a:rPr>
              <a:t>Importance of structure over meaning:</a:t>
            </a:r>
          </a:p>
          <a:p>
            <a:r>
              <a:rPr lang="en-US" sz="2400" dirty="0" smtClean="0"/>
              <a:t>The structure also makes operations more efficient and much more effective. The company can seamlessly perform different operations at once by separating employees and functions into separate departments. A very clear organizational structure also informs employees on how best to get their jobs done.</a:t>
            </a:r>
            <a:endParaRPr lang="en-US" altLang="en-US" sz="2400" b="1" dirty="0" smtClean="0">
              <a:latin typeface="Times New Roman" panose="02020603050405020304" charset="0"/>
              <a:cs typeface="Times New Roman" panose="02020603050405020304" charset="0"/>
            </a:endParaRPr>
          </a:p>
          <a:p>
            <a:pPr>
              <a:buNone/>
            </a:pPr>
            <a:endParaRPr lang="en-US" sz="2400" dirty="0" smtClean="0"/>
          </a:p>
          <a:p>
            <a:pPr>
              <a:buNone/>
            </a:pPr>
            <a:endParaRPr lang="en-US" sz="2400" dirty="0" smtClean="0"/>
          </a:p>
          <a:p>
            <a:pPr>
              <a:buNone/>
            </a:pPr>
            <a:endParaRPr lang="en-US" altLang="en-US" sz="2400" dirty="0" smtClean="0">
              <a:latin typeface="Times New Roman" panose="02020603050405020304" charset="0"/>
              <a:cs typeface="Times New Roman" panose="02020603050405020304" charset="0"/>
            </a:endParaRPr>
          </a:p>
          <a:p>
            <a:pPr>
              <a:buNone/>
            </a:pP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altLang="en-US" b="1" dirty="0" smtClean="0">
                <a:latin typeface="Times New Roman" panose="02020603050405020304" charset="0"/>
                <a:cs typeface="Times New Roman" panose="02020603050405020304" charset="0"/>
              </a:rPr>
              <a:t>Language = langue (system) </a:t>
            </a:r>
            <a:r>
              <a:rPr lang="en-US" altLang="en-US" b="1" dirty="0" err="1" smtClean="0">
                <a:latin typeface="Times New Roman" panose="02020603050405020304" charset="0"/>
                <a:cs typeface="Times New Roman" panose="02020603050405020304" charset="0"/>
              </a:rPr>
              <a:t>vs</a:t>
            </a:r>
            <a:r>
              <a:rPr lang="en-US" altLang="en-US" b="1" dirty="0" smtClean="0">
                <a:latin typeface="Times New Roman" panose="02020603050405020304" charset="0"/>
                <a:cs typeface="Times New Roman" panose="02020603050405020304" charset="0"/>
              </a:rPr>
              <a:t> parole (speech)</a:t>
            </a:r>
          </a:p>
          <a:p>
            <a:pPr>
              <a:buNone/>
            </a:pPr>
            <a:r>
              <a:rPr lang="en-US" sz="2400" dirty="0" smtClean="0"/>
              <a:t>   In linguistic theory by Ferdinand de Saussure, langue is the abstract, social system of a language's rules and conventions, while parole is the concrete, individual act of using that language through speech or writing. Langue is the collective, universal structure that allows communication to happen, existing independently of any single speaker, whereas parole is the unique, personal realization of that system, influenced by individual factors and context.</a:t>
            </a:r>
            <a:r>
              <a:rPr lang="en-US" dirty="0" smtClean="0"/>
              <a:t> </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200" y="-635"/>
            <a:ext cx="5150485" cy="1562100"/>
          </a:xfrm>
        </p:spPr>
        <p:txBody>
          <a:bodyPr/>
          <a:lstStyle/>
          <a:p>
            <a:r>
              <a:rPr lang="en-US" altLang="en-US" sz="2400" b="1" dirty="0">
                <a:latin typeface="Times New Roman" panose="02020603050405020304" charset="0"/>
                <a:cs typeface="Times New Roman" panose="02020603050405020304" charset="0"/>
                <a:sym typeface="+mn-ea"/>
              </a:rPr>
              <a:t>Generative Grammar (Chomsky):</a:t>
            </a:r>
            <a:endParaRPr lang="en-US" altLang="en-US" sz="2400" b="1" dirty="0">
              <a:latin typeface="Times New Roman" panose="02020603050405020304" charset="0"/>
              <a:cs typeface="Times New Roman" panose="02020603050405020304" charset="0"/>
            </a:endParaRPr>
          </a:p>
          <a:p>
            <a:pPr marL="0" indent="0" algn="just">
              <a:buNone/>
            </a:pPr>
            <a:r>
              <a:rPr lang="en-US" altLang="en-US" sz="2000" dirty="0"/>
              <a:t>Competence (knowledge of language)</a:t>
            </a:r>
          </a:p>
          <a:p>
            <a:pPr marL="0" indent="0" algn="just">
              <a:buNone/>
            </a:pPr>
            <a:r>
              <a:rPr lang="en-US" altLang="en-US" sz="2000" dirty="0"/>
              <a:t>Performance (use of language in real situations)</a:t>
            </a:r>
          </a:p>
          <a:p>
            <a:pPr marL="0" indent="0">
              <a:buNone/>
            </a:pPr>
            <a:endParaRPr lang="en-US" altLang="en-US" sz="2000" dirty="0"/>
          </a:p>
        </p:txBody>
      </p:sp>
      <p:sp>
        <p:nvSpPr>
          <p:cNvPr id="4" name="Text Box 3"/>
          <p:cNvSpPr txBox="1"/>
          <p:nvPr/>
        </p:nvSpPr>
        <p:spPr>
          <a:xfrm>
            <a:off x="5353050" y="-635"/>
            <a:ext cx="6468110" cy="1705610"/>
          </a:xfrm>
          <a:prstGeom prst="rect">
            <a:avLst/>
          </a:prstGeom>
          <a:noFill/>
        </p:spPr>
        <p:txBody>
          <a:bodyPr wrap="square" rtlCol="0">
            <a:noAutofit/>
          </a:bodyPr>
          <a:lstStyle/>
          <a:p>
            <a:pPr algn="just"/>
            <a:r>
              <a:rPr lang="en-US" altLang="en-US" sz="2400" b="1" dirty="0"/>
              <a:t>Cognitive Linguistics:</a:t>
            </a:r>
          </a:p>
          <a:p>
            <a:pPr algn="just"/>
            <a:r>
              <a:rPr lang="en-US" altLang="en-US" sz="2000" dirty="0"/>
              <a:t>Language is part of general cognition</a:t>
            </a:r>
          </a:p>
          <a:p>
            <a:pPr algn="just"/>
            <a:endParaRPr lang="en-US" altLang="en-US" sz="2000" dirty="0"/>
          </a:p>
          <a:p>
            <a:pPr algn="just"/>
            <a:r>
              <a:rPr lang="en-US" altLang="en-US" sz="2000" dirty="0"/>
              <a:t>Meaning is shaped by conceptual metaphors and mental schemas</a:t>
            </a:r>
          </a:p>
        </p:txBody>
      </p:sp>
      <p:sp>
        <p:nvSpPr>
          <p:cNvPr id="5" name="Text Box 4"/>
          <p:cNvSpPr txBox="1"/>
          <p:nvPr/>
        </p:nvSpPr>
        <p:spPr>
          <a:xfrm>
            <a:off x="0" y="1640205"/>
            <a:ext cx="12088495" cy="5218430"/>
          </a:xfrm>
          <a:prstGeom prst="rect">
            <a:avLst/>
          </a:prstGeom>
          <a:noFill/>
        </p:spPr>
        <p:txBody>
          <a:bodyPr wrap="square" rtlCol="0">
            <a:noAutofit/>
          </a:bodyPr>
          <a:lstStyle/>
          <a:p>
            <a:r>
              <a:rPr lang="en-US" altLang="en-US" sz="2400" b="1" dirty="0" smtClean="0"/>
              <a:t>4</a:t>
            </a:r>
            <a:r>
              <a:rPr lang="en-US" altLang="en-US" sz="2400" b="1" dirty="0"/>
              <a:t>. Language and the Mind (Psycholinguistics &amp; </a:t>
            </a:r>
            <a:r>
              <a:rPr lang="en-US" altLang="en-US" sz="2400" b="1" dirty="0" err="1"/>
              <a:t>Neurolinguistics</a:t>
            </a:r>
            <a:r>
              <a:rPr lang="en-US" altLang="en-US" sz="2400" dirty="0" smtClean="0"/>
              <a:t>)</a:t>
            </a:r>
          </a:p>
          <a:p>
            <a:endParaRPr lang="en-US" altLang="en-US" sz="2400" dirty="0"/>
          </a:p>
          <a:p>
            <a:r>
              <a:rPr lang="en-US" altLang="en-US" sz="2400" dirty="0"/>
              <a:t> </a:t>
            </a:r>
            <a:r>
              <a:rPr lang="en-US" altLang="en-US" sz="2400" b="1" dirty="0"/>
              <a:t>How the Brain Processes Language:</a:t>
            </a:r>
            <a:endParaRPr lang="en-US" altLang="en-US" sz="2400" dirty="0"/>
          </a:p>
          <a:p>
            <a:r>
              <a:rPr lang="en-US" altLang="en-US" sz="2400" dirty="0"/>
              <a:t>Key brain regions: </a:t>
            </a:r>
            <a:r>
              <a:rPr lang="en-US" altLang="en-US" sz="2400" dirty="0" err="1"/>
              <a:t>Broca’s</a:t>
            </a:r>
            <a:r>
              <a:rPr lang="en-US" altLang="en-US" sz="2400" dirty="0"/>
              <a:t> Area, </a:t>
            </a:r>
            <a:r>
              <a:rPr lang="en-US" altLang="en-US" sz="2400" dirty="0" err="1"/>
              <a:t>Wernicke’s</a:t>
            </a:r>
            <a:r>
              <a:rPr lang="en-US" altLang="en-US" sz="2400" dirty="0"/>
              <a:t> Area Studies on aphasia (language disorders) show modular nature of language in the </a:t>
            </a:r>
            <a:r>
              <a:rPr lang="en-US" altLang="en-US" sz="2400" dirty="0" smtClean="0"/>
              <a:t>brain</a:t>
            </a:r>
            <a:endParaRPr lang="en-US" altLang="en-US" sz="2400" dirty="0"/>
          </a:p>
          <a:p>
            <a:r>
              <a:rPr lang="en-US" altLang="en-US" sz="2400" b="1" dirty="0"/>
              <a:t>Language and Thought:</a:t>
            </a:r>
          </a:p>
          <a:p>
            <a:r>
              <a:rPr lang="en-US" altLang="en-US" sz="2400" dirty="0"/>
              <a:t>Sapir-Whorf Hypothesis:</a:t>
            </a:r>
          </a:p>
          <a:p>
            <a:r>
              <a:rPr lang="en-US" altLang="en-US" sz="2400" dirty="0"/>
              <a:t>Language influences thought (linguistic relativity) Strong version (language determines thought) is less </a:t>
            </a:r>
            <a:r>
              <a:rPr lang="en-US" altLang="en-US" sz="2400" dirty="0" smtClean="0"/>
              <a:t>accepted</a:t>
            </a:r>
          </a:p>
          <a:p>
            <a:endParaRPr lang="en-US" altLang="en-US" sz="2400" dirty="0" smtClean="0"/>
          </a:p>
          <a:p>
            <a:r>
              <a:rPr lang="en-US" altLang="en-US" sz="2400" b="1" dirty="0" smtClean="0"/>
              <a:t>Psycholinguistics:</a:t>
            </a:r>
            <a:r>
              <a:rPr lang="en-IN" sz="2400" dirty="0" smtClean="0"/>
              <a:t> Psycholinguistics is a field that combines methods and theories from psychology and linguistics to derive a fuller understanding of human language. From psychology, it inherits experimental methodology and a body of knowledge about processes in perception, memory, attention, learning, and problem-solving.</a:t>
            </a:r>
            <a:endParaRPr lang="en-US" altLang="en-US" sz="2400" dirty="0"/>
          </a:p>
          <a:p>
            <a:endParaRPr lang="en-US" altLang="en-US" sz="2400" dirty="0"/>
          </a:p>
          <a:p>
            <a:endParaRPr lang="en-US" alt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endParaRPr lang="en-US" altLang="en-US" sz="2400" dirty="0" smtClean="0"/>
          </a:p>
          <a:p>
            <a:pPr>
              <a:buNone/>
            </a:pPr>
            <a:r>
              <a:rPr lang="en-US" altLang="en-US" sz="2400" b="1" dirty="0" err="1" smtClean="0"/>
              <a:t>Neurolinguistics</a:t>
            </a:r>
            <a:r>
              <a:rPr lang="en-US" altLang="en-US" sz="2400" b="1" dirty="0" smtClean="0"/>
              <a:t>:</a:t>
            </a:r>
            <a:endParaRPr lang="en-IN" sz="2400" dirty="0" smtClean="0"/>
          </a:p>
          <a:p>
            <a:r>
              <a:rPr lang="en-IN" sz="2400" dirty="0" err="1" smtClean="0"/>
              <a:t>Neurolinguistics</a:t>
            </a:r>
            <a:r>
              <a:rPr lang="en-IN" sz="2400" dirty="0" smtClean="0"/>
              <a:t> is the field of study that examines the connection between the brain and language. It focuses on understanding how the brain processes and produces language, particularly when there is damage or impairment in these functions.</a:t>
            </a:r>
            <a:endParaRPr lang="en-US" altLang="en-US" sz="2400" b="1" dirty="0" smtClean="0">
              <a:sym typeface="+mn-ea"/>
            </a:endParaRPr>
          </a:p>
          <a:p>
            <a:pPr>
              <a:buNone/>
            </a:pPr>
            <a:endParaRPr lang="en-US" altLang="en-US" sz="2400" b="1" dirty="0" smtClean="0">
              <a:sym typeface="+mn-ea"/>
            </a:endParaRPr>
          </a:p>
          <a:p>
            <a:pPr>
              <a:buNone/>
            </a:pPr>
            <a:endParaRPr lang="en-US" altLang="en-US" sz="2400" b="1" dirty="0" smtClean="0">
              <a:sym typeface="+mn-ea"/>
            </a:endParaRPr>
          </a:p>
          <a:p>
            <a:pPr>
              <a:buNone/>
            </a:pPr>
            <a:r>
              <a:rPr lang="en-US" altLang="en-US" sz="2400" b="1" dirty="0" smtClean="0">
                <a:sym typeface="+mn-ea"/>
              </a:rPr>
              <a:t>5. Tools and Techniques in Linguistic Research</a:t>
            </a:r>
            <a:endParaRPr lang="en-US" altLang="en-US" sz="2400" b="1" dirty="0" smtClean="0"/>
          </a:p>
          <a:p>
            <a:pPr>
              <a:buNone/>
            </a:pPr>
            <a:r>
              <a:rPr lang="en-US" altLang="en-US" sz="2400" dirty="0" smtClean="0">
                <a:sym typeface="+mn-ea"/>
              </a:rPr>
              <a:t>➤</a:t>
            </a:r>
            <a:r>
              <a:rPr lang="en-US" altLang="en-US" dirty="0" smtClean="0">
                <a:sym typeface="+mn-ea"/>
              </a:rPr>
              <a:t> Phonetic Tools:</a:t>
            </a:r>
          </a:p>
          <a:p>
            <a:r>
              <a:rPr lang="en-US" altLang="en-US" dirty="0" smtClean="0">
                <a:sym typeface="+mn-ea"/>
              </a:rPr>
              <a:t>IPA (International Phonetic Alphabet): Represents speech sounds </a:t>
            </a:r>
            <a:r>
              <a:rPr lang="en-US" altLang="en-US" dirty="0" err="1" smtClean="0">
                <a:sym typeface="+mn-ea"/>
              </a:rPr>
              <a:t>Praat</a:t>
            </a:r>
            <a:r>
              <a:rPr lang="en-US" altLang="en-US" dirty="0" smtClean="0">
                <a:sym typeface="+mn-ea"/>
              </a:rPr>
              <a:t> software: Analyzing audio and pitch</a:t>
            </a:r>
            <a:endParaRPr lang="en-US" altLang="en-US" dirty="0" smtClean="0"/>
          </a:p>
          <a:p>
            <a:endParaRPr lang="en-US" altLang="en-US" dirty="0" smtClean="0"/>
          </a:p>
          <a:p>
            <a:pPr>
              <a:buNone/>
            </a:pPr>
            <a:r>
              <a:rPr lang="en-US" altLang="en-US" dirty="0" smtClean="0">
                <a:sym typeface="+mn-ea"/>
              </a:rPr>
              <a:t>➤ Syntactic Tools:</a:t>
            </a:r>
            <a:endParaRPr lang="en-US" altLang="en-US" dirty="0" smtClean="0"/>
          </a:p>
          <a:p>
            <a:r>
              <a:rPr lang="en-US" altLang="en-US" dirty="0" smtClean="0">
                <a:sym typeface="+mn-ea"/>
              </a:rPr>
              <a:t>Syntax trees: Visualize sentence structure (constituents and phrases)</a:t>
            </a:r>
            <a:endParaRPr lang="en-US" altLang="en-US" dirty="0" smtClean="0"/>
          </a:p>
          <a:p>
            <a:endParaRPr lang="en-I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 y="-635"/>
            <a:ext cx="5849620" cy="6859270"/>
          </a:xfrm>
        </p:spPr>
        <p:txBody>
          <a:bodyPr>
            <a:noAutofit/>
          </a:bodyPr>
          <a:lstStyle/>
          <a:p>
            <a:r>
              <a:rPr lang="en-US" altLang="en-US" sz="2400" b="1"/>
              <a:t>6. Indian Contributions to Scientific Linguistics</a:t>
            </a:r>
          </a:p>
          <a:p>
            <a:r>
              <a:rPr lang="en-US" altLang="en-US" sz="1800"/>
              <a:t>➤ </a:t>
            </a:r>
            <a:r>
              <a:rPr lang="en-US" altLang="en-US" sz="2000"/>
              <a:t>Pāṇini's Aṣṭādhyāyī (~500 BCE):</a:t>
            </a:r>
          </a:p>
          <a:p>
            <a:r>
              <a:rPr lang="en-US" altLang="en-US" sz="2000"/>
              <a:t>One of the earliest and most complete formal grammars</a:t>
            </a:r>
          </a:p>
          <a:p>
            <a:r>
              <a:rPr lang="en-US" altLang="en-US" sz="2000"/>
              <a:t>4000+ concise rules (sūtras) governing Sanskrit</a:t>
            </a:r>
          </a:p>
          <a:p>
            <a:r>
              <a:rPr lang="en-US" altLang="en-US" sz="2000"/>
              <a:t>Based on:</a:t>
            </a:r>
          </a:p>
          <a:p>
            <a:r>
              <a:rPr lang="en-US" altLang="en-US" sz="2000"/>
              <a:t>Dhātu (root)</a:t>
            </a:r>
          </a:p>
          <a:p>
            <a:r>
              <a:rPr lang="en-US" altLang="en-US" sz="2000"/>
              <a:t>Pratyaya (suffix)</a:t>
            </a:r>
          </a:p>
          <a:p>
            <a:r>
              <a:rPr lang="en-US" altLang="en-US" sz="2000"/>
              <a:t>Sandhi (phonological rules)</a:t>
            </a:r>
          </a:p>
          <a:p>
            <a:r>
              <a:rPr lang="en-US" altLang="en-US" sz="2000"/>
              <a:t>Uses meta-rules (Paribhāṣā) and rule-ordering</a:t>
            </a:r>
          </a:p>
          <a:p>
            <a:r>
              <a:rPr lang="en-US" altLang="en-US" sz="2400" b="1"/>
              <a:t>Scientific Nature of Pāṇini's Grammar:</a:t>
            </a:r>
          </a:p>
          <a:p>
            <a:r>
              <a:rPr lang="en-US" altLang="en-US" sz="2000"/>
              <a:t>Comparable to modern formal language theory</a:t>
            </a:r>
          </a:p>
          <a:p>
            <a:r>
              <a:rPr lang="en-US" altLang="en-US" sz="2000"/>
              <a:t>Rule-based, generative, and complete</a:t>
            </a:r>
          </a:p>
          <a:p>
            <a:r>
              <a:rPr lang="en-US" altLang="en-US" sz="2000"/>
              <a:t>Influenced 20th-century linguists like Frits Staal and Noam Chomsky</a:t>
            </a:r>
          </a:p>
        </p:txBody>
      </p:sp>
      <p:sp>
        <p:nvSpPr>
          <p:cNvPr id="4" name="Text Box 3"/>
          <p:cNvSpPr txBox="1"/>
          <p:nvPr/>
        </p:nvSpPr>
        <p:spPr>
          <a:xfrm>
            <a:off x="5720080" y="114300"/>
            <a:ext cx="6471285" cy="6743065"/>
          </a:xfrm>
          <a:prstGeom prst="rect">
            <a:avLst/>
          </a:prstGeom>
          <a:noFill/>
        </p:spPr>
        <p:txBody>
          <a:bodyPr wrap="square" rtlCol="0">
            <a:noAutofit/>
          </a:bodyPr>
          <a:lstStyle/>
          <a:p>
            <a:r>
              <a:rPr lang="en-US" altLang="en-US" sz="2400" b="1"/>
              <a:t>7. Linguistics and Interdisciplinary Science</a:t>
            </a:r>
          </a:p>
          <a:p>
            <a:r>
              <a:rPr lang="en-US" altLang="en-US" sz="2000"/>
              <a:t>➤</a:t>
            </a:r>
            <a:r>
              <a:rPr lang="en-US" altLang="en-US" sz="2400"/>
              <a:t> Artificial Intelligence &amp; NLP:</a:t>
            </a:r>
          </a:p>
          <a:p>
            <a:r>
              <a:rPr lang="en-US" altLang="en-US" sz="2400"/>
              <a:t>Speech recognition, chatbots, machine translation</a:t>
            </a:r>
          </a:p>
          <a:p>
            <a:r>
              <a:rPr lang="en-US" altLang="en-US" sz="2400"/>
              <a:t>Syntax trees and semantic analysis applied in AI</a:t>
            </a:r>
          </a:p>
          <a:p>
            <a:endParaRPr lang="en-US" altLang="en-US" sz="2400"/>
          </a:p>
          <a:p>
            <a:r>
              <a:rPr lang="en-US" altLang="en-US" sz="2400"/>
              <a:t>➤ Language and Evolution:</a:t>
            </a:r>
          </a:p>
          <a:p>
            <a:r>
              <a:rPr lang="en-US" altLang="en-US" sz="2400"/>
              <a:t>Comparative studies of human and animal communication</a:t>
            </a:r>
          </a:p>
          <a:p>
            <a:r>
              <a:rPr lang="en-US" altLang="en-US" sz="2400"/>
              <a:t>Evolution of the FOXP2 gene and language capacity</a:t>
            </a:r>
          </a:p>
          <a:p>
            <a:endParaRPr lang="en-US" altLang="en-US" sz="2400"/>
          </a:p>
          <a:p>
            <a:r>
              <a:rPr lang="en-US" altLang="en-US" sz="2400"/>
              <a:t>➤ Language and Education:</a:t>
            </a:r>
          </a:p>
          <a:p>
            <a:r>
              <a:rPr lang="en-US" altLang="en-US" sz="2400"/>
              <a:t>Applications in literacy development, bilingual education, dyslexia diagnosis</a:t>
            </a:r>
          </a:p>
          <a:p>
            <a:endParaRPr lang="en-US" altLang="en-US" sz="2400"/>
          </a:p>
          <a:p>
            <a:r>
              <a:rPr lang="en-US" altLang="en-US" sz="2400"/>
              <a:t>➤ </a:t>
            </a:r>
            <a:r>
              <a:rPr lang="en-US" altLang="en-US" sz="2000"/>
              <a:t>Language and Data Science:</a:t>
            </a:r>
          </a:p>
          <a:p>
            <a:r>
              <a:rPr lang="en-US" altLang="en-US" sz="2000"/>
              <a:t>Text mining, sentiment analysis, chatbots</a:t>
            </a:r>
          </a:p>
          <a:p>
            <a:r>
              <a:rPr lang="en-US" altLang="en-US" sz="2000"/>
              <a:t>Language models (e.g., GPT) are built on linguistic principles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TotalTime>
  <Words>3278</Words>
  <Application>WPS Presentation</Application>
  <PresentationFormat>Custom</PresentationFormat>
  <Paragraphs>243</Paragraphs>
  <Slides>41</Slides>
  <Notes>0</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Indian Philosophical System Introduction to Vedas</vt:lpstr>
      <vt:lpstr>Slide 2</vt:lpstr>
      <vt:lpstr>Slide 3</vt:lpstr>
      <vt:lpstr>Slide 4</vt:lpstr>
      <vt:lpstr>The Four Vedas</vt:lpstr>
      <vt:lpstr>The Four divisions of each Veda</vt:lpstr>
      <vt:lpstr>Slide 7</vt:lpstr>
      <vt:lpstr>Vedic Life: Distinctive Features</vt:lpstr>
      <vt:lpstr>Slide 9</vt:lpstr>
      <vt:lpstr>Indian Philosophical System</vt:lpstr>
      <vt:lpstr>Slide 11</vt:lpstr>
      <vt:lpstr>Slide 12</vt:lpstr>
      <vt:lpstr>Slide 13</vt:lpstr>
      <vt:lpstr>Slide 14</vt:lpstr>
      <vt:lpstr>Slide 15</vt:lpstr>
      <vt:lpstr>Slide 16</vt:lpstr>
      <vt:lpstr>Slide 17</vt:lpstr>
      <vt:lpstr>Slide 18</vt:lpstr>
      <vt:lpstr>Yoga (Patanjali):</vt:lpstr>
      <vt:lpstr>Slide 20</vt:lpstr>
      <vt:lpstr>Slide 21</vt:lpstr>
      <vt:lpstr>Slide 22</vt:lpstr>
      <vt:lpstr>Slide 23</vt:lpstr>
      <vt:lpstr>Slide 24</vt:lpstr>
      <vt:lpstr>Unit:- 4</vt:lpstr>
      <vt:lpstr>Scientific Foundations in Linguistics </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1.What Is Linguistics as a Science?</dc:title>
  <dc:creator/>
  <cp:lastModifiedBy>Admin</cp:lastModifiedBy>
  <cp:revision>73</cp:revision>
  <dcterms:created xsi:type="dcterms:W3CDTF">2025-07-24T09:13:00Z</dcterms:created>
  <dcterms:modified xsi:type="dcterms:W3CDTF">2025-09-20T09:56:42Z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504DE97E56CF47E1BC546E3A210757CF_11</vt:lpwstr>
  </property>
  <property fmtid="{D5CDD505-2E9C-101B-9397-08002B2CF9AE}" pid="3" name="KSOProductBuildVer">
    <vt:lpwstr>1033-12.2.0.21931</vt:lpwstr>
  </property>
</Properties>
</file>