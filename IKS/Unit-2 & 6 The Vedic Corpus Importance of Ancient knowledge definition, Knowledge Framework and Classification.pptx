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69620"/>
          </a:xfrm>
        </p:spPr>
        <p:txBody>
          <a:bodyPr>
            <a:normAutofit/>
          </a:bodyPr>
          <a:lstStyle/>
          <a:p>
            <a:r>
              <a:rPr lang="en-US" altLang="en-US" sz="3200" dirty="0"/>
              <a:t>The Vedic Corpus Importance of Ancient knowledge definition</a:t>
            </a:r>
          </a:p>
        </p:txBody>
      </p:sp>
      <p:sp>
        <p:nvSpPr>
          <p:cNvPr id="3" name="Subtitle 2"/>
          <p:cNvSpPr>
            <a:spLocks noGrp="1"/>
          </p:cNvSpPr>
          <p:nvPr>
            <p:ph type="subTitle" idx="1"/>
          </p:nvPr>
        </p:nvSpPr>
        <p:spPr>
          <a:xfrm>
            <a:off x="0" y="963930"/>
            <a:ext cx="12192000" cy="5894070"/>
          </a:xfrm>
        </p:spPr>
        <p:txBody>
          <a:bodyPr/>
          <a:lstStyle/>
          <a:p>
            <a:endParaRPr lang="en-US"/>
          </a:p>
          <a:p>
            <a:endParaRPr lang="en-US"/>
          </a:p>
        </p:txBody>
      </p:sp>
      <p:pic>
        <p:nvPicPr>
          <p:cNvPr id="4" name="Picture 3"/>
          <p:cNvPicPr>
            <a:picLocks noChangeAspect="1"/>
          </p:cNvPicPr>
          <p:nvPr/>
        </p:nvPicPr>
        <p:blipFill>
          <a:blip r:embed="rId2"/>
          <a:stretch>
            <a:fillRect/>
          </a:stretch>
        </p:blipFill>
        <p:spPr>
          <a:xfrm>
            <a:off x="-635" y="982980"/>
            <a:ext cx="12192000" cy="5875020"/>
          </a:xfrm>
          <a:prstGeom prst="rect">
            <a:avLst/>
          </a:prstGeom>
        </p:spPr>
      </p:pic>
      <p:sp>
        <p:nvSpPr>
          <p:cNvPr id="5" name="Text Box 4"/>
          <p:cNvSpPr txBox="1"/>
          <p:nvPr/>
        </p:nvSpPr>
        <p:spPr>
          <a:xfrm>
            <a:off x="0" y="4234815"/>
            <a:ext cx="12191365" cy="2622550"/>
          </a:xfrm>
          <a:prstGeom prst="rect">
            <a:avLst/>
          </a:prstGeom>
          <a:noFill/>
        </p:spPr>
        <p:txBody>
          <a:bodyPr wrap="square" rtlCol="0">
            <a:noAutofit/>
          </a:bodyPr>
          <a:lstStyle/>
          <a:p>
            <a:pPr algn="just"/>
            <a:endParaRPr lang="en-US" sz="28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3905"/>
            <a:ext cx="12192635" cy="6094095"/>
          </a:xfrm>
        </p:spPr>
        <p:txBody>
          <a:bodyPr>
            <a:normAutofit/>
          </a:bodyPr>
          <a:lstStyle/>
          <a:p>
            <a:pPr algn="just"/>
            <a:endParaRPr lang="en-US" altLang="en-US" dirty="0">
              <a:latin typeface="Times New Roman" panose="02020603050405020304" charset="0"/>
              <a:cs typeface="Times New Roman" panose="02020603050405020304" charset="0"/>
              <a:sym typeface="+mn-ea"/>
            </a:endParaRPr>
          </a:p>
          <a:p>
            <a:pPr marL="0" indent="0" algn="just">
              <a:buNone/>
            </a:pPr>
            <a:r>
              <a:rPr lang="en-US" altLang="en-US" dirty="0">
                <a:latin typeface="Times New Roman" panose="02020603050405020304" charset="0"/>
                <a:cs typeface="Times New Roman" panose="02020603050405020304" charset="0"/>
                <a:sym typeface="+mn-ea"/>
              </a:rPr>
              <a:t>1. Historical Perspective: Understanding ancient knowledge provides a historical </a:t>
            </a:r>
            <a:endParaRPr lang="en-US" altLang="en-US" dirty="0">
              <a:latin typeface="Times New Roman" panose="02020603050405020304" charset="0"/>
              <a:cs typeface="Times New Roman" panose="02020603050405020304" charset="0"/>
            </a:endParaRPr>
          </a:p>
          <a:p>
            <a:pPr marL="0" indent="0" algn="just">
              <a:buNone/>
            </a:pPr>
            <a:r>
              <a:rPr lang="en-US" altLang="en-US" dirty="0">
                <a:latin typeface="Times New Roman" panose="02020603050405020304" charset="0"/>
                <a:cs typeface="Times New Roman" panose="02020603050405020304" charset="0"/>
                <a:sym typeface="+mn-ea"/>
              </a:rPr>
              <a:t>perspective on the development of human civilization, offering insights into the </a:t>
            </a:r>
            <a:endParaRPr lang="en-US" altLang="en-US" dirty="0">
              <a:latin typeface="Times New Roman" panose="02020603050405020304" charset="0"/>
              <a:cs typeface="Times New Roman" panose="02020603050405020304" charset="0"/>
            </a:endParaRPr>
          </a:p>
          <a:p>
            <a:pPr marL="0" indent="0" algn="just">
              <a:buNone/>
            </a:pPr>
            <a:r>
              <a:rPr lang="en-US" altLang="en-US" dirty="0">
                <a:latin typeface="Times New Roman" panose="02020603050405020304" charset="0"/>
                <a:cs typeface="Times New Roman" panose="02020603050405020304" charset="0"/>
                <a:sym typeface="+mn-ea"/>
              </a:rPr>
              <a:t>foundations of modern knowledge.</a:t>
            </a:r>
            <a:endParaRPr lang="en-US" altLang="en-US" dirty="0">
              <a:latin typeface="Times New Roman" panose="02020603050405020304" charset="0"/>
              <a:cs typeface="Times New Roman" panose="02020603050405020304" charset="0"/>
            </a:endParaRPr>
          </a:p>
          <a:p>
            <a:pPr marL="0" indent="0" algn="just">
              <a:buNone/>
            </a:pPr>
            <a:r>
              <a:rPr lang="en-US" altLang="en-US" dirty="0">
                <a:latin typeface="Times New Roman" panose="02020603050405020304" charset="0"/>
                <a:cs typeface="Times New Roman" panose="02020603050405020304" charset="0"/>
                <a:sym typeface="+mn-ea"/>
              </a:rPr>
              <a:t>2. Cultural Understanding: It fosters a deep understanding of different cultures, traditions, and belief systems, helping students appreciate diverse perspectives and values.</a:t>
            </a:r>
            <a:endParaRPr lang="en-US" altLang="en-US" dirty="0">
              <a:latin typeface="Times New Roman" panose="02020603050405020304" charset="0"/>
              <a:cs typeface="Times New Roman" panose="02020603050405020304" charset="0"/>
            </a:endParaRPr>
          </a:p>
          <a:p>
            <a:pPr marL="0" indent="0" algn="just">
              <a:buNone/>
            </a:pPr>
            <a:r>
              <a:rPr lang="en-US" altLang="en-US" dirty="0">
                <a:latin typeface="Times New Roman" panose="02020603050405020304" charset="0"/>
                <a:cs typeface="Times New Roman" panose="02020603050405020304" charset="0"/>
              </a:rPr>
              <a:t>3. Continuity and Change: By studying ancient knowledge, students can observe how ideas, beliefs, and practices have evolved or remained constant over time, contributing to a broader understanding of change and continuity.</a:t>
            </a:r>
          </a:p>
          <a:p>
            <a:pPr marL="0" indent="0" algn="just">
              <a:buNone/>
            </a:pPr>
            <a:r>
              <a:rPr lang="en-US" altLang="en-US" dirty="0">
                <a:latin typeface="Times New Roman" panose="02020603050405020304" charset="0"/>
                <a:cs typeface="Times New Roman" panose="02020603050405020304" charset="0"/>
              </a:rPr>
              <a:t>4. Technological Evolution: Ancient knowledge often laid the groundwork for modern technologies. Learning about ancient inventions and discoveries can offer insight into their evolution over time.</a:t>
            </a:r>
          </a:p>
          <a:p>
            <a:pPr marL="0" indent="0" algn="ctr">
              <a:buNone/>
            </a:pP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915" y="347980"/>
            <a:ext cx="10515600" cy="1325563"/>
          </a:xfrm>
        </p:spPr>
        <p:txBody>
          <a:bodyPr/>
          <a:lstStyle/>
          <a:p>
            <a:pPr algn="ctr"/>
            <a:r>
              <a:rPr lang="en-US" altLang="en-US" b="1">
                <a:latin typeface="Times New Roman" panose="02020603050405020304" charset="0"/>
                <a:cs typeface="Times New Roman" panose="02020603050405020304" charset="0"/>
                <a:sym typeface="+mn-ea"/>
              </a:rPr>
              <a:t>Indian knowledge System</a:t>
            </a:r>
            <a:r>
              <a:rPr lang="en-US" altLang="en-US">
                <a:latin typeface="Times New Roman" panose="02020603050405020304" charset="0"/>
                <a:cs typeface="Times New Roman" panose="02020603050405020304" charset="0"/>
              </a:rPr>
              <a:t> </a:t>
            </a:r>
            <a:r>
              <a:rPr lang="en-US" altLang="en-US" b="1">
                <a:latin typeface="Times New Roman" panose="02020603050405020304" charset="0"/>
                <a:cs typeface="Times New Roman" panose="02020603050405020304" charset="0"/>
              </a:rPr>
              <a:t>Corpus</a:t>
            </a:r>
          </a:p>
        </p:txBody>
      </p:sp>
      <p:sp>
        <p:nvSpPr>
          <p:cNvPr id="3" name="Content Placeholder 2"/>
          <p:cNvSpPr>
            <a:spLocks noGrp="1"/>
          </p:cNvSpPr>
          <p:nvPr>
            <p:ph idx="1"/>
          </p:nvPr>
        </p:nvSpPr>
        <p:spPr>
          <a:xfrm>
            <a:off x="0" y="2088515"/>
            <a:ext cx="12191365" cy="3535680"/>
          </a:xfrm>
        </p:spPr>
        <p:txBody>
          <a:bodyPr>
            <a:normAutofit/>
          </a:bodyPr>
          <a:lstStyle/>
          <a:p>
            <a:pPr marL="0" indent="0">
              <a:buNone/>
            </a:pPr>
            <a:r>
              <a:rPr lang="en-US" altLang="en-US">
                <a:latin typeface="Times New Roman" panose="02020603050405020304" charset="0"/>
                <a:cs typeface="Times New Roman" panose="02020603050405020304" charset="0"/>
              </a:rPr>
              <a:t>The term "IKS Corpus" could refer to a collection or body of texts, documents, or data specifically related to the Indian Knowledge System (IKS). This corpus might consist of various sources such as ancient texts, manuscripts, research papers, philosophical treatises, scientific writings, historical documents, or any materials relevant to the diverse knowledge systems present in India, spanning fields like philosophy, science, mathematics, medicine, art, and spirituality. This compilation or corpus serves as a resource for studying and understanding the principles, concepts, and wisdom encompassed within the Indian knowledge tradition.</a:t>
            </a:r>
          </a:p>
          <a:p>
            <a:endParaRPr lang="en-US" alt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ks-corpus"/>
          <p:cNvPicPr>
            <a:picLocks noGrp="1" noChangeAspect="1"/>
          </p:cNvPicPr>
          <p:nvPr>
            <p:ph idx="1"/>
          </p:nvPr>
        </p:nvPicPr>
        <p:blipFill>
          <a:blip r:embed="rId2"/>
          <a:stretch>
            <a:fillRect/>
          </a:stretch>
        </p:blipFill>
        <p:spPr>
          <a:xfrm>
            <a:off x="635" y="-635"/>
            <a:ext cx="1219136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410" y="375920"/>
            <a:ext cx="11959590" cy="6482080"/>
          </a:xfrm>
        </p:spPr>
        <p:txBody>
          <a:bodyPr>
            <a:normAutofit fontScale="90000"/>
          </a:bodyPr>
          <a:lstStyle/>
          <a:p>
            <a:pPr algn="just"/>
            <a:r>
              <a:rPr lang="en-US" altLang="en-US" sz="3555" b="1">
                <a:latin typeface="Times New Roman" panose="02020603050405020304" charset="0"/>
                <a:cs typeface="Times New Roman" panose="02020603050405020304" charset="0"/>
              </a:rPr>
              <a:t>A. Literary:</a:t>
            </a:r>
            <a:r>
              <a:rPr lang="en-US" altLang="en-US" sz="3555">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Among the literary sources, we can broad ly identify three categories. One of the major sources is the Vedic and allied literature, which we shall designate as Sanatana-dharma literature, presented mainly in the Sanskrit language. The second major source is the literature on other dharmic traditions. The third group is a large repository of knowledge in other Indian languages and dialectics.</a:t>
            </a:r>
          </a:p>
          <a:p>
            <a:pPr algn="just"/>
            <a:r>
              <a:rPr lang="en-US" altLang="en-US" sz="3555" b="1">
                <a:latin typeface="Times New Roman" panose="02020603050405020304" charset="0"/>
                <a:cs typeface="Times New Roman" panose="02020603050405020304" charset="0"/>
              </a:rPr>
              <a:t>B. Non-literary:</a:t>
            </a:r>
            <a:r>
              <a:rPr lang="en-US" altLang="en-US" b="1">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The non-literary source is predominantly available through a rich set of oral traditions found throughout the country.</a:t>
            </a:r>
          </a:p>
          <a:p>
            <a:pPr algn="just"/>
            <a:r>
              <a:rPr lang="en-US" altLang="en-US" sz="3555" b="1">
                <a:latin typeface="Times New Roman" panose="02020603050405020304" charset="0"/>
                <a:cs typeface="Times New Roman" panose="02020603050405020304" charset="0"/>
              </a:rPr>
              <a:t>Sanatan Dhrama:</a:t>
            </a:r>
            <a:r>
              <a:rPr lang="en-US" altLang="en-US" b="1">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Behavior in Sanatan Dharma, or Hinduism, is guided by several important principles and values that influence how individuals are expected to conduct themselves. Here are some key behavioral aspects in simple language:</a:t>
            </a:r>
          </a:p>
          <a:p>
            <a:pPr algn="just"/>
            <a:r>
              <a:rPr lang="en-US" altLang="en-US" sz="3555" b="1">
                <a:latin typeface="Times New Roman" panose="02020603050405020304" charset="0"/>
                <a:cs typeface="Times New Roman" panose="02020603050405020304" charset="0"/>
              </a:rPr>
              <a:t>Respect and Non-violence (Ahimsa):</a:t>
            </a:r>
            <a:r>
              <a:rPr lang="en-US" altLang="en-US">
                <a:latin typeface="Times New Roman" panose="02020603050405020304" charset="0"/>
                <a:cs typeface="Times New Roman" panose="02020603050405020304" charset="0"/>
              </a:rPr>
              <a:t> Sanatan Dharma emphasizes showing respect and </a:t>
            </a:r>
          </a:p>
          <a:p>
            <a:pPr algn="just"/>
            <a:r>
              <a:rPr lang="en-US" altLang="en-US">
                <a:latin typeface="Times New Roman" panose="02020603050405020304" charset="0"/>
                <a:cs typeface="Times New Roman" panose="02020603050405020304" charset="0"/>
              </a:rPr>
              <a:t>kindness to all living beings. It encourages non-violence, both in actions and in words.</a:t>
            </a:r>
          </a:p>
          <a:p>
            <a:pPr algn="just"/>
            <a:r>
              <a:rPr lang="en-US" altLang="en-US" sz="3555" b="1">
                <a:latin typeface="Times New Roman" panose="02020603050405020304" charset="0"/>
                <a:cs typeface="Times New Roman" panose="02020603050405020304" charset="0"/>
              </a:rPr>
              <a:t>Duty (Dharma):</a:t>
            </a:r>
            <a:r>
              <a:rPr lang="en-US" altLang="en-US">
                <a:latin typeface="Times New Roman" panose="02020603050405020304" charset="0"/>
                <a:cs typeface="Times New Roman" panose="02020603050405020304" charset="0"/>
              </a:rPr>
              <a:t> Every person has certain duties or responsibilities in life. Doing one's duty well and in a righteous manner is considered important.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527050"/>
            <a:ext cx="12192635" cy="6330950"/>
          </a:xfrm>
        </p:spPr>
        <p:txBody>
          <a:bodyPr>
            <a:normAutofit lnSpcReduction="10000"/>
          </a:bodyPr>
          <a:lstStyle/>
          <a:p>
            <a:pPr algn="just"/>
            <a:r>
              <a:rPr lang="en-US" altLang="en-US" sz="2665" b="1">
                <a:latin typeface="Times New Roman" panose="02020603050405020304" charset="0"/>
                <a:cs typeface="Times New Roman" panose="02020603050405020304" charset="0"/>
              </a:rPr>
              <a:t>Truthfulness (Satya): </a:t>
            </a:r>
            <a:r>
              <a:rPr lang="en-US" altLang="en-US" sz="2665">
                <a:latin typeface="Times New Roman" panose="02020603050405020304" charset="0"/>
                <a:cs typeface="Times New Roman" panose="02020603050405020304" charset="0"/>
              </a:rPr>
              <a:t>Being truthful and honest in thoughts, words, and actions is highly valued in Hinduism.</a:t>
            </a:r>
          </a:p>
          <a:p>
            <a:pPr algn="just"/>
            <a:r>
              <a:rPr lang="en-US" altLang="en-US" sz="2665" b="1">
                <a:latin typeface="Times New Roman" panose="02020603050405020304" charset="0"/>
                <a:cs typeface="Times New Roman" panose="02020603050405020304" charset="0"/>
              </a:rPr>
              <a:t>Respect for Elders and Teachers:</a:t>
            </a:r>
            <a:r>
              <a:rPr lang="en-US" altLang="en-US" sz="2665">
                <a:latin typeface="Times New Roman" panose="02020603050405020304" charset="0"/>
                <a:cs typeface="Times New Roman" panose="02020603050405020304" charset="0"/>
              </a:rPr>
              <a:t> Showing reverence and respect to elders, parents, teachers, and those with wisdom is considered a significant aspect of Hindu behavior.</a:t>
            </a:r>
          </a:p>
          <a:p>
            <a:pPr algn="just"/>
            <a:r>
              <a:rPr lang="en-US" altLang="en-US" sz="2665" b="1">
                <a:latin typeface="Times New Roman" panose="02020603050405020304" charset="0"/>
                <a:cs typeface="Times New Roman" panose="02020603050405020304" charset="0"/>
              </a:rPr>
              <a:t>Self-Control (Sanyam):</a:t>
            </a:r>
            <a:r>
              <a:rPr lang="en-US" altLang="en-US" sz="2665">
                <a:latin typeface="Times New Roman" panose="02020603050405020304" charset="0"/>
                <a:cs typeface="Times New Roman" panose="02020603050405020304" charset="0"/>
              </a:rPr>
              <a:t> Sanatan Dharma emphasizes controlling one's desires and impulses, practicing self-discipline, and avoiding excesses.</a:t>
            </a:r>
          </a:p>
          <a:p>
            <a:pPr algn="just"/>
            <a:r>
              <a:rPr lang="en-US" altLang="en-US" sz="2665" b="1">
                <a:latin typeface="Times New Roman" panose="02020603050405020304" charset="0"/>
                <a:cs typeface="Times New Roman" panose="02020603050405020304" charset="0"/>
              </a:rPr>
              <a:t>Compassion and Generosity:</a:t>
            </a:r>
            <a:r>
              <a:rPr lang="en-US" altLang="en-US" sz="2665">
                <a:latin typeface="Times New Roman" panose="02020603050405020304" charset="0"/>
                <a:cs typeface="Times New Roman" panose="02020603050405020304" charset="0"/>
              </a:rPr>
              <a:t> Displaying compassion, empathy, and generosity towards others is encouraged.</a:t>
            </a:r>
          </a:p>
          <a:p>
            <a:pPr algn="just"/>
            <a:r>
              <a:rPr lang="en-US" altLang="en-US" sz="2665" b="1">
                <a:latin typeface="Times New Roman" panose="02020603050405020304" charset="0"/>
                <a:cs typeface="Times New Roman" panose="02020603050405020304" charset="0"/>
              </a:rPr>
              <a:t>Devotion and Spiritual Practices:</a:t>
            </a:r>
            <a:r>
              <a:rPr lang="en-US" altLang="en-US" sz="2665">
                <a:latin typeface="Times New Roman" panose="02020603050405020304" charset="0"/>
                <a:cs typeface="Times New Roman" panose="02020603050405020304" charset="0"/>
              </a:rPr>
              <a:t> Engaging in religious rituals, prayers, meditation, and devotional practices is seen as an important aspect of behavior.</a:t>
            </a:r>
          </a:p>
          <a:p>
            <a:pPr algn="just"/>
            <a:r>
              <a:rPr lang="en-US" altLang="en-US" sz="2665" b="1">
                <a:latin typeface="Times New Roman" panose="02020603050405020304" charset="0"/>
                <a:cs typeface="Times New Roman" panose="02020603050405020304" charset="0"/>
              </a:rPr>
              <a:t>Cleanliness and Purity:</a:t>
            </a:r>
            <a:r>
              <a:rPr lang="en-US" altLang="en-US" sz="2665">
                <a:latin typeface="Times New Roman" panose="02020603050405020304" charset="0"/>
                <a:cs typeface="Times New Roman" panose="02020603050405020304" charset="0"/>
              </a:rPr>
              <a:t> Maintaining personal and environmental cleanliness is valued. Purity in thought, word, and action is also encouraged.</a:t>
            </a:r>
          </a:p>
          <a:p>
            <a:pPr algn="just"/>
            <a:r>
              <a:rPr lang="en-US" altLang="en-US" sz="2665" b="1">
                <a:latin typeface="Times New Roman" panose="02020603050405020304" charset="0"/>
                <a:cs typeface="Times New Roman" panose="02020603050405020304" charset="0"/>
              </a:rPr>
              <a:t>Serving Others (Seva):</a:t>
            </a:r>
            <a:r>
              <a:rPr lang="en-US" altLang="en-US" sz="2665">
                <a:latin typeface="Times New Roman" panose="02020603050405020304" charset="0"/>
                <a:cs typeface="Times New Roman" panose="02020603050405020304" charset="0"/>
              </a:rPr>
              <a:t> Helping and serving others, especially those in need, is considered a virtuous behavior.</a:t>
            </a:r>
          </a:p>
          <a:p>
            <a:pPr algn="just"/>
            <a:r>
              <a:rPr lang="en-US" altLang="en-US" sz="2665" b="1">
                <a:latin typeface="Times New Roman" panose="02020603050405020304" charset="0"/>
                <a:cs typeface="Times New Roman" panose="02020603050405020304" charset="0"/>
              </a:rPr>
              <a:t>Humility</a:t>
            </a:r>
            <a:r>
              <a:rPr lang="en-US" altLang="en-US" sz="2665">
                <a:latin typeface="Times New Roman" panose="02020603050405020304" charset="0"/>
                <a:cs typeface="Times New Roman" panose="02020603050405020304" charset="0"/>
              </a:rPr>
              <a:t>: Practicing humility and avoiding arrogance or pride is encouraged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1365" cy="6858000"/>
          </a:xfrm>
        </p:spPr>
        <p:txBody>
          <a:bodyPr>
            <a:normAutofit fontScale="90000" lnSpcReduction="10000"/>
          </a:bodyPr>
          <a:lstStyle/>
          <a:p>
            <a:pPr algn="ctr"/>
            <a:r>
              <a:rPr lang="en-US" altLang="en-US" sz="3600" b="1">
                <a:latin typeface="Times New Roman" panose="02020603050405020304" charset="0"/>
                <a:cs typeface="Times New Roman" panose="02020603050405020304" charset="0"/>
              </a:rPr>
              <a:t>Dharmik tradition :</a:t>
            </a:r>
          </a:p>
          <a:p>
            <a:pPr algn="just"/>
            <a:r>
              <a:rPr lang="en-US" altLang="en-US" sz="3200" b="1">
                <a:latin typeface="Times New Roman" panose="02020603050405020304" charset="0"/>
                <a:cs typeface="Times New Roman" panose="02020603050405020304" charset="0"/>
              </a:rPr>
              <a:t>Duty (Dharma):</a:t>
            </a:r>
            <a:r>
              <a:rPr lang="en-US" altLang="en-US">
                <a:latin typeface="Times New Roman" panose="02020603050405020304" charset="0"/>
                <a:cs typeface="Times New Roman" panose="02020603050405020304" charset="0"/>
              </a:rPr>
              <a:t> Doing one's duties or responsibilities with honesty and dedication is an important part of Dharmik tradition.</a:t>
            </a:r>
          </a:p>
          <a:p>
            <a:pPr algn="just"/>
            <a:r>
              <a:rPr lang="en-US" altLang="en-US">
                <a:latin typeface="Times New Roman" panose="02020603050405020304" charset="0"/>
                <a:cs typeface="Times New Roman" panose="02020603050405020304" charset="0"/>
              </a:rPr>
              <a:t>Respect for Elders: Showing respect, care, and reverence to elders and seeking their guidance is a significant aspect.</a:t>
            </a:r>
          </a:p>
          <a:p>
            <a:pPr algn="just"/>
            <a:r>
              <a:rPr lang="en-US" altLang="en-US" sz="3200" b="1">
                <a:latin typeface="Times New Roman" panose="02020603050405020304" charset="0"/>
                <a:cs typeface="Times New Roman" panose="02020603050405020304" charset="0"/>
              </a:rPr>
              <a:t>Daily Rituals and Practices:</a:t>
            </a:r>
            <a:r>
              <a:rPr lang="en-US" altLang="en-US" sz="3200">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Engaging in daily rituals such as prayers, chanting, and acts of worship is a common practice.</a:t>
            </a:r>
          </a:p>
          <a:p>
            <a:pPr algn="just"/>
            <a:r>
              <a:rPr lang="en-US" altLang="en-US" sz="3200" b="1">
                <a:latin typeface="Times New Roman" panose="02020603050405020304" charset="0"/>
                <a:cs typeface="Times New Roman" panose="02020603050405020304" charset="0"/>
              </a:rPr>
              <a:t>Festivals and Celebrations:</a:t>
            </a:r>
            <a:r>
              <a:rPr lang="en-US" altLang="en-US">
                <a:latin typeface="Times New Roman" panose="02020603050405020304" charset="0"/>
                <a:cs typeface="Times New Roman" panose="02020603050405020304" charset="0"/>
              </a:rPr>
              <a:t> Celebrating various festivals with enthusiasm and joy, such as Diwali, Holi, and Navratri.Virtues and Morality: Upholding virtues such as truthfulness, kindness, patience, and fairness in all actions and behaviors.</a:t>
            </a:r>
          </a:p>
          <a:p>
            <a:pPr algn="just"/>
            <a:r>
              <a:rPr lang="en-US" altLang="en-US" sz="3200" b="1">
                <a:latin typeface="Times New Roman" panose="02020603050405020304" charset="0"/>
                <a:cs typeface="Times New Roman" panose="02020603050405020304" charset="0"/>
              </a:rPr>
              <a:t>Pilgrimages and Sacred Places:</a:t>
            </a:r>
            <a:r>
              <a:rPr lang="en-US" altLang="en-US">
                <a:latin typeface="Times New Roman" panose="02020603050405020304" charset="0"/>
                <a:cs typeface="Times New Roman" panose="02020603050405020304" charset="0"/>
              </a:rPr>
              <a:t> Visiting holy places and undertaking pilgrimages for spiritual growth and connection with the divine.</a:t>
            </a:r>
          </a:p>
          <a:p>
            <a:pPr algn="just"/>
            <a:r>
              <a:rPr lang="en-US" altLang="en-US" sz="3200" b="1">
                <a:latin typeface="Times New Roman" panose="02020603050405020304" charset="0"/>
                <a:cs typeface="Times New Roman" panose="02020603050405020304" charset="0"/>
              </a:rPr>
              <a:t>Reverence for Nature: </a:t>
            </a:r>
            <a:r>
              <a:rPr lang="en-US" altLang="en-US">
                <a:latin typeface="Times New Roman" panose="02020603050405020304" charset="0"/>
                <a:cs typeface="Times New Roman" panose="02020603050405020304" charset="0"/>
              </a:rPr>
              <a:t>Respecting nature and acknowledging its importance in life, often </a:t>
            </a:r>
          </a:p>
          <a:p>
            <a:pPr algn="just"/>
            <a:r>
              <a:rPr lang="en-US" altLang="en-US">
                <a:latin typeface="Times New Roman" panose="02020603050405020304" charset="0"/>
                <a:cs typeface="Times New Roman" panose="02020603050405020304" charset="0"/>
              </a:rPr>
              <a:t>through rituals that honor the environment.</a:t>
            </a:r>
          </a:p>
          <a:p>
            <a:pPr algn="just"/>
            <a:r>
              <a:rPr lang="en-US" altLang="en-US" sz="3200" b="1">
                <a:latin typeface="Times New Roman" panose="02020603050405020304" charset="0"/>
                <a:cs typeface="Times New Roman" panose="02020603050405020304" charset="0"/>
              </a:rPr>
              <a:t>Karma and Reincarnation:</a:t>
            </a:r>
            <a:r>
              <a:rPr lang="en-US" altLang="en-US">
                <a:latin typeface="Times New Roman" panose="02020603050405020304" charset="0"/>
                <a:cs typeface="Times New Roman" panose="02020603050405020304" charset="0"/>
              </a:rPr>
              <a:t> Understanding the concept of karma (actions and their </a:t>
            </a:r>
          </a:p>
          <a:p>
            <a:pPr algn="just"/>
            <a:r>
              <a:rPr lang="en-US" altLang="en-US">
                <a:latin typeface="Times New Roman" panose="02020603050405020304" charset="0"/>
                <a:cs typeface="Times New Roman" panose="02020603050405020304" charset="0"/>
              </a:rPr>
              <a:t>consequences) and the belief in reincarnation (the cycle of birth and rebirth).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81940"/>
            <a:ext cx="12191365" cy="6576060"/>
          </a:xfrm>
        </p:spPr>
        <p:txBody>
          <a:bodyPr/>
          <a:lstStyle/>
          <a:p>
            <a:pPr algn="just"/>
            <a:r>
              <a:rPr lang="en-US" altLang="en-US" sz="3200" b="1">
                <a:latin typeface="Times New Roman" panose="02020603050405020304" charset="0"/>
                <a:cs typeface="Times New Roman" panose="02020603050405020304" charset="0"/>
              </a:rPr>
              <a:t>Respect for Scriptures and Teachers: </a:t>
            </a:r>
            <a:r>
              <a:rPr lang="en-US" altLang="en-US">
                <a:latin typeface="Times New Roman" panose="02020603050405020304" charset="0"/>
                <a:cs typeface="Times New Roman" panose="02020603050405020304" charset="0"/>
              </a:rPr>
              <a:t>Revering sacred texts like the Vedas and giving respect to gurus (teachers) who impart knowledge and wisdom.</a:t>
            </a:r>
          </a:p>
          <a:p>
            <a:pPr algn="just"/>
            <a:r>
              <a:rPr lang="en-US" altLang="en-US" sz="3200" b="1">
                <a:latin typeface="Times New Roman" panose="02020603050405020304" charset="0"/>
                <a:cs typeface="Times New Roman" panose="02020603050405020304" charset="0"/>
              </a:rPr>
              <a:t>Service and Charity: </a:t>
            </a:r>
            <a:r>
              <a:rPr lang="en-US" altLang="en-US">
                <a:latin typeface="Times New Roman" panose="02020603050405020304" charset="0"/>
                <a:cs typeface="Times New Roman" panose="02020603050405020304" charset="0"/>
              </a:rPr>
              <a:t>Practicing Seva (selfless service) and offering charity to those in need as a way of giving back to society.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035"/>
            <a:ext cx="10515600" cy="697230"/>
          </a:xfrm>
        </p:spPr>
        <p:txBody>
          <a:bodyPr>
            <a:normAutofit fontScale="90000"/>
          </a:bodyPr>
          <a:lstStyle/>
          <a:p>
            <a:pPr algn="ctr"/>
            <a:r>
              <a:rPr lang="en-US" altLang="en-US" sz="4890"/>
              <a:t>History of IKS</a:t>
            </a:r>
          </a:p>
        </p:txBody>
      </p:sp>
      <p:sp>
        <p:nvSpPr>
          <p:cNvPr id="3" name="Content Placeholder 2"/>
          <p:cNvSpPr>
            <a:spLocks noGrp="1"/>
          </p:cNvSpPr>
          <p:nvPr>
            <p:ph idx="1"/>
          </p:nvPr>
        </p:nvSpPr>
        <p:spPr>
          <a:xfrm>
            <a:off x="635" y="517525"/>
            <a:ext cx="12191365" cy="6375400"/>
          </a:xfrm>
        </p:spPr>
        <p:txBody>
          <a:bodyPr>
            <a:noAutofit/>
          </a:bodyPr>
          <a:lstStyle/>
          <a:p>
            <a:pPr algn="just"/>
            <a:r>
              <a:rPr lang="en-US" altLang="en-US" sz="2700" b="1">
                <a:latin typeface="Times New Roman" panose="02020603050405020304" charset="0"/>
                <a:cs typeface="Times New Roman" panose="02020603050405020304" charset="0"/>
              </a:rPr>
              <a:t>Ancient Roots: </a:t>
            </a:r>
            <a:r>
              <a:rPr lang="en-US" altLang="en-US" sz="2700">
                <a:latin typeface="Times New Roman" panose="02020603050405020304" charset="0"/>
                <a:cs typeface="Times New Roman" panose="02020603050405020304" charset="0"/>
              </a:rPr>
              <a:t>IKS dates back thousands of years, with its origins rooted in the Vedic period, around 1500 BCE, where ancient texts like the Vedas were composed.</a:t>
            </a:r>
          </a:p>
          <a:p>
            <a:pPr algn="just"/>
            <a:r>
              <a:rPr lang="en-US" altLang="en-US" sz="2700" b="1">
                <a:latin typeface="Times New Roman" panose="02020603050405020304" charset="0"/>
                <a:cs typeface="Times New Roman" panose="02020603050405020304" charset="0"/>
              </a:rPr>
              <a:t>Contributions in Science and Mathematics:</a:t>
            </a:r>
            <a:r>
              <a:rPr lang="en-US" altLang="en-US" sz="2700">
                <a:latin typeface="Times New Roman" panose="02020603050405020304" charset="0"/>
                <a:cs typeface="Times New Roman" panose="02020603050405020304" charset="0"/>
              </a:rPr>
              <a:t> Indian scholars made significant contributions, such as the invention of zero, the decimal system, algebra, and advanced knowledge in astronomy and medicine.</a:t>
            </a:r>
          </a:p>
          <a:p>
            <a:pPr algn="just"/>
            <a:r>
              <a:rPr lang="en-US" altLang="en-US" sz="2700" b="1">
                <a:latin typeface="Times New Roman" panose="02020603050405020304" charset="0"/>
                <a:cs typeface="Times New Roman" panose="02020603050405020304" charset="0"/>
              </a:rPr>
              <a:t>Philosophical Texts:</a:t>
            </a:r>
            <a:r>
              <a:rPr lang="en-US" altLang="en-US" sz="2700">
                <a:latin typeface="Times New Roman" panose="02020603050405020304" charset="0"/>
                <a:cs typeface="Times New Roman" panose="02020603050405020304" charset="0"/>
              </a:rPr>
              <a:t> The Upanishads and other philosophical texts emerged, exploring concepts of spirituality, the self, and the nature of reality.</a:t>
            </a:r>
          </a:p>
          <a:p>
            <a:pPr algn="just"/>
            <a:r>
              <a:rPr lang="en-US" altLang="en-US" sz="2700" b="1">
                <a:latin typeface="Times New Roman" panose="02020603050405020304" charset="0"/>
                <a:cs typeface="Times New Roman" panose="02020603050405020304" charset="0"/>
              </a:rPr>
              <a:t>Influence of Great Empires:</a:t>
            </a:r>
            <a:r>
              <a:rPr lang="en-US" altLang="en-US" sz="2700">
                <a:latin typeface="Times New Roman" panose="02020603050405020304" charset="0"/>
                <a:cs typeface="Times New Roman" panose="02020603050405020304" charset="0"/>
              </a:rPr>
              <a:t> IKS flourished during the rule of great empires like the Mauryas and Guptas, where art, science, and culture thrived.</a:t>
            </a:r>
          </a:p>
          <a:p>
            <a:pPr algn="just"/>
            <a:r>
              <a:rPr lang="en-US" altLang="en-US" sz="2700" b="1">
                <a:latin typeface="Times New Roman" panose="02020603050405020304" charset="0"/>
                <a:cs typeface="Times New Roman" panose="02020603050405020304" charset="0"/>
              </a:rPr>
              <a:t>Influence on the Silk Road:</a:t>
            </a:r>
            <a:r>
              <a:rPr lang="en-US" altLang="en-US" sz="2700">
                <a:latin typeface="Times New Roman" panose="02020603050405020304" charset="0"/>
                <a:cs typeface="Times New Roman" panose="02020603050405020304" charset="0"/>
              </a:rPr>
              <a:t> India's knowledge spread through trade routes like the Silk Road, where Indian scholars exchanged ideas with other cultures.</a:t>
            </a:r>
          </a:p>
          <a:p>
            <a:pPr algn="just"/>
            <a:r>
              <a:rPr lang="en-US" altLang="en-US" sz="2700" b="1">
                <a:latin typeface="Times New Roman" panose="02020603050405020304" charset="0"/>
                <a:cs typeface="Times New Roman" panose="02020603050405020304" charset="0"/>
              </a:rPr>
              <a:t>Islamic and Persian Influence:</a:t>
            </a:r>
            <a:r>
              <a:rPr lang="en-US" altLang="en-US" sz="2700">
                <a:latin typeface="Times New Roman" panose="02020603050405020304" charset="0"/>
                <a:cs typeface="Times New Roman" panose="02020603050405020304" charset="0"/>
              </a:rPr>
              <a:t> During the Islamic and Persian rule in India, there was an exchange of knowledge, influencing fields like architecture, astronomy, and mathematics.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2635" cy="6859270"/>
          </a:xfrm>
        </p:spPr>
        <p:txBody>
          <a:bodyPr/>
          <a:lstStyle/>
          <a:p>
            <a:pPr algn="just"/>
            <a:r>
              <a:rPr lang="en-US" altLang="en-US" b="1">
                <a:latin typeface="Times New Roman" panose="02020603050405020304" charset="0"/>
                <a:cs typeface="Times New Roman" panose="02020603050405020304" charset="0"/>
              </a:rPr>
              <a:t>Colonial Period:</a:t>
            </a:r>
            <a:r>
              <a:rPr lang="en-US" altLang="en-US">
                <a:latin typeface="Times New Roman" panose="02020603050405020304" charset="0"/>
                <a:cs typeface="Times New Roman" panose="02020603050405020304" charset="0"/>
              </a:rPr>
              <a:t> British colonization had an impact, leading to a decline in traditional knowledge systems due to cultural imposition and education policies favoring Western knowledge.</a:t>
            </a:r>
          </a:p>
          <a:p>
            <a:pPr algn="just"/>
            <a:r>
              <a:rPr lang="en-US" altLang="en-US" b="1">
                <a:latin typeface="Times New Roman" panose="02020603050405020304" charset="0"/>
                <a:cs typeface="Times New Roman" panose="02020603050405020304" charset="0"/>
              </a:rPr>
              <a:t>Revival and Independence:</a:t>
            </a:r>
            <a:r>
              <a:rPr lang="en-US" altLang="en-US">
                <a:latin typeface="Times New Roman" panose="02020603050405020304" charset="0"/>
                <a:cs typeface="Times New Roman" panose="02020603050405020304" charset="0"/>
              </a:rPr>
              <a:t> Post-independence, efforts were made to revive and preserve traditional knowledge systems, leading to the establishment of research institutes and educational reforms.</a:t>
            </a:r>
          </a:p>
          <a:p>
            <a:pPr algn="just"/>
            <a:r>
              <a:rPr lang="en-US" altLang="en-US" b="1">
                <a:latin typeface="Times New Roman" panose="02020603050405020304" charset="0"/>
                <a:cs typeface="Times New Roman" panose="02020603050405020304" charset="0"/>
              </a:rPr>
              <a:t>Global Recognition:</a:t>
            </a:r>
            <a:r>
              <a:rPr lang="en-US" altLang="en-US">
                <a:latin typeface="Times New Roman" panose="02020603050405020304" charset="0"/>
                <a:cs typeface="Times New Roman" panose="02020603050405020304" charset="0"/>
              </a:rPr>
              <a:t> In recent times, aspects of IKS, like yoga, Ayurveda, and philosophical thought, gained recognition and acceptance worldwide.</a:t>
            </a:r>
          </a:p>
          <a:p>
            <a:pPr algn="just"/>
            <a:r>
              <a:rPr lang="en-US" altLang="en-US" b="1">
                <a:latin typeface="Times New Roman" panose="02020603050405020304" charset="0"/>
                <a:cs typeface="Times New Roman" panose="02020603050405020304" charset="0"/>
              </a:rPr>
              <a:t>Continued Evolution and Preservation:</a:t>
            </a:r>
            <a:r>
              <a:rPr lang="en-US" altLang="en-US">
                <a:latin typeface="Times New Roman" panose="02020603050405020304" charset="0"/>
                <a:cs typeface="Times New Roman" panose="02020603050405020304" charset="0"/>
              </a:rPr>
              <a:t> IKS continues to evolve, adapting traditional knowledge to modern contexts while also preserving its ancient heritage.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691005"/>
          </a:xfrm>
        </p:spPr>
        <p:txBody>
          <a:bodyPr/>
          <a:lstStyle/>
          <a:p>
            <a:r>
              <a:rPr lang="en-US" altLang="en-US" b="1"/>
              <a:t>Some Unique Aspects of IKS:</a:t>
            </a:r>
          </a:p>
        </p:txBody>
      </p:sp>
      <p:sp>
        <p:nvSpPr>
          <p:cNvPr id="3" name="Content Placeholder 2"/>
          <p:cNvSpPr>
            <a:spLocks noGrp="1"/>
          </p:cNvSpPr>
          <p:nvPr>
            <p:ph idx="1"/>
          </p:nvPr>
        </p:nvSpPr>
        <p:spPr>
          <a:xfrm>
            <a:off x="0" y="1248410"/>
            <a:ext cx="12191365" cy="5609590"/>
          </a:xfrm>
        </p:spPr>
        <p:txBody>
          <a:bodyPr>
            <a:normAutofit/>
          </a:bodyPr>
          <a:lstStyle/>
          <a:p>
            <a:pPr algn="just"/>
            <a:r>
              <a:rPr lang="en-US" altLang="en-US">
                <a:latin typeface="Times New Roman" panose="02020603050405020304" charset="0"/>
                <a:cs typeface="Times New Roman" panose="02020603050405020304" charset="0"/>
              </a:rPr>
              <a:t>Certainly! India's knowledge system is rich and diverse, incorporating various unique aspects. Here are ten simple points highlighting some of its unique characteristics:</a:t>
            </a:r>
          </a:p>
          <a:p>
            <a:pPr algn="just"/>
            <a:r>
              <a:rPr lang="en-US" altLang="en-US" b="1">
                <a:latin typeface="Times New Roman" panose="02020603050405020304" charset="0"/>
                <a:cs typeface="Times New Roman" panose="02020603050405020304" charset="0"/>
              </a:rPr>
              <a:t>Ancient Texts and Scriptures: </a:t>
            </a:r>
            <a:r>
              <a:rPr lang="en-US" altLang="en-US">
                <a:latin typeface="Times New Roman" panose="02020603050405020304" charset="0"/>
                <a:cs typeface="Times New Roman" panose="02020603050405020304" charset="0"/>
              </a:rPr>
              <a:t>India's knowledge system is rooted in ancient texts like the Vedas, Upanishads, and other philosophical treatises that delve into diverse subjects, from philosophy to science and spirituality.</a:t>
            </a:r>
          </a:p>
          <a:p>
            <a:pPr algn="just"/>
            <a:r>
              <a:rPr lang="en-US" altLang="en-US" b="1">
                <a:latin typeface="Times New Roman" panose="02020603050405020304" charset="0"/>
                <a:cs typeface="Times New Roman" panose="02020603050405020304" charset="0"/>
              </a:rPr>
              <a:t>Yoga and Ayurveda:</a:t>
            </a:r>
            <a:r>
              <a:rPr lang="en-US" altLang="en-US">
                <a:latin typeface="Times New Roman" panose="02020603050405020304" charset="0"/>
                <a:cs typeface="Times New Roman" panose="02020603050405020304" charset="0"/>
              </a:rPr>
              <a:t> India has given the world invaluable gifts like yoga, a holistic system for physical and mental well-being, and Ayurveda, a traditional system of medicine focusing on natural healing and lifestyle balance.</a:t>
            </a:r>
          </a:p>
          <a:p>
            <a:pPr algn="just"/>
            <a:r>
              <a:rPr lang="en-US" altLang="en-US" b="1">
                <a:latin typeface="Times New Roman" panose="02020603050405020304" charset="0"/>
                <a:cs typeface="Times New Roman" panose="02020603050405020304" charset="0"/>
              </a:rPr>
              <a:t>Jugaad Innovation:</a:t>
            </a:r>
            <a:r>
              <a:rPr lang="en-US" altLang="en-US">
                <a:latin typeface="Times New Roman" panose="02020603050405020304" charset="0"/>
                <a:cs typeface="Times New Roman" panose="02020603050405020304" charset="0"/>
              </a:rPr>
              <a:t> The concept of 'jugaad' reflects a frugal and innovative approach to problem-solving. It involves finding quick and low-cost solutions using limited resources, showcasing Indian creativity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52730"/>
            <a:ext cx="12191365" cy="6604635"/>
          </a:xfrm>
        </p:spPr>
        <p:txBody>
          <a:bodyPr>
            <a:normAutofit/>
          </a:bodyPr>
          <a:lstStyle/>
          <a:p>
            <a:pPr algn="just"/>
            <a:r>
              <a:rPr lang="en-US" altLang="en-US" b="1">
                <a:latin typeface="Times New Roman" panose="02020603050405020304" charset="0"/>
                <a:cs typeface="Times New Roman" panose="02020603050405020304" charset="0"/>
              </a:rPr>
              <a:t>Gurukul Education System: </a:t>
            </a:r>
            <a:r>
              <a:rPr lang="en-US" altLang="en-US">
                <a:latin typeface="Times New Roman" panose="02020603050405020304" charset="0"/>
                <a:cs typeface="Times New Roman" panose="02020603050405020304" charset="0"/>
              </a:rPr>
              <a:t>Historically, the Gurukul system emphasized a direct, personal connection between teacher and student, fostering a more holistic and personalized form of education.</a:t>
            </a:r>
          </a:p>
          <a:p>
            <a:pPr algn="just"/>
            <a:r>
              <a:rPr lang="en-US" altLang="en-US" b="1">
                <a:latin typeface="Times New Roman" panose="02020603050405020304" charset="0"/>
                <a:cs typeface="Times New Roman" panose="02020603050405020304" charset="0"/>
              </a:rPr>
              <a:t>Unity in Diversity:</a:t>
            </a:r>
            <a:r>
              <a:rPr lang="en-US" altLang="en-US">
                <a:latin typeface="Times New Roman" panose="02020603050405020304" charset="0"/>
                <a:cs typeface="Times New Roman" panose="02020603050405020304" charset="0"/>
              </a:rPr>
              <a:t> Indian knowledge embraces diversity and pluralism. It respects various beliefs, cultures, and traditions, promoting harmony among different ideologies.</a:t>
            </a:r>
          </a:p>
          <a:p>
            <a:pPr algn="just"/>
            <a:r>
              <a:rPr lang="en-US" altLang="en-US" b="1">
                <a:latin typeface="Times New Roman" panose="02020603050405020304" charset="0"/>
                <a:cs typeface="Times New Roman" panose="02020603050405020304" charset="0"/>
              </a:rPr>
              <a:t>Artistic and Cultural Heritage:</a:t>
            </a:r>
            <a:r>
              <a:rPr lang="en-US" altLang="en-US">
                <a:latin typeface="Times New Roman" panose="02020603050405020304" charset="0"/>
                <a:cs typeface="Times New Roman" panose="02020603050405020304" charset="0"/>
              </a:rPr>
              <a:t> India's knowledge system is deeply interwoven with its artistic and cultural heritage, including classical dance, music, and various art forms, preserving andconveying knowledge through creative expression.</a:t>
            </a:r>
          </a:p>
          <a:p>
            <a:pPr algn="just"/>
            <a:r>
              <a:rPr lang="en-US" altLang="en-US" b="1">
                <a:latin typeface="Times New Roman" panose="02020603050405020304" charset="0"/>
                <a:cs typeface="Times New Roman" panose="02020603050405020304" charset="0"/>
              </a:rPr>
              <a:t>Concept of Dharma:</a:t>
            </a:r>
            <a:r>
              <a:rPr lang="en-US" altLang="en-US">
                <a:latin typeface="Times New Roman" panose="02020603050405020304" charset="0"/>
                <a:cs typeface="Times New Roman" panose="02020603050405020304" charset="0"/>
              </a:rPr>
              <a:t> Dharma, a fundamental concept in Indian thought, encompasses moral and ethical principles guiding individuals to lead a righteous and purposeful life.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70230"/>
            <a:ext cx="12191365" cy="6288405"/>
          </a:xfrm>
        </p:spPr>
        <p:txBody>
          <a:bodyPr>
            <a:normAutofit/>
          </a:bodyPr>
          <a:lstStyle/>
          <a:p>
            <a:pPr algn="just"/>
            <a:r>
              <a:rPr lang="en-US" altLang="en-US" b="1">
                <a:latin typeface="Times New Roman" panose="02020603050405020304" charset="0"/>
                <a:cs typeface="Times New Roman" panose="02020603050405020304" charset="0"/>
              </a:rPr>
              <a:t>Decimal System and Zero:</a:t>
            </a:r>
            <a:r>
              <a:rPr lang="en-US" altLang="en-US">
                <a:latin typeface="Times New Roman" panose="02020603050405020304" charset="0"/>
                <a:cs typeface="Times New Roman" panose="02020603050405020304" charset="0"/>
              </a:rPr>
              <a:t> India's mathematical contributions include the invention of the decimal numeral system and the concept of zero, which revolutionized mathematics and science globally.</a:t>
            </a:r>
          </a:p>
          <a:p>
            <a:pPr algn="just"/>
            <a:r>
              <a:rPr lang="en-US" altLang="en-US" b="1">
                <a:latin typeface="Times New Roman" panose="02020603050405020304" charset="0"/>
                <a:cs typeface="Times New Roman" panose="02020603050405020304" charset="0"/>
              </a:rPr>
              <a:t>Tolerance and Non-Violence: </a:t>
            </a:r>
            <a:r>
              <a:rPr lang="en-US" altLang="en-US">
                <a:latin typeface="Times New Roman" panose="02020603050405020304" charset="0"/>
                <a:cs typeface="Times New Roman" panose="02020603050405020304" charset="0"/>
              </a:rPr>
              <a:t>Indian wisdom advocates principles of non-violence (ahimsa) and tolerance, emphasizing peaceful coexistence and respect for all life forms.</a:t>
            </a:r>
          </a:p>
          <a:p>
            <a:pPr algn="just"/>
            <a:r>
              <a:rPr lang="en-US" altLang="en-US" b="1">
                <a:latin typeface="Times New Roman" panose="02020603050405020304" charset="0"/>
                <a:cs typeface="Times New Roman" panose="02020603050405020304" charset="0"/>
              </a:rPr>
              <a:t>Spiritual Wisdom:</a:t>
            </a:r>
            <a:r>
              <a:rPr lang="en-US" altLang="en-US">
                <a:latin typeface="Times New Roman" panose="02020603050405020304" charset="0"/>
                <a:cs typeface="Times New Roman" panose="02020603050405020304" charset="0"/>
              </a:rPr>
              <a:t> India's knowledge system places a significant emphasis on spiritual wisdom and inner exploration, advocating practices like meditation and introspection for personal growth and self-realization.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8795</Words>
  <Application>Microsoft Office PowerPoint</Application>
  <PresentationFormat>Widescreen</PresentationFormat>
  <Paragraphs>77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The Vedic Corpus Importance of Ancient knowledge definition</vt:lpstr>
      <vt:lpstr>PowerPoint Presentation</vt:lpstr>
      <vt:lpstr>Indian knowledge System Corpus</vt:lpstr>
      <vt:lpstr>PowerPoint Presentation</vt:lpstr>
      <vt:lpstr>PowerPoint Presentation</vt:lpstr>
      <vt:lpstr>PowerPoint Presentation</vt:lpstr>
      <vt:lpstr>PowerPoint Presentation</vt:lpstr>
      <vt:lpstr>PowerPoint Presentation</vt:lpstr>
      <vt:lpstr>History of IKS</vt:lpstr>
      <vt:lpstr>PowerPoint Presentation</vt:lpstr>
      <vt:lpstr>Some Unique Aspects of IKS: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Vedic Corpus Importance of Ancient knowledge definition</dc:title>
  <dc:creator>Admin</dc:creator>
  <cp:lastModifiedBy>Parth Jethva</cp:lastModifiedBy>
  <cp:revision>21</cp:revision>
  <dcterms:created xsi:type="dcterms:W3CDTF">2025-07-24T06:53:00Z</dcterms:created>
  <dcterms:modified xsi:type="dcterms:W3CDTF">2026-03-02T22:56:31Z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98E3C2D5F33B46E292AA74169773005C_11</vt:lpwstr>
  </property>
  <property fmtid="{D5CDD505-2E9C-101B-9397-08002B2CF9AE}" pid="3" name="KSOProductBuildVer">
    <vt:lpwstr>1033-12.2.0.21931</vt:lpwstr>
  </property>
</Properties>
</file>